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35 seconds. “My earlier legal-research contribution covered literature review, problem identification and initial design. I later moved to an LLM inference project while another sub-team continued that work. UkilRAG is a separate recent demonstration exploring the rules, source links and tests in this internship brief.” Earlier work concerned Bangladeshi law, not Italian legal expertise. Do not imply the prototype is the original research implementation. Describe personal implementation work and assistance accurately when discussing ownership.</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35 seconds. “Earlier research taught me why legal passages need source labels and sensible boundaries. The internship adds a different requirement: selecting document paragraphs through explicit, approved conditions. This demo connects those ideas by linking paragraphs to sources and checking the result.” It uses section-level educational summaries, not complete official legal texts. Act names help source identity, but production also needs jurisdiction, official-source and version information. The prototype demonstrates requirements from the brief, not their existing architecture.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45 seconds. “The fictional case requests the procedural route, has records and requests relief. The engine checks each prepared block’s conditions and prerequisites, then rejects any active configured conflicts. It selects jurisdiction, facts, procedural defense, records and relief, fills the supplied facts into templates, and returns a decision record.” Same facts and rule version yield the same output. M5 requires both has_records=True and selected M3. Other route flags default to False. The legacy limitation_defense name requests a sample procedural block; it does not calculate whether a legal deadline was breached. The source review later checks citation markers and manually recorded judgment dates, not legal applicability.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40 seconds. “I use regression checks to detect unexpected changes. The suite repeats one case 25 times, compares four synthetic cases with written expectations, requests conflicting routes to test rejection, and adds a simulated source update to check the right warnings.” The suite also asserts missing-citation and retrieval paths. It is a role-focused demonstration, not the paper’s evaluation suite. Historical approval is not real despite the interface variable name. Judgment warnings depend on entered source notes and links; the program does not discover new judgments or determine their applicability.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35 seconds. “This is a small prototype with summaries and fictional cases. It does not implement every capability in the brief: there is no generative review model, production database or structured appeals workflow. With the team, I would start from one approved example, clarify the conditions and exceptions, agree on expected outputs, and build a bounded pilot for review.” The TF-IDF retrieval threshold is uncalibrated and can reject ordinary questions. Missing-citation checks inspect markers, not semantic support. Do not promise production readiness or universal legal accuracy. Close by asking which workflow is the most useful first target.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nafismam/UkilRAG" TargetMode="External"/><Relationship Id="rId3"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1179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94360" y="365760"/>
            <a:ext cx="10972800" cy="320040"/>
          </a:xfrm>
          <a:prstGeom prst="rect">
            <a:avLst/>
          </a:prstGeom>
          <a:noFill/>
        </p:spPr>
        <p:txBody>
          <a:bodyPr wrap="square" tIns="0" bIns="0" lIns="0" rIns="0">
            <a:spAutoFit/>
          </a:bodyPr>
          <a:lstStyle/>
          <a:p>
            <a:pPr>
              <a:spcAft>
                <a:spcPts val="1000"/>
              </a:spcAft>
              <a:defRPr sz="1100" b="1">
                <a:solidFill>
                  <a:srgbClr val="117970"/>
                </a:solidFill>
                <a:latin typeface="DejaVu Sans"/>
              </a:defRPr>
            </a:pPr>
            <a:r>
              <a:t>NAFIS ISMAM · RESEARCH → DEMONSTRATION</a:t>
            </a:r>
          </a:p>
        </p:txBody>
      </p:sp>
      <p:sp>
        <p:nvSpPr>
          <p:cNvPr id="4" name="TextBox 3"/>
          <p:cNvSpPr txBox="1"/>
          <p:nvPr/>
        </p:nvSpPr>
        <p:spPr>
          <a:xfrm>
            <a:off x="594360" y="960120"/>
            <a:ext cx="10972800" cy="960120"/>
          </a:xfrm>
          <a:prstGeom prst="rect">
            <a:avLst/>
          </a:prstGeom>
          <a:noFill/>
        </p:spPr>
        <p:txBody>
          <a:bodyPr wrap="square" tIns="0" bIns="0" lIns="0" rIns="0">
            <a:spAutoFit/>
          </a:bodyPr>
          <a:lstStyle/>
          <a:p>
            <a:pPr>
              <a:spcAft>
                <a:spcPts val="1000"/>
              </a:spcAft>
              <a:defRPr sz="3100" b="1">
                <a:solidFill>
                  <a:srgbClr val="172F46"/>
                </a:solidFill>
                <a:latin typeface="DejaVu Sans"/>
              </a:defRPr>
            </a:pPr>
            <a:r>
              <a:t>From legal research to a working demo</a:t>
            </a:r>
          </a:p>
        </p:txBody>
      </p:sp>
      <p:sp>
        <p:nvSpPr>
          <p:cNvPr id="5" name="TextBox 4"/>
          <p:cNvSpPr txBox="1"/>
          <p:nvPr/>
        </p:nvSpPr>
        <p:spPr>
          <a:xfrm>
            <a:off x="594360" y="1956816"/>
            <a:ext cx="10972800" cy="530352"/>
          </a:xfrm>
          <a:prstGeom prst="rect">
            <a:avLst/>
          </a:prstGeom>
          <a:noFill/>
        </p:spPr>
        <p:txBody>
          <a:bodyPr wrap="square" tIns="0" bIns="0" lIns="0" rIns="0">
            <a:spAutoFit/>
          </a:bodyPr>
          <a:lstStyle/>
          <a:p>
            <a:pPr>
              <a:spcAft>
                <a:spcPts val="1000"/>
              </a:spcAft>
              <a:defRPr sz="1600" b="0">
                <a:solidFill>
                  <a:srgbClr val="607482"/>
                </a:solidFill>
                <a:latin typeface="DejaVu Sans"/>
              </a:defRPr>
            </a:pPr>
            <a:r>
              <a:t>Why I explored the knowledge-systems work described in your internship brief.</a:t>
            </a:r>
          </a:p>
        </p:txBody>
      </p:sp>
      <p:sp>
        <p:nvSpPr>
          <p:cNvPr id="6" name="Rectangle 5"/>
          <p:cNvSpPr/>
          <p:nvPr/>
        </p:nvSpPr>
        <p:spPr>
          <a:xfrm>
            <a:off x="594360" y="6409944"/>
            <a:ext cx="11000232" cy="10972"/>
          </a:xfrm>
          <a:prstGeom prst="rect">
            <a:avLst/>
          </a:prstGeom>
          <a:solidFill>
            <a:srgbClr val="DCE5EA"/>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594360" y="6537960"/>
            <a:ext cx="9875520" cy="210312"/>
          </a:xfrm>
          <a:prstGeom prst="rect">
            <a:avLst/>
          </a:prstGeom>
          <a:noFill/>
        </p:spPr>
        <p:txBody>
          <a:bodyPr wrap="square" tIns="0" bIns="0" lIns="0" rIns="0">
            <a:spAutoFit/>
          </a:bodyPr>
          <a:lstStyle/>
          <a:p>
            <a:pPr>
              <a:spcAft>
                <a:spcPts val="1000"/>
              </a:spcAft>
              <a:defRPr sz="850" b="0">
                <a:solidFill>
                  <a:srgbClr val="607482"/>
                </a:solidFill>
                <a:latin typeface="DejaVu Sans"/>
              </a:defRPr>
            </a:pPr>
            <a:r>
              <a:t>Earlier contribution: candidate account. Recent prototype is separate from the published research implementation.</a:t>
            </a:r>
          </a:p>
        </p:txBody>
      </p:sp>
      <p:sp>
        <p:nvSpPr>
          <p:cNvPr id="8" name="TextBox 7"/>
          <p:cNvSpPr txBox="1"/>
          <p:nvPr/>
        </p:nvSpPr>
        <p:spPr>
          <a:xfrm>
            <a:off x="10881360" y="6501384"/>
            <a:ext cx="731520" cy="274320"/>
          </a:xfrm>
          <a:prstGeom prst="rect">
            <a:avLst/>
          </a:prstGeom>
          <a:noFill/>
        </p:spPr>
        <p:txBody>
          <a:bodyPr wrap="square" tIns="0" bIns="0" lIns="0" rIns="0">
            <a:spAutoFit/>
          </a:bodyPr>
          <a:lstStyle/>
          <a:p>
            <a:pPr>
              <a:spcAft>
                <a:spcPts val="1000"/>
              </a:spcAft>
              <a:defRPr sz="1000" b="0">
                <a:solidFill>
                  <a:srgbClr val="607482"/>
                </a:solidFill>
                <a:latin typeface="DejaVu Sans"/>
              </a:defRPr>
            </a:pPr>
            <a:r>
              <a:t>01 / 05</a:t>
            </a:r>
          </a:p>
        </p:txBody>
      </p:sp>
      <p:sp>
        <p:nvSpPr>
          <p:cNvPr id="9" name="Rounded Rectangle 8"/>
          <p:cNvSpPr/>
          <p:nvPr/>
        </p:nvSpPr>
        <p:spPr>
          <a:xfrm>
            <a:off x="594360" y="2807208"/>
            <a:ext cx="5193792" cy="2340864"/>
          </a:xfrm>
          <a:prstGeom prst="roundRect">
            <a:avLst>
              <a:gd name="adj" fmla="val 8000"/>
            </a:avLst>
          </a:prstGeom>
          <a:solidFill>
            <a:srgbClr val="F1F5F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850392" y="3035808"/>
            <a:ext cx="4681727" cy="329184"/>
          </a:xfrm>
          <a:prstGeom prst="rect">
            <a:avLst/>
          </a:prstGeom>
          <a:noFill/>
        </p:spPr>
        <p:txBody>
          <a:bodyPr wrap="square" tIns="0" bIns="0" lIns="0" rIns="0">
            <a:spAutoFit/>
          </a:bodyPr>
          <a:lstStyle/>
          <a:p>
            <a:pPr>
              <a:spcAft>
                <a:spcPts val="1000"/>
              </a:spcAft>
              <a:defRPr sz="1200" b="1">
                <a:solidFill>
                  <a:srgbClr val="117970"/>
                </a:solidFill>
                <a:latin typeface="DejaVu Sans"/>
              </a:defRPr>
            </a:pPr>
            <a:r>
              <a:t>EARLIER RESEARCH CONTRIBUTION</a:t>
            </a:r>
          </a:p>
        </p:txBody>
      </p:sp>
      <p:sp>
        <p:nvSpPr>
          <p:cNvPr id="11" name="TextBox 10"/>
          <p:cNvSpPr txBox="1"/>
          <p:nvPr/>
        </p:nvSpPr>
        <p:spPr>
          <a:xfrm>
            <a:off x="850392" y="3639312"/>
            <a:ext cx="4681727" cy="1408176"/>
          </a:xfrm>
          <a:prstGeom prst="rect">
            <a:avLst/>
          </a:prstGeom>
          <a:noFill/>
        </p:spPr>
        <p:txBody>
          <a:bodyPr wrap="square" tIns="0" bIns="0" lIns="0" rIns="0">
            <a:spAutoFit/>
          </a:bodyPr>
          <a:lstStyle/>
          <a:p>
            <a:pPr>
              <a:spcAft>
                <a:spcPts val="1000"/>
              </a:spcAft>
              <a:defRPr sz="2000" b="1">
                <a:solidFill>
                  <a:srgbClr val="172F46"/>
                </a:solidFill>
                <a:latin typeface="DejaVu Sans"/>
              </a:defRPr>
            </a:pPr>
            <a:r>
              <a:t>Literature review</a:t>
            </a:r>
          </a:p>
          <a:p>
            <a:pPr>
              <a:spcAft>
                <a:spcPts val="1000"/>
              </a:spcAft>
              <a:defRPr sz="2000" b="1">
                <a:solidFill>
                  <a:srgbClr val="172F46"/>
                </a:solidFill>
                <a:latin typeface="DejaVu Sans"/>
              </a:defRPr>
            </a:pPr>
            <a:r>
              <a:t>Problem identification</a:t>
            </a:r>
          </a:p>
          <a:p>
            <a:pPr>
              <a:spcAft>
                <a:spcPts val="1000"/>
              </a:spcAft>
              <a:defRPr sz="2000" b="1">
                <a:solidFill>
                  <a:srgbClr val="172F46"/>
                </a:solidFill>
                <a:latin typeface="DejaVu Sans"/>
              </a:defRPr>
            </a:pPr>
            <a:r>
              <a:t>Initial design</a:t>
            </a:r>
          </a:p>
        </p:txBody>
      </p:sp>
      <p:sp>
        <p:nvSpPr>
          <p:cNvPr id="12" name="Rounded Rectangle 11"/>
          <p:cNvSpPr/>
          <p:nvPr/>
        </p:nvSpPr>
        <p:spPr>
          <a:xfrm>
            <a:off x="6391656" y="2807208"/>
            <a:ext cx="5202936" cy="2340864"/>
          </a:xfrm>
          <a:prstGeom prst="roundRect">
            <a:avLst>
              <a:gd name="adj" fmla="val 8000"/>
            </a:avLst>
          </a:prstGeom>
          <a:solidFill>
            <a:srgbClr val="E8F3F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6647688" y="3035808"/>
            <a:ext cx="4690872" cy="329184"/>
          </a:xfrm>
          <a:prstGeom prst="rect">
            <a:avLst/>
          </a:prstGeom>
          <a:noFill/>
        </p:spPr>
        <p:txBody>
          <a:bodyPr wrap="square" tIns="0" bIns="0" lIns="0" rIns="0">
            <a:spAutoFit/>
          </a:bodyPr>
          <a:lstStyle/>
          <a:p>
            <a:pPr>
              <a:spcAft>
                <a:spcPts val="1000"/>
              </a:spcAft>
              <a:defRPr sz="1200" b="1">
                <a:solidFill>
                  <a:srgbClr val="117970"/>
                </a:solidFill>
                <a:latin typeface="DejaVu Sans"/>
              </a:defRPr>
            </a:pPr>
            <a:r>
              <a:t>RECENT UKILRAG DEMO</a:t>
            </a:r>
          </a:p>
        </p:txBody>
      </p:sp>
      <p:sp>
        <p:nvSpPr>
          <p:cNvPr id="14" name="TextBox 13"/>
          <p:cNvSpPr txBox="1"/>
          <p:nvPr/>
        </p:nvSpPr>
        <p:spPr>
          <a:xfrm>
            <a:off x="6647688" y="3639312"/>
            <a:ext cx="4690872" cy="1408176"/>
          </a:xfrm>
          <a:prstGeom prst="rect">
            <a:avLst/>
          </a:prstGeom>
          <a:noFill/>
        </p:spPr>
        <p:txBody>
          <a:bodyPr wrap="square" tIns="0" bIns="0" lIns="0" rIns="0">
            <a:spAutoFit/>
          </a:bodyPr>
          <a:lstStyle/>
          <a:p>
            <a:pPr>
              <a:spcAft>
                <a:spcPts val="1000"/>
              </a:spcAft>
              <a:defRPr sz="2000" b="1">
                <a:solidFill>
                  <a:srgbClr val="172F46"/>
                </a:solidFill>
                <a:latin typeface="DejaVu Sans"/>
              </a:defRPr>
            </a:pPr>
            <a:r>
              <a:t>Paragraph rules</a:t>
            </a:r>
          </a:p>
          <a:p>
            <a:pPr>
              <a:spcAft>
                <a:spcPts val="1000"/>
              </a:spcAft>
              <a:defRPr sz="2000" b="1">
                <a:solidFill>
                  <a:srgbClr val="172F46"/>
                </a:solidFill>
                <a:latin typeface="DejaVu Sans"/>
              </a:defRPr>
            </a:pPr>
            <a:r>
              <a:t>Source-linked checks</a:t>
            </a:r>
          </a:p>
          <a:p>
            <a:pPr>
              <a:spcAft>
                <a:spcPts val="1000"/>
              </a:spcAft>
              <a:defRPr sz="2000" b="1">
                <a:solidFill>
                  <a:srgbClr val="172F46"/>
                </a:solidFill>
                <a:latin typeface="DejaVu Sans"/>
              </a:defRPr>
            </a:pPr>
            <a:r>
              <a:t>Repeatable tests</a:t>
            </a:r>
          </a:p>
        </p:txBody>
      </p:sp>
      <p:sp>
        <p:nvSpPr>
          <p:cNvPr id="15" name="TextBox 14"/>
          <p:cNvSpPr txBox="1"/>
          <p:nvPr/>
        </p:nvSpPr>
        <p:spPr>
          <a:xfrm>
            <a:off x="5916168" y="3721608"/>
            <a:ext cx="329184" cy="457200"/>
          </a:xfrm>
          <a:prstGeom prst="rect">
            <a:avLst/>
          </a:prstGeom>
          <a:noFill/>
        </p:spPr>
        <p:txBody>
          <a:bodyPr wrap="square" tIns="0" bIns="0" lIns="0" rIns="0">
            <a:spAutoFit/>
          </a:bodyPr>
          <a:lstStyle/>
          <a:p>
            <a:pPr>
              <a:spcAft>
                <a:spcPts val="1000"/>
              </a:spcAft>
              <a:defRPr sz="2700" b="1">
                <a:solidFill>
                  <a:srgbClr val="117970"/>
                </a:solidFill>
                <a:latin typeface="DejaVu Sans"/>
              </a:defRPr>
            </a:pPr>
            <a:r>
              <a:t>→</a:t>
            </a:r>
          </a:p>
        </p:txBody>
      </p:sp>
      <p:sp>
        <p:nvSpPr>
          <p:cNvPr id="16" name="Rectangle 15"/>
          <p:cNvSpPr/>
          <p:nvPr/>
        </p:nvSpPr>
        <p:spPr>
          <a:xfrm>
            <a:off x="594360" y="5559552"/>
            <a:ext cx="11000232" cy="594360"/>
          </a:xfrm>
          <a:prstGeom prst="rect">
            <a:avLst/>
          </a:prstGeom>
          <a:solidFill>
            <a:srgbClr val="172F4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850392" y="5742432"/>
            <a:ext cx="10469880" cy="292608"/>
          </a:xfrm>
          <a:prstGeom prst="rect">
            <a:avLst/>
          </a:prstGeom>
          <a:noFill/>
        </p:spPr>
        <p:txBody>
          <a:bodyPr wrap="square" tIns="0" bIns="0" lIns="0" rIns="0">
            <a:spAutoFit/>
          </a:bodyPr>
          <a:lstStyle/>
          <a:p>
            <a:pPr>
              <a:spcAft>
                <a:spcPts val="1000"/>
              </a:spcAft>
              <a:defRPr sz="1600" b="1">
                <a:solidFill>
                  <a:srgbClr val="FFFFFF"/>
                </a:solidFill>
                <a:latin typeface="DejaVu Sans"/>
              </a:defRPr>
            </a:pPr>
            <a:r>
              <a:t>From source organisation to explicit, testable drafting rules.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1179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94360" y="365760"/>
            <a:ext cx="10972800" cy="320040"/>
          </a:xfrm>
          <a:prstGeom prst="rect">
            <a:avLst/>
          </a:prstGeom>
          <a:noFill/>
        </p:spPr>
        <p:txBody>
          <a:bodyPr wrap="square" tIns="0" bIns="0" lIns="0" rIns="0">
            <a:spAutoFit/>
          </a:bodyPr>
          <a:lstStyle/>
          <a:p>
            <a:pPr>
              <a:spcAft>
                <a:spcPts val="1000"/>
              </a:spcAft>
              <a:defRPr sz="1100" b="1">
                <a:solidFill>
                  <a:srgbClr val="117970"/>
                </a:solidFill>
                <a:latin typeface="DejaVu Sans"/>
              </a:defRPr>
            </a:pPr>
            <a:r>
              <a:t>THE CONNECTION</a:t>
            </a:r>
          </a:p>
        </p:txBody>
      </p:sp>
      <p:sp>
        <p:nvSpPr>
          <p:cNvPr id="4" name="TextBox 3"/>
          <p:cNvSpPr txBox="1"/>
          <p:nvPr/>
        </p:nvSpPr>
        <p:spPr>
          <a:xfrm>
            <a:off x="594360" y="960120"/>
            <a:ext cx="10972800" cy="960120"/>
          </a:xfrm>
          <a:prstGeom prst="rect">
            <a:avLst/>
          </a:prstGeom>
          <a:noFill/>
        </p:spPr>
        <p:txBody>
          <a:bodyPr wrap="square" tIns="0" bIns="0" lIns="0" rIns="0">
            <a:spAutoFit/>
          </a:bodyPr>
          <a:lstStyle/>
          <a:p>
            <a:pPr>
              <a:spcAft>
                <a:spcPts val="1000"/>
              </a:spcAft>
              <a:defRPr sz="3100" b="1">
                <a:solidFill>
                  <a:srgbClr val="172F46"/>
                </a:solidFill>
                <a:latin typeface="DejaVu Sans"/>
              </a:defRPr>
            </a:pPr>
            <a:r>
              <a:t>Find sources. Apply rules. Check results.</a:t>
            </a:r>
          </a:p>
        </p:txBody>
      </p:sp>
      <p:sp>
        <p:nvSpPr>
          <p:cNvPr id="5" name="TextBox 4"/>
          <p:cNvSpPr txBox="1"/>
          <p:nvPr/>
        </p:nvSpPr>
        <p:spPr>
          <a:xfrm>
            <a:off x="594360" y="1956816"/>
            <a:ext cx="10972800" cy="530352"/>
          </a:xfrm>
          <a:prstGeom prst="rect">
            <a:avLst/>
          </a:prstGeom>
          <a:noFill/>
        </p:spPr>
        <p:txBody>
          <a:bodyPr wrap="square" tIns="0" bIns="0" lIns="0" rIns="0">
            <a:spAutoFit/>
          </a:bodyPr>
          <a:lstStyle/>
          <a:p>
            <a:pPr>
              <a:spcAft>
                <a:spcPts val="1000"/>
              </a:spcAft>
              <a:defRPr sz="1600" b="0">
                <a:solidFill>
                  <a:srgbClr val="607482"/>
                </a:solidFill>
                <a:latin typeface="DejaVu Sans"/>
              </a:defRPr>
            </a:pPr>
            <a:r>
              <a:t>Source organisation is a starting point; reliable drafting needs explicit instructions too.</a:t>
            </a:r>
          </a:p>
        </p:txBody>
      </p:sp>
      <p:sp>
        <p:nvSpPr>
          <p:cNvPr id="6" name="Rectangle 5"/>
          <p:cNvSpPr/>
          <p:nvPr/>
        </p:nvSpPr>
        <p:spPr>
          <a:xfrm>
            <a:off x="594360" y="6409944"/>
            <a:ext cx="11000232" cy="10972"/>
          </a:xfrm>
          <a:prstGeom prst="rect">
            <a:avLst/>
          </a:prstGeom>
          <a:solidFill>
            <a:srgbClr val="DCE5EA"/>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594360" y="6537960"/>
            <a:ext cx="9875520" cy="210312"/>
          </a:xfrm>
          <a:prstGeom prst="rect">
            <a:avLst/>
          </a:prstGeom>
          <a:noFill/>
        </p:spPr>
        <p:txBody>
          <a:bodyPr wrap="square" tIns="0" bIns="0" lIns="0" rIns="0">
            <a:spAutoFit/>
          </a:bodyPr>
          <a:lstStyle/>
          <a:p>
            <a:pPr>
              <a:spcAft>
                <a:spcPts val="1000"/>
              </a:spcAft>
              <a:defRPr sz="850" b="0">
                <a:solidFill>
                  <a:srgbClr val="607482"/>
                </a:solidFill>
                <a:latin typeface="DejaVu Sans"/>
              </a:defRPr>
            </a:pPr>
            <a:r>
              <a:t>Sources: supplied internship brief; UkilRAG notebook. Earlier research contribution based on candidate account.</a:t>
            </a:r>
          </a:p>
        </p:txBody>
      </p:sp>
      <p:sp>
        <p:nvSpPr>
          <p:cNvPr id="8" name="TextBox 7"/>
          <p:cNvSpPr txBox="1"/>
          <p:nvPr/>
        </p:nvSpPr>
        <p:spPr>
          <a:xfrm>
            <a:off x="10881360" y="6501384"/>
            <a:ext cx="731520" cy="274320"/>
          </a:xfrm>
          <a:prstGeom prst="rect">
            <a:avLst/>
          </a:prstGeom>
          <a:noFill/>
        </p:spPr>
        <p:txBody>
          <a:bodyPr wrap="square" tIns="0" bIns="0" lIns="0" rIns="0">
            <a:spAutoFit/>
          </a:bodyPr>
          <a:lstStyle/>
          <a:p>
            <a:pPr>
              <a:spcAft>
                <a:spcPts val="1000"/>
              </a:spcAft>
              <a:defRPr sz="1000" b="0">
                <a:solidFill>
                  <a:srgbClr val="607482"/>
                </a:solidFill>
                <a:latin typeface="DejaVu Sans"/>
              </a:defRPr>
            </a:pPr>
            <a:r>
              <a:t>02 / 05</a:t>
            </a:r>
          </a:p>
        </p:txBody>
      </p:sp>
      <p:sp>
        <p:nvSpPr>
          <p:cNvPr id="9" name="Rounded Rectangle 8"/>
          <p:cNvSpPr/>
          <p:nvPr/>
        </p:nvSpPr>
        <p:spPr>
          <a:xfrm>
            <a:off x="594360" y="2871216"/>
            <a:ext cx="3493008" cy="2185416"/>
          </a:xfrm>
          <a:prstGeom prst="roundRect">
            <a:avLst>
              <a:gd name="adj" fmla="val 8000"/>
            </a:avLst>
          </a:prstGeom>
          <a:solidFill>
            <a:srgbClr val="F1F5F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850392" y="3099816"/>
            <a:ext cx="2980944" cy="329184"/>
          </a:xfrm>
          <a:prstGeom prst="rect">
            <a:avLst/>
          </a:prstGeom>
          <a:noFill/>
        </p:spPr>
        <p:txBody>
          <a:bodyPr wrap="square" tIns="0" bIns="0" lIns="0" rIns="0">
            <a:spAutoFit/>
          </a:bodyPr>
          <a:lstStyle/>
          <a:p>
            <a:pPr>
              <a:spcAft>
                <a:spcPts val="1000"/>
              </a:spcAft>
              <a:defRPr sz="1200" b="1">
                <a:solidFill>
                  <a:srgbClr val="117970"/>
                </a:solidFill>
                <a:latin typeface="DejaVu Sans"/>
              </a:defRPr>
            </a:pPr>
            <a:r>
              <a:t>RESEARCH IDEA</a:t>
            </a:r>
          </a:p>
        </p:txBody>
      </p:sp>
      <p:sp>
        <p:nvSpPr>
          <p:cNvPr id="11" name="TextBox 10"/>
          <p:cNvSpPr txBox="1"/>
          <p:nvPr/>
        </p:nvSpPr>
        <p:spPr>
          <a:xfrm>
            <a:off x="850392" y="3703320"/>
            <a:ext cx="2980944" cy="1252728"/>
          </a:xfrm>
          <a:prstGeom prst="rect">
            <a:avLst/>
          </a:prstGeom>
          <a:noFill/>
        </p:spPr>
        <p:txBody>
          <a:bodyPr wrap="square" tIns="0" bIns="0" lIns="0" rIns="0">
            <a:spAutoFit/>
          </a:bodyPr>
          <a:lstStyle/>
          <a:p>
            <a:pPr>
              <a:spcAft>
                <a:spcPts val="1000"/>
              </a:spcAft>
              <a:defRPr sz="2000" b="1">
                <a:solidFill>
                  <a:srgbClr val="172F46"/>
                </a:solidFill>
                <a:latin typeface="DejaVu Sans"/>
              </a:defRPr>
            </a:pPr>
            <a:r>
              <a:t>Keep each legal section</a:t>
            </a:r>
          </a:p>
          <a:p>
            <a:pPr>
              <a:spcAft>
                <a:spcPts val="1000"/>
              </a:spcAft>
              <a:defRPr sz="2000" b="1">
                <a:solidFill>
                  <a:srgbClr val="172F46"/>
                </a:solidFill>
                <a:latin typeface="DejaVu Sans"/>
              </a:defRPr>
            </a:pPr>
            <a:r>
              <a:t>with its Act name.</a:t>
            </a:r>
          </a:p>
        </p:txBody>
      </p:sp>
      <p:sp>
        <p:nvSpPr>
          <p:cNvPr id="12" name="Rounded Rectangle 11"/>
          <p:cNvSpPr/>
          <p:nvPr/>
        </p:nvSpPr>
        <p:spPr>
          <a:xfrm>
            <a:off x="4343400" y="2871216"/>
            <a:ext cx="3493008" cy="2185416"/>
          </a:xfrm>
          <a:prstGeom prst="roundRect">
            <a:avLst>
              <a:gd name="adj" fmla="val 8000"/>
            </a:avLst>
          </a:prstGeom>
          <a:solidFill>
            <a:srgbClr val="F1F5F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4599432" y="3099816"/>
            <a:ext cx="2980944" cy="329184"/>
          </a:xfrm>
          <a:prstGeom prst="rect">
            <a:avLst/>
          </a:prstGeom>
          <a:noFill/>
        </p:spPr>
        <p:txBody>
          <a:bodyPr wrap="square" tIns="0" bIns="0" lIns="0" rIns="0">
            <a:spAutoFit/>
          </a:bodyPr>
          <a:lstStyle/>
          <a:p>
            <a:pPr>
              <a:spcAft>
                <a:spcPts val="1000"/>
              </a:spcAft>
              <a:defRPr sz="1200" b="1">
                <a:solidFill>
                  <a:srgbClr val="117970"/>
                </a:solidFill>
                <a:latin typeface="DejaVu Sans"/>
              </a:defRPr>
            </a:pPr>
            <a:r>
              <a:t>ROLE REQUIREMENT</a:t>
            </a:r>
          </a:p>
        </p:txBody>
      </p:sp>
      <p:sp>
        <p:nvSpPr>
          <p:cNvPr id="14" name="TextBox 13"/>
          <p:cNvSpPr txBox="1"/>
          <p:nvPr/>
        </p:nvSpPr>
        <p:spPr>
          <a:xfrm>
            <a:off x="4599432" y="3703320"/>
            <a:ext cx="2980944" cy="1252728"/>
          </a:xfrm>
          <a:prstGeom prst="rect">
            <a:avLst/>
          </a:prstGeom>
          <a:noFill/>
        </p:spPr>
        <p:txBody>
          <a:bodyPr wrap="square" tIns="0" bIns="0" lIns="0" rIns="0">
            <a:spAutoFit/>
          </a:bodyPr>
          <a:lstStyle/>
          <a:p>
            <a:pPr>
              <a:spcAft>
                <a:spcPts val="1000"/>
              </a:spcAft>
              <a:defRPr sz="2000" b="1">
                <a:solidFill>
                  <a:srgbClr val="172F46"/>
                </a:solidFill>
                <a:latin typeface="DejaVu Sans"/>
              </a:defRPr>
            </a:pPr>
            <a:r>
              <a:t>Record when each</a:t>
            </a:r>
          </a:p>
          <a:p>
            <a:pPr>
              <a:spcAft>
                <a:spcPts val="1000"/>
              </a:spcAft>
              <a:defRPr sz="2000" b="1">
                <a:solidFill>
                  <a:srgbClr val="172F46"/>
                </a:solidFill>
                <a:latin typeface="DejaVu Sans"/>
              </a:defRPr>
            </a:pPr>
            <a:r>
              <a:t>paragraph belongs.</a:t>
            </a:r>
          </a:p>
        </p:txBody>
      </p:sp>
      <p:sp>
        <p:nvSpPr>
          <p:cNvPr id="15" name="Rounded Rectangle 14"/>
          <p:cNvSpPr/>
          <p:nvPr/>
        </p:nvSpPr>
        <p:spPr>
          <a:xfrm>
            <a:off x="8092440" y="2871216"/>
            <a:ext cx="3493008" cy="2185416"/>
          </a:xfrm>
          <a:prstGeom prst="roundRect">
            <a:avLst>
              <a:gd name="adj" fmla="val 8000"/>
            </a:avLst>
          </a:prstGeom>
          <a:solidFill>
            <a:srgbClr val="F1F5F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8348471" y="3099816"/>
            <a:ext cx="2980944" cy="329184"/>
          </a:xfrm>
          <a:prstGeom prst="rect">
            <a:avLst/>
          </a:prstGeom>
          <a:noFill/>
        </p:spPr>
        <p:txBody>
          <a:bodyPr wrap="square" tIns="0" bIns="0" lIns="0" rIns="0">
            <a:spAutoFit/>
          </a:bodyPr>
          <a:lstStyle/>
          <a:p>
            <a:pPr>
              <a:spcAft>
                <a:spcPts val="1000"/>
              </a:spcAft>
              <a:defRPr sz="1200" b="1">
                <a:solidFill>
                  <a:srgbClr val="117970"/>
                </a:solidFill>
                <a:latin typeface="DejaVu Sans"/>
              </a:defRPr>
            </a:pPr>
            <a:r>
              <a:t>PROTOTYPE CHECK</a:t>
            </a:r>
          </a:p>
        </p:txBody>
      </p:sp>
      <p:sp>
        <p:nvSpPr>
          <p:cNvPr id="17" name="TextBox 16"/>
          <p:cNvSpPr txBox="1"/>
          <p:nvPr/>
        </p:nvSpPr>
        <p:spPr>
          <a:xfrm>
            <a:off x="8348471" y="3703320"/>
            <a:ext cx="2980944" cy="1252728"/>
          </a:xfrm>
          <a:prstGeom prst="rect">
            <a:avLst/>
          </a:prstGeom>
          <a:noFill/>
        </p:spPr>
        <p:txBody>
          <a:bodyPr wrap="square" tIns="0" bIns="0" lIns="0" rIns="0">
            <a:spAutoFit/>
          </a:bodyPr>
          <a:lstStyle/>
          <a:p>
            <a:pPr>
              <a:spcAft>
                <a:spcPts val="1000"/>
              </a:spcAft>
              <a:defRPr sz="2000" b="1">
                <a:solidFill>
                  <a:srgbClr val="172F46"/>
                </a:solidFill>
                <a:latin typeface="DejaVu Sans"/>
              </a:defRPr>
            </a:pPr>
            <a:r>
              <a:t>Explain choices and</a:t>
            </a:r>
          </a:p>
          <a:p>
            <a:pPr>
              <a:spcAft>
                <a:spcPts val="1000"/>
              </a:spcAft>
              <a:defRPr sz="2000" b="1">
                <a:solidFill>
                  <a:srgbClr val="172F46"/>
                </a:solidFill>
                <a:latin typeface="DejaVu Sans"/>
              </a:defRPr>
            </a:pPr>
            <a:r>
              <a:t>check expected outputs.</a:t>
            </a:r>
          </a:p>
        </p:txBody>
      </p:sp>
      <p:sp>
        <p:nvSpPr>
          <p:cNvPr id="18" name="Rectangle 17"/>
          <p:cNvSpPr/>
          <p:nvPr/>
        </p:nvSpPr>
        <p:spPr>
          <a:xfrm>
            <a:off x="594360" y="5559552"/>
            <a:ext cx="11000232" cy="594360"/>
          </a:xfrm>
          <a:prstGeom prst="rect">
            <a:avLst/>
          </a:prstGeom>
          <a:solidFill>
            <a:srgbClr val="172F4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850392" y="5742432"/>
            <a:ext cx="10469880" cy="292608"/>
          </a:xfrm>
          <a:prstGeom prst="rect">
            <a:avLst/>
          </a:prstGeom>
          <a:noFill/>
        </p:spPr>
        <p:txBody>
          <a:bodyPr wrap="square" tIns="0" bIns="0" lIns="0" rIns="0">
            <a:spAutoFit/>
          </a:bodyPr>
          <a:lstStyle/>
          <a:p>
            <a:pPr>
              <a:spcAft>
                <a:spcPts val="1000"/>
              </a:spcAft>
              <a:defRPr sz="1600" b="1">
                <a:solidFill>
                  <a:srgbClr val="FFFFFF"/>
                </a:solidFill>
                <a:latin typeface="DejaVu Sans"/>
              </a:defRPr>
            </a:pPr>
            <a:r>
              <a:t>Lawyers approve the reasoning. Software follows the rules.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1179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94360" y="365760"/>
            <a:ext cx="10972800" cy="320040"/>
          </a:xfrm>
          <a:prstGeom prst="rect">
            <a:avLst/>
          </a:prstGeom>
          <a:noFill/>
        </p:spPr>
        <p:txBody>
          <a:bodyPr wrap="square" tIns="0" bIns="0" lIns="0" rIns="0">
            <a:spAutoFit/>
          </a:bodyPr>
          <a:lstStyle/>
          <a:p>
            <a:pPr>
              <a:spcAft>
                <a:spcPts val="1000"/>
              </a:spcAft>
              <a:defRPr sz="1100" b="1">
                <a:solidFill>
                  <a:srgbClr val="117970"/>
                </a:solidFill>
                <a:latin typeface="DejaVu Sans"/>
              </a:defRPr>
            </a:pPr>
            <a:r>
              <a:t>ONE FICTIONAL EXAMPLE</a:t>
            </a:r>
          </a:p>
        </p:txBody>
      </p:sp>
      <p:sp>
        <p:nvSpPr>
          <p:cNvPr id="4" name="TextBox 3"/>
          <p:cNvSpPr txBox="1"/>
          <p:nvPr/>
        </p:nvSpPr>
        <p:spPr>
          <a:xfrm>
            <a:off x="594360" y="960120"/>
            <a:ext cx="10972800" cy="960120"/>
          </a:xfrm>
          <a:prstGeom prst="rect">
            <a:avLst/>
          </a:prstGeom>
          <a:noFill/>
        </p:spPr>
        <p:txBody>
          <a:bodyPr wrap="square" tIns="0" bIns="0" lIns="0" rIns="0">
            <a:spAutoFit/>
          </a:bodyPr>
          <a:lstStyle/>
          <a:p>
            <a:pPr>
              <a:spcAft>
                <a:spcPts val="1000"/>
              </a:spcAft>
              <a:defRPr sz="3100" b="1">
                <a:solidFill>
                  <a:srgbClr val="172F46"/>
                </a:solidFill>
                <a:latin typeface="DejaVu Sans"/>
              </a:defRPr>
            </a:pPr>
            <a:r>
              <a:t>A case goes in. A draft and reasons come out.</a:t>
            </a:r>
          </a:p>
        </p:txBody>
      </p:sp>
      <p:sp>
        <p:nvSpPr>
          <p:cNvPr id="5" name="TextBox 4"/>
          <p:cNvSpPr txBox="1"/>
          <p:nvPr/>
        </p:nvSpPr>
        <p:spPr>
          <a:xfrm>
            <a:off x="594360" y="1956816"/>
            <a:ext cx="10972800" cy="530352"/>
          </a:xfrm>
          <a:prstGeom prst="rect">
            <a:avLst/>
          </a:prstGeom>
          <a:noFill/>
        </p:spPr>
        <p:txBody>
          <a:bodyPr wrap="square" tIns="0" bIns="0" lIns="0" rIns="0">
            <a:spAutoFit/>
          </a:bodyPr>
          <a:lstStyle/>
          <a:p>
            <a:pPr>
              <a:spcAft>
                <a:spcPts val="1000"/>
              </a:spcAft>
              <a:defRPr sz="1600" b="0">
                <a:solidFill>
                  <a:srgbClr val="607482"/>
                </a:solidFill>
                <a:latin typeface="DejaVu Sans"/>
              </a:defRPr>
            </a:pPr>
            <a:r>
              <a:t>No language model chooses the argument or writes the draft.</a:t>
            </a:r>
          </a:p>
        </p:txBody>
      </p:sp>
      <p:sp>
        <p:nvSpPr>
          <p:cNvPr id="6" name="Rectangle 5"/>
          <p:cNvSpPr/>
          <p:nvPr/>
        </p:nvSpPr>
        <p:spPr>
          <a:xfrm>
            <a:off x="594360" y="6409944"/>
            <a:ext cx="11000232" cy="10972"/>
          </a:xfrm>
          <a:prstGeom prst="rect">
            <a:avLst/>
          </a:prstGeom>
          <a:solidFill>
            <a:srgbClr val="DCE5EA"/>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594360" y="6537960"/>
            <a:ext cx="9875520" cy="210312"/>
          </a:xfrm>
          <a:prstGeom prst="rect">
            <a:avLst/>
          </a:prstGeom>
          <a:noFill/>
        </p:spPr>
        <p:txBody>
          <a:bodyPr wrap="square" tIns="0" bIns="0" lIns="0" rIns="0">
            <a:spAutoFit/>
          </a:bodyPr>
          <a:lstStyle/>
          <a:p>
            <a:pPr>
              <a:spcAft>
                <a:spcPts val="1000"/>
              </a:spcAft>
              <a:defRPr sz="850" b="0">
                <a:solidFill>
                  <a:srgbClr val="607482"/>
                </a:solidFill>
                <a:latin typeface="DejaVu Sans"/>
              </a:defRPr>
            </a:pPr>
            <a:r>
              <a:t>Source: fictional SAMPLE_CASE in UkilRAG. These are demonstration rules, not validated legal instructions.</a:t>
            </a:r>
          </a:p>
        </p:txBody>
      </p:sp>
      <p:sp>
        <p:nvSpPr>
          <p:cNvPr id="8" name="TextBox 7"/>
          <p:cNvSpPr txBox="1"/>
          <p:nvPr/>
        </p:nvSpPr>
        <p:spPr>
          <a:xfrm>
            <a:off x="10881360" y="6501384"/>
            <a:ext cx="731520" cy="274320"/>
          </a:xfrm>
          <a:prstGeom prst="rect">
            <a:avLst/>
          </a:prstGeom>
          <a:noFill/>
        </p:spPr>
        <p:txBody>
          <a:bodyPr wrap="square" tIns="0" bIns="0" lIns="0" rIns="0">
            <a:spAutoFit/>
          </a:bodyPr>
          <a:lstStyle/>
          <a:p>
            <a:pPr>
              <a:spcAft>
                <a:spcPts val="1000"/>
              </a:spcAft>
              <a:defRPr sz="1000" b="0">
                <a:solidFill>
                  <a:srgbClr val="607482"/>
                </a:solidFill>
                <a:latin typeface="DejaVu Sans"/>
              </a:defRPr>
            </a:pPr>
            <a:r>
              <a:t>03 / 05</a:t>
            </a:r>
          </a:p>
        </p:txBody>
      </p:sp>
      <p:sp>
        <p:nvSpPr>
          <p:cNvPr id="9" name="Rounded Rectangle 8"/>
          <p:cNvSpPr/>
          <p:nvPr/>
        </p:nvSpPr>
        <p:spPr>
          <a:xfrm>
            <a:off x="594360" y="2770632"/>
            <a:ext cx="3172968" cy="2258568"/>
          </a:xfrm>
          <a:prstGeom prst="roundRect">
            <a:avLst>
              <a:gd name="adj" fmla="val 8000"/>
            </a:avLst>
          </a:prstGeom>
          <a:solidFill>
            <a:srgbClr val="F1F5F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850392" y="2999232"/>
            <a:ext cx="2660904" cy="329184"/>
          </a:xfrm>
          <a:prstGeom prst="rect">
            <a:avLst/>
          </a:prstGeom>
          <a:noFill/>
        </p:spPr>
        <p:txBody>
          <a:bodyPr wrap="square" tIns="0" bIns="0" lIns="0" rIns="0">
            <a:spAutoFit/>
          </a:bodyPr>
          <a:lstStyle/>
          <a:p>
            <a:pPr>
              <a:spcAft>
                <a:spcPts val="1000"/>
              </a:spcAft>
              <a:defRPr sz="1200" b="1">
                <a:solidFill>
                  <a:srgbClr val="117970"/>
                </a:solidFill>
                <a:latin typeface="DejaVu Sans"/>
              </a:defRPr>
            </a:pPr>
            <a:r>
              <a:t>INPUT</a:t>
            </a:r>
          </a:p>
        </p:txBody>
      </p:sp>
      <p:sp>
        <p:nvSpPr>
          <p:cNvPr id="11" name="TextBox 10"/>
          <p:cNvSpPr txBox="1"/>
          <p:nvPr/>
        </p:nvSpPr>
        <p:spPr>
          <a:xfrm>
            <a:off x="850392" y="3602736"/>
            <a:ext cx="2660904" cy="1325880"/>
          </a:xfrm>
          <a:prstGeom prst="rect">
            <a:avLst/>
          </a:prstGeom>
          <a:noFill/>
        </p:spPr>
        <p:txBody>
          <a:bodyPr wrap="square" tIns="0" bIns="0" lIns="0" rIns="0">
            <a:spAutoFit/>
          </a:bodyPr>
          <a:lstStyle/>
          <a:p>
            <a:pPr>
              <a:spcAft>
                <a:spcPts val="1000"/>
              </a:spcAft>
              <a:defRPr sz="2000" b="1">
                <a:solidFill>
                  <a:srgbClr val="172F46"/>
                </a:solidFill>
                <a:latin typeface="DejaVu Sans"/>
              </a:defRPr>
            </a:pPr>
            <a:r>
              <a:t>Procedure: yes</a:t>
            </a:r>
          </a:p>
          <a:p>
            <a:pPr>
              <a:spcAft>
                <a:spcPts val="1000"/>
              </a:spcAft>
              <a:defRPr sz="2000" b="1">
                <a:solidFill>
                  <a:srgbClr val="172F46"/>
                </a:solidFill>
                <a:latin typeface="DejaVu Sans"/>
              </a:defRPr>
            </a:pPr>
            <a:r>
              <a:t>Records: yes</a:t>
            </a:r>
          </a:p>
          <a:p>
            <a:pPr>
              <a:spcAft>
                <a:spcPts val="1000"/>
              </a:spcAft>
              <a:defRPr sz="2000" b="1">
                <a:solidFill>
                  <a:srgbClr val="172F46"/>
                </a:solidFill>
                <a:latin typeface="DejaVu Sans"/>
              </a:defRPr>
            </a:pPr>
            <a:r>
              <a:t>Relief: yes</a:t>
            </a:r>
          </a:p>
        </p:txBody>
      </p:sp>
      <p:sp>
        <p:nvSpPr>
          <p:cNvPr id="12" name="Rounded Rectangle 11"/>
          <p:cNvSpPr/>
          <p:nvPr/>
        </p:nvSpPr>
        <p:spPr>
          <a:xfrm>
            <a:off x="4352544" y="2770632"/>
            <a:ext cx="3172968" cy="2258568"/>
          </a:xfrm>
          <a:prstGeom prst="roundRect">
            <a:avLst>
              <a:gd name="adj" fmla="val 8000"/>
            </a:avLst>
          </a:prstGeom>
          <a:solidFill>
            <a:srgbClr val="F1F5F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4608576" y="2999232"/>
            <a:ext cx="2660904" cy="329184"/>
          </a:xfrm>
          <a:prstGeom prst="rect">
            <a:avLst/>
          </a:prstGeom>
          <a:noFill/>
        </p:spPr>
        <p:txBody>
          <a:bodyPr wrap="square" tIns="0" bIns="0" lIns="0" rIns="0">
            <a:spAutoFit/>
          </a:bodyPr>
          <a:lstStyle/>
          <a:p>
            <a:pPr>
              <a:spcAft>
                <a:spcPts val="1000"/>
              </a:spcAft>
              <a:defRPr sz="1200" b="1">
                <a:solidFill>
                  <a:srgbClr val="117970"/>
                </a:solidFill>
                <a:latin typeface="DejaVu Sans"/>
              </a:defRPr>
            </a:pPr>
            <a:r>
              <a:t>RULE CHECKS</a:t>
            </a:r>
          </a:p>
        </p:txBody>
      </p:sp>
      <p:sp>
        <p:nvSpPr>
          <p:cNvPr id="14" name="TextBox 13"/>
          <p:cNvSpPr txBox="1"/>
          <p:nvPr/>
        </p:nvSpPr>
        <p:spPr>
          <a:xfrm>
            <a:off x="4608576" y="3602736"/>
            <a:ext cx="2660904" cy="1325880"/>
          </a:xfrm>
          <a:prstGeom prst="rect">
            <a:avLst/>
          </a:prstGeom>
          <a:noFill/>
        </p:spPr>
        <p:txBody>
          <a:bodyPr wrap="square" tIns="0" bIns="0" lIns="0" rIns="0">
            <a:spAutoFit/>
          </a:bodyPr>
          <a:lstStyle/>
          <a:p>
            <a:pPr>
              <a:spcAft>
                <a:spcPts val="1000"/>
              </a:spcAft>
              <a:defRPr sz="2000" b="1">
                <a:solidFill>
                  <a:srgbClr val="172F46"/>
                </a:solidFill>
                <a:latin typeface="DejaVu Sans"/>
              </a:defRPr>
            </a:pPr>
            <a:r>
              <a:t>Facts match?</a:t>
            </a:r>
          </a:p>
          <a:p>
            <a:pPr>
              <a:spcAft>
                <a:spcPts val="1000"/>
              </a:spcAft>
              <a:defRPr sz="2000" b="1">
                <a:solidFill>
                  <a:srgbClr val="172F46"/>
                </a:solidFill>
                <a:latin typeface="DejaVu Sans"/>
              </a:defRPr>
            </a:pPr>
            <a:r>
              <a:t>Blocks ready?</a:t>
            </a:r>
          </a:p>
          <a:p>
            <a:pPr>
              <a:spcAft>
                <a:spcPts val="1000"/>
              </a:spcAft>
              <a:defRPr sz="2000" b="1">
                <a:solidFill>
                  <a:srgbClr val="172F46"/>
                </a:solidFill>
                <a:latin typeface="DejaVu Sans"/>
              </a:defRPr>
            </a:pPr>
            <a:r>
              <a:t>Any conflicts?</a:t>
            </a:r>
          </a:p>
        </p:txBody>
      </p:sp>
      <p:sp>
        <p:nvSpPr>
          <p:cNvPr id="15" name="Rounded Rectangle 14"/>
          <p:cNvSpPr/>
          <p:nvPr/>
        </p:nvSpPr>
        <p:spPr>
          <a:xfrm>
            <a:off x="8110727" y="2770632"/>
            <a:ext cx="3483864" cy="2258568"/>
          </a:xfrm>
          <a:prstGeom prst="roundRect">
            <a:avLst>
              <a:gd name="adj" fmla="val 8000"/>
            </a:avLst>
          </a:prstGeom>
          <a:solidFill>
            <a:srgbClr val="E8F3F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8366759" y="2999232"/>
            <a:ext cx="2971800" cy="329184"/>
          </a:xfrm>
          <a:prstGeom prst="rect">
            <a:avLst/>
          </a:prstGeom>
          <a:noFill/>
        </p:spPr>
        <p:txBody>
          <a:bodyPr wrap="square" tIns="0" bIns="0" lIns="0" rIns="0">
            <a:spAutoFit/>
          </a:bodyPr>
          <a:lstStyle/>
          <a:p>
            <a:pPr>
              <a:spcAft>
                <a:spcPts val="1000"/>
              </a:spcAft>
              <a:defRPr sz="1200" b="1">
                <a:solidFill>
                  <a:srgbClr val="117970"/>
                </a:solidFill>
                <a:latin typeface="DejaVu Sans"/>
              </a:defRPr>
            </a:pPr>
            <a:r>
              <a:t>OUTPUT</a:t>
            </a:r>
          </a:p>
        </p:txBody>
      </p:sp>
      <p:sp>
        <p:nvSpPr>
          <p:cNvPr id="17" name="TextBox 16"/>
          <p:cNvSpPr txBox="1"/>
          <p:nvPr/>
        </p:nvSpPr>
        <p:spPr>
          <a:xfrm>
            <a:off x="8366759" y="3602736"/>
            <a:ext cx="2971800" cy="1325880"/>
          </a:xfrm>
          <a:prstGeom prst="rect">
            <a:avLst/>
          </a:prstGeom>
          <a:noFill/>
        </p:spPr>
        <p:txBody>
          <a:bodyPr wrap="square" tIns="0" bIns="0" lIns="0" rIns="0">
            <a:spAutoFit/>
          </a:bodyPr>
          <a:lstStyle/>
          <a:p>
            <a:pPr>
              <a:spcAft>
                <a:spcPts val="1000"/>
              </a:spcAft>
              <a:defRPr sz="2000" b="1">
                <a:solidFill>
                  <a:srgbClr val="172F46"/>
                </a:solidFill>
                <a:latin typeface="DejaVu Sans"/>
              </a:defRPr>
            </a:pPr>
            <a:r>
              <a:t>Chosen paragraphs</a:t>
            </a:r>
          </a:p>
          <a:p>
            <a:pPr>
              <a:spcAft>
                <a:spcPts val="1000"/>
              </a:spcAft>
              <a:defRPr sz="2000" b="1">
                <a:solidFill>
                  <a:srgbClr val="172F46"/>
                </a:solidFill>
                <a:latin typeface="DejaVu Sans"/>
              </a:defRPr>
            </a:pPr>
            <a:r>
              <a:t>Fixed order</a:t>
            </a:r>
          </a:p>
          <a:p>
            <a:pPr>
              <a:spcAft>
                <a:spcPts val="1000"/>
              </a:spcAft>
              <a:defRPr sz="2000" b="1">
                <a:solidFill>
                  <a:srgbClr val="172F46"/>
                </a:solidFill>
                <a:latin typeface="DejaVu Sans"/>
              </a:defRPr>
            </a:pPr>
            <a:r>
              <a:t>Decision record</a:t>
            </a:r>
          </a:p>
        </p:txBody>
      </p:sp>
      <p:sp>
        <p:nvSpPr>
          <p:cNvPr id="18" name="TextBox 17"/>
          <p:cNvSpPr txBox="1"/>
          <p:nvPr/>
        </p:nvSpPr>
        <p:spPr>
          <a:xfrm>
            <a:off x="3904487" y="3675887"/>
            <a:ext cx="274320" cy="365760"/>
          </a:xfrm>
          <a:prstGeom prst="rect">
            <a:avLst/>
          </a:prstGeom>
          <a:noFill/>
        </p:spPr>
        <p:txBody>
          <a:bodyPr wrap="square" tIns="0" bIns="0" lIns="0" rIns="0">
            <a:spAutoFit/>
          </a:bodyPr>
          <a:lstStyle/>
          <a:p>
            <a:pPr>
              <a:spcAft>
                <a:spcPts val="1000"/>
              </a:spcAft>
              <a:defRPr sz="2400" b="1">
                <a:solidFill>
                  <a:srgbClr val="117970"/>
                </a:solidFill>
                <a:latin typeface="DejaVu Sans"/>
              </a:defRPr>
            </a:pPr>
            <a:r>
              <a:t>→</a:t>
            </a:r>
          </a:p>
        </p:txBody>
      </p:sp>
      <p:sp>
        <p:nvSpPr>
          <p:cNvPr id="19" name="TextBox 18"/>
          <p:cNvSpPr txBox="1"/>
          <p:nvPr/>
        </p:nvSpPr>
        <p:spPr>
          <a:xfrm>
            <a:off x="7671816" y="3675887"/>
            <a:ext cx="274320" cy="365760"/>
          </a:xfrm>
          <a:prstGeom prst="rect">
            <a:avLst/>
          </a:prstGeom>
          <a:noFill/>
        </p:spPr>
        <p:txBody>
          <a:bodyPr wrap="square" tIns="0" bIns="0" lIns="0" rIns="0">
            <a:spAutoFit/>
          </a:bodyPr>
          <a:lstStyle/>
          <a:p>
            <a:pPr>
              <a:spcAft>
                <a:spcPts val="1000"/>
              </a:spcAft>
              <a:defRPr sz="2400" b="1">
                <a:solidFill>
                  <a:srgbClr val="117970"/>
                </a:solidFill>
                <a:latin typeface="DejaVu Sans"/>
              </a:defRPr>
            </a:pPr>
            <a:r>
              <a:t>→</a:t>
            </a:r>
          </a:p>
        </p:txBody>
      </p:sp>
      <p:sp>
        <p:nvSpPr>
          <p:cNvPr id="20" name="Rectangle 19"/>
          <p:cNvSpPr/>
          <p:nvPr/>
        </p:nvSpPr>
        <p:spPr>
          <a:xfrm>
            <a:off x="594360" y="5559552"/>
            <a:ext cx="11000232" cy="594360"/>
          </a:xfrm>
          <a:prstGeom prst="rect">
            <a:avLst/>
          </a:prstGeom>
          <a:solidFill>
            <a:srgbClr val="172F4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850392" y="5742432"/>
            <a:ext cx="10469880" cy="292608"/>
          </a:xfrm>
          <a:prstGeom prst="rect">
            <a:avLst/>
          </a:prstGeom>
          <a:noFill/>
        </p:spPr>
        <p:txBody>
          <a:bodyPr wrap="square" tIns="0" bIns="0" lIns="0" rIns="0">
            <a:spAutoFit/>
          </a:bodyPr>
          <a:lstStyle/>
          <a:p>
            <a:pPr>
              <a:spcAft>
                <a:spcPts val="1000"/>
              </a:spcAft>
              <a:defRPr sz="1600" b="1">
                <a:solidFill>
                  <a:srgbClr val="FFFFFF"/>
                </a:solidFill>
                <a:latin typeface="DejaVu Sans"/>
              </a:defRPr>
            </a:pPr>
            <a:r>
              <a:t>Example: the records paragraph needs both available records and the procedural block.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1179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94360" y="365760"/>
            <a:ext cx="10972800" cy="320040"/>
          </a:xfrm>
          <a:prstGeom prst="rect">
            <a:avLst/>
          </a:prstGeom>
          <a:noFill/>
        </p:spPr>
        <p:txBody>
          <a:bodyPr wrap="square" tIns="0" bIns="0" lIns="0" rIns="0">
            <a:spAutoFit/>
          </a:bodyPr>
          <a:lstStyle/>
          <a:p>
            <a:pPr>
              <a:spcAft>
                <a:spcPts val="1000"/>
              </a:spcAft>
              <a:defRPr sz="1100" b="1">
                <a:solidFill>
                  <a:srgbClr val="117970"/>
                </a:solidFill>
                <a:latin typeface="DejaVu Sans"/>
              </a:defRPr>
            </a:pPr>
            <a:r>
              <a:t>EVIDENCE · FOUR REGRESSION GROUPS</a:t>
            </a:r>
          </a:p>
        </p:txBody>
      </p:sp>
      <p:sp>
        <p:nvSpPr>
          <p:cNvPr id="4" name="TextBox 3"/>
          <p:cNvSpPr txBox="1"/>
          <p:nvPr/>
        </p:nvSpPr>
        <p:spPr>
          <a:xfrm>
            <a:off x="594360" y="960120"/>
            <a:ext cx="10972800" cy="960120"/>
          </a:xfrm>
          <a:prstGeom prst="rect">
            <a:avLst/>
          </a:prstGeom>
          <a:noFill/>
        </p:spPr>
        <p:txBody>
          <a:bodyPr wrap="square" tIns="0" bIns="0" lIns="0" rIns="0">
            <a:spAutoFit/>
          </a:bodyPr>
          <a:lstStyle/>
          <a:p>
            <a:pPr>
              <a:spcAft>
                <a:spcPts val="1000"/>
              </a:spcAft>
              <a:defRPr sz="3100" b="1">
                <a:solidFill>
                  <a:srgbClr val="172F46"/>
                </a:solidFill>
                <a:latin typeface="DejaVu Sans"/>
              </a:defRPr>
            </a:pPr>
            <a:r>
              <a:t>Four checks for unexpected changes</a:t>
            </a:r>
          </a:p>
        </p:txBody>
      </p:sp>
      <p:sp>
        <p:nvSpPr>
          <p:cNvPr id="5" name="TextBox 4"/>
          <p:cNvSpPr txBox="1"/>
          <p:nvPr/>
        </p:nvSpPr>
        <p:spPr>
          <a:xfrm>
            <a:off x="594360" y="1956816"/>
            <a:ext cx="10972800" cy="530352"/>
          </a:xfrm>
          <a:prstGeom prst="rect">
            <a:avLst/>
          </a:prstGeom>
          <a:noFill/>
        </p:spPr>
        <p:txBody>
          <a:bodyPr wrap="square" tIns="0" bIns="0" lIns="0" rIns="0">
            <a:spAutoFit/>
          </a:bodyPr>
          <a:lstStyle/>
          <a:p>
            <a:pPr>
              <a:spcAft>
                <a:spcPts val="1000"/>
              </a:spcAft>
              <a:defRPr sz="1600" b="0">
                <a:solidFill>
                  <a:srgbClr val="607482"/>
                </a:solidFill>
                <a:latin typeface="DejaVu Sans"/>
              </a:defRPr>
            </a:pPr>
            <a:r>
              <a:t>These checks passed on synthetic examples—not on lawyer-approved historical case files.</a:t>
            </a:r>
          </a:p>
        </p:txBody>
      </p:sp>
      <p:sp>
        <p:nvSpPr>
          <p:cNvPr id="6" name="Rectangle 5"/>
          <p:cNvSpPr/>
          <p:nvPr/>
        </p:nvSpPr>
        <p:spPr>
          <a:xfrm>
            <a:off x="594360" y="6409944"/>
            <a:ext cx="11000232" cy="10972"/>
          </a:xfrm>
          <a:prstGeom prst="rect">
            <a:avLst/>
          </a:prstGeom>
          <a:solidFill>
            <a:srgbClr val="DCE5EA"/>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594360" y="6537960"/>
            <a:ext cx="9875520" cy="210312"/>
          </a:xfrm>
          <a:prstGeom prst="rect">
            <a:avLst/>
          </a:prstGeom>
          <a:noFill/>
        </p:spPr>
        <p:txBody>
          <a:bodyPr wrap="square" tIns="0" bIns="0" lIns="0" rIns="0">
            <a:spAutoFit/>
          </a:bodyPr>
          <a:lstStyle/>
          <a:p>
            <a:pPr>
              <a:spcAft>
                <a:spcPts val="1000"/>
              </a:spcAft>
              <a:defRPr sz="850" b="0">
                <a:solidFill>
                  <a:srgbClr val="607482"/>
                </a:solidFill>
                <a:latin typeface="DejaVu Sans"/>
              </a:defRPr>
            </a:pPr>
            <a:r>
              <a:t>Source: executed UkilRAG tests. Passing these cases is not a legal-accuracy guarantee.</a:t>
            </a:r>
          </a:p>
        </p:txBody>
      </p:sp>
      <p:sp>
        <p:nvSpPr>
          <p:cNvPr id="8" name="TextBox 7"/>
          <p:cNvSpPr txBox="1"/>
          <p:nvPr/>
        </p:nvSpPr>
        <p:spPr>
          <a:xfrm>
            <a:off x="10881360" y="6501384"/>
            <a:ext cx="731520" cy="274320"/>
          </a:xfrm>
          <a:prstGeom prst="rect">
            <a:avLst/>
          </a:prstGeom>
          <a:noFill/>
        </p:spPr>
        <p:txBody>
          <a:bodyPr wrap="square" tIns="0" bIns="0" lIns="0" rIns="0">
            <a:spAutoFit/>
          </a:bodyPr>
          <a:lstStyle/>
          <a:p>
            <a:pPr>
              <a:spcAft>
                <a:spcPts val="1000"/>
              </a:spcAft>
              <a:defRPr sz="1000" b="0">
                <a:solidFill>
                  <a:srgbClr val="607482"/>
                </a:solidFill>
                <a:latin typeface="DejaVu Sans"/>
              </a:defRPr>
            </a:pPr>
            <a:r>
              <a:t>04 / 05</a:t>
            </a:r>
          </a:p>
        </p:txBody>
      </p:sp>
      <p:sp>
        <p:nvSpPr>
          <p:cNvPr id="9" name="Rounded Rectangle 8"/>
          <p:cNvSpPr/>
          <p:nvPr/>
        </p:nvSpPr>
        <p:spPr>
          <a:xfrm>
            <a:off x="594360" y="2788920"/>
            <a:ext cx="5202936" cy="1033271"/>
          </a:xfrm>
          <a:prstGeom prst="roundRect">
            <a:avLst>
              <a:gd name="adj" fmla="val 8000"/>
            </a:avLst>
          </a:prstGeom>
          <a:solidFill>
            <a:srgbClr val="F1F5F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813816" y="2953512"/>
            <a:ext cx="4754880" cy="246888"/>
          </a:xfrm>
          <a:prstGeom prst="rect">
            <a:avLst/>
          </a:prstGeom>
          <a:noFill/>
        </p:spPr>
        <p:txBody>
          <a:bodyPr wrap="square" tIns="0" bIns="0" lIns="0" rIns="0">
            <a:spAutoFit/>
          </a:bodyPr>
          <a:lstStyle/>
          <a:p>
            <a:pPr>
              <a:spcAft>
                <a:spcPts val="1000"/>
              </a:spcAft>
              <a:defRPr sz="1100" b="1">
                <a:solidFill>
                  <a:srgbClr val="117970"/>
                </a:solidFill>
                <a:latin typeface="DejaVu Sans"/>
              </a:defRPr>
            </a:pPr>
            <a:r>
              <a:t>SAME INPUT</a:t>
            </a:r>
          </a:p>
        </p:txBody>
      </p:sp>
      <p:sp>
        <p:nvSpPr>
          <p:cNvPr id="11" name="TextBox 10"/>
          <p:cNvSpPr txBox="1"/>
          <p:nvPr/>
        </p:nvSpPr>
        <p:spPr>
          <a:xfrm>
            <a:off x="813816" y="3355848"/>
            <a:ext cx="4754880" cy="356616"/>
          </a:xfrm>
          <a:prstGeom prst="rect">
            <a:avLst/>
          </a:prstGeom>
          <a:noFill/>
        </p:spPr>
        <p:txBody>
          <a:bodyPr wrap="square" tIns="0" bIns="0" lIns="0" rIns="0">
            <a:spAutoFit/>
          </a:bodyPr>
          <a:lstStyle/>
          <a:p>
            <a:pPr>
              <a:spcAft>
                <a:spcPts val="1000"/>
              </a:spcAft>
              <a:defRPr sz="1700" b="1">
                <a:solidFill>
                  <a:srgbClr val="172F46"/>
                </a:solidFill>
                <a:latin typeface="DejaVu Sans"/>
              </a:defRPr>
            </a:pPr>
            <a:r>
              <a:t>25 runs → matching results</a:t>
            </a:r>
          </a:p>
        </p:txBody>
      </p:sp>
      <p:sp>
        <p:nvSpPr>
          <p:cNvPr id="12" name="Rounded Rectangle 11"/>
          <p:cNvSpPr/>
          <p:nvPr/>
        </p:nvSpPr>
        <p:spPr>
          <a:xfrm>
            <a:off x="6391656" y="2788920"/>
            <a:ext cx="5202936" cy="1033271"/>
          </a:xfrm>
          <a:prstGeom prst="roundRect">
            <a:avLst>
              <a:gd name="adj" fmla="val 8000"/>
            </a:avLst>
          </a:prstGeom>
          <a:solidFill>
            <a:srgbClr val="F1F5F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6611112" y="2953512"/>
            <a:ext cx="4754880" cy="246888"/>
          </a:xfrm>
          <a:prstGeom prst="rect">
            <a:avLst/>
          </a:prstGeom>
          <a:noFill/>
        </p:spPr>
        <p:txBody>
          <a:bodyPr wrap="square" tIns="0" bIns="0" lIns="0" rIns="0">
            <a:spAutoFit/>
          </a:bodyPr>
          <a:lstStyle/>
          <a:p>
            <a:pPr>
              <a:spcAft>
                <a:spcPts val="1000"/>
              </a:spcAft>
              <a:defRPr sz="1100" b="1">
                <a:solidFill>
                  <a:srgbClr val="117970"/>
                </a:solidFill>
                <a:latin typeface="DejaVu Sans"/>
              </a:defRPr>
            </a:pPr>
            <a:r>
              <a:t>KNOWN EXAMPLES</a:t>
            </a:r>
          </a:p>
        </p:txBody>
      </p:sp>
      <p:sp>
        <p:nvSpPr>
          <p:cNvPr id="14" name="TextBox 13"/>
          <p:cNvSpPr txBox="1"/>
          <p:nvPr/>
        </p:nvSpPr>
        <p:spPr>
          <a:xfrm>
            <a:off x="6611112" y="3355848"/>
            <a:ext cx="4754880" cy="356616"/>
          </a:xfrm>
          <a:prstGeom prst="rect">
            <a:avLst/>
          </a:prstGeom>
          <a:noFill/>
        </p:spPr>
        <p:txBody>
          <a:bodyPr wrap="square" tIns="0" bIns="0" lIns="0" rIns="0">
            <a:spAutoFit/>
          </a:bodyPr>
          <a:lstStyle/>
          <a:p>
            <a:pPr>
              <a:spcAft>
                <a:spcPts val="1000"/>
              </a:spcAft>
              <a:defRPr sz="1700" b="1">
                <a:solidFill>
                  <a:srgbClr val="172F46"/>
                </a:solidFill>
                <a:latin typeface="DejaVu Sans"/>
              </a:defRPr>
            </a:pPr>
            <a:r>
              <a:t>4 cases → expected structure</a:t>
            </a:r>
          </a:p>
        </p:txBody>
      </p:sp>
      <p:sp>
        <p:nvSpPr>
          <p:cNvPr id="15" name="Rounded Rectangle 14"/>
          <p:cNvSpPr/>
          <p:nvPr/>
        </p:nvSpPr>
        <p:spPr>
          <a:xfrm>
            <a:off x="594360" y="4050791"/>
            <a:ext cx="5202936" cy="1033271"/>
          </a:xfrm>
          <a:prstGeom prst="roundRect">
            <a:avLst>
              <a:gd name="adj" fmla="val 8000"/>
            </a:avLst>
          </a:prstGeom>
          <a:solidFill>
            <a:srgbClr val="F1F5F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813816" y="4215383"/>
            <a:ext cx="4754880" cy="246888"/>
          </a:xfrm>
          <a:prstGeom prst="rect">
            <a:avLst/>
          </a:prstGeom>
          <a:noFill/>
        </p:spPr>
        <p:txBody>
          <a:bodyPr wrap="square" tIns="0" bIns="0" lIns="0" rIns="0">
            <a:spAutoFit/>
          </a:bodyPr>
          <a:lstStyle/>
          <a:p>
            <a:pPr>
              <a:spcAft>
                <a:spcPts val="1000"/>
              </a:spcAft>
              <a:defRPr sz="1100" b="1">
                <a:solidFill>
                  <a:srgbClr val="117970"/>
                </a:solidFill>
                <a:latin typeface="DejaVu Sans"/>
              </a:defRPr>
            </a:pPr>
            <a:r>
              <a:t>CONFLICTING CHOICES</a:t>
            </a:r>
          </a:p>
        </p:txBody>
      </p:sp>
      <p:sp>
        <p:nvSpPr>
          <p:cNvPr id="17" name="TextBox 16"/>
          <p:cNvSpPr txBox="1"/>
          <p:nvPr/>
        </p:nvSpPr>
        <p:spPr>
          <a:xfrm>
            <a:off x="813816" y="4617720"/>
            <a:ext cx="4754880" cy="356616"/>
          </a:xfrm>
          <a:prstGeom prst="rect">
            <a:avLst/>
          </a:prstGeom>
          <a:noFill/>
        </p:spPr>
        <p:txBody>
          <a:bodyPr wrap="square" tIns="0" bIns="0" lIns="0" rIns="0">
            <a:spAutoFit/>
          </a:bodyPr>
          <a:lstStyle/>
          <a:p>
            <a:pPr>
              <a:spcAft>
                <a:spcPts val="1000"/>
              </a:spcAft>
              <a:defRPr sz="1700" b="1">
                <a:solidFill>
                  <a:srgbClr val="172F46"/>
                </a:solidFill>
                <a:latin typeface="DejaVu Sans"/>
              </a:defRPr>
            </a:pPr>
            <a:r>
              <a:t>Both routes → expected error</a:t>
            </a:r>
          </a:p>
        </p:txBody>
      </p:sp>
      <p:sp>
        <p:nvSpPr>
          <p:cNvPr id="18" name="Rounded Rectangle 17"/>
          <p:cNvSpPr/>
          <p:nvPr/>
        </p:nvSpPr>
        <p:spPr>
          <a:xfrm>
            <a:off x="6391656" y="4050791"/>
            <a:ext cx="5202936" cy="1033271"/>
          </a:xfrm>
          <a:prstGeom prst="roundRect">
            <a:avLst>
              <a:gd name="adj" fmla="val 8000"/>
            </a:avLst>
          </a:prstGeom>
          <a:solidFill>
            <a:srgbClr val="F1F5F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6611112" y="4215383"/>
            <a:ext cx="4754880" cy="246888"/>
          </a:xfrm>
          <a:prstGeom prst="rect">
            <a:avLst/>
          </a:prstGeom>
          <a:noFill/>
        </p:spPr>
        <p:txBody>
          <a:bodyPr wrap="square" tIns="0" bIns="0" lIns="0" rIns="0">
            <a:spAutoFit/>
          </a:bodyPr>
          <a:lstStyle/>
          <a:p>
            <a:pPr>
              <a:spcAft>
                <a:spcPts val="1000"/>
              </a:spcAft>
              <a:defRPr sz="1100" b="1">
                <a:solidFill>
                  <a:srgbClr val="117970"/>
                </a:solidFill>
                <a:latin typeface="DejaVu Sans"/>
              </a:defRPr>
            </a:pPr>
            <a:r>
              <a:t>RECORDED SOURCE UPDATE</a:t>
            </a:r>
          </a:p>
        </p:txBody>
      </p:sp>
      <p:sp>
        <p:nvSpPr>
          <p:cNvPr id="20" name="TextBox 19"/>
          <p:cNvSpPr txBox="1"/>
          <p:nvPr/>
        </p:nvSpPr>
        <p:spPr>
          <a:xfrm>
            <a:off x="6611112" y="4617720"/>
            <a:ext cx="4754880" cy="356616"/>
          </a:xfrm>
          <a:prstGeom prst="rect">
            <a:avLst/>
          </a:prstGeom>
          <a:noFill/>
        </p:spPr>
        <p:txBody>
          <a:bodyPr wrap="square" tIns="0" bIns="0" lIns="0" rIns="0">
            <a:spAutoFit/>
          </a:bodyPr>
          <a:lstStyle/>
          <a:p>
            <a:pPr>
              <a:spcAft>
                <a:spcPts val="1000"/>
              </a:spcAft>
              <a:defRPr sz="1700" b="1">
                <a:solidFill>
                  <a:srgbClr val="172F46"/>
                </a:solidFill>
                <a:latin typeface="DejaVu Sans"/>
              </a:defRPr>
            </a:pPr>
            <a:r>
              <a:t>New note → affected blocks flagged</a:t>
            </a:r>
          </a:p>
        </p:txBody>
      </p:sp>
      <p:sp>
        <p:nvSpPr>
          <p:cNvPr id="21" name="Rectangle 20"/>
          <p:cNvSpPr/>
          <p:nvPr/>
        </p:nvSpPr>
        <p:spPr>
          <a:xfrm>
            <a:off x="594360" y="5559552"/>
            <a:ext cx="11000232" cy="594360"/>
          </a:xfrm>
          <a:prstGeom prst="rect">
            <a:avLst/>
          </a:prstGeom>
          <a:solidFill>
            <a:srgbClr val="172F4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850392" y="5742432"/>
            <a:ext cx="10469880" cy="292608"/>
          </a:xfrm>
          <a:prstGeom prst="rect">
            <a:avLst/>
          </a:prstGeom>
          <a:noFill/>
        </p:spPr>
        <p:txBody>
          <a:bodyPr wrap="square" tIns="0" bIns="0" lIns="0" rIns="0">
            <a:spAutoFit/>
          </a:bodyPr>
          <a:lstStyle/>
          <a:p>
            <a:pPr>
              <a:spcAft>
                <a:spcPts val="1000"/>
              </a:spcAft>
              <a:defRPr sz="1600" b="1">
                <a:solidFill>
                  <a:srgbClr val="FFFFFF"/>
                </a:solidFill>
                <a:latin typeface="DejaVu Sans"/>
              </a:defRPr>
            </a:pPr>
            <a:r>
              <a:t>A warning asks for review. It does not automatically change the legal argument.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1179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94360" y="365760"/>
            <a:ext cx="10972800" cy="320040"/>
          </a:xfrm>
          <a:prstGeom prst="rect">
            <a:avLst/>
          </a:prstGeom>
          <a:noFill/>
        </p:spPr>
        <p:txBody>
          <a:bodyPr wrap="square" tIns="0" bIns="0" lIns="0" rIns="0">
            <a:spAutoFit/>
          </a:bodyPr>
          <a:lstStyle/>
          <a:p>
            <a:pPr>
              <a:spcAft>
                <a:spcPts val="1000"/>
              </a:spcAft>
              <a:defRPr sz="1100" b="1">
                <a:solidFill>
                  <a:srgbClr val="117970"/>
                </a:solidFill>
                <a:latin typeface="DejaVu Sans"/>
              </a:defRPr>
            </a:pPr>
            <a:r>
              <a:t>A REALISTIC NEXT STEP</a:t>
            </a:r>
          </a:p>
        </p:txBody>
      </p:sp>
      <p:sp>
        <p:nvSpPr>
          <p:cNvPr id="4" name="TextBox 3"/>
          <p:cNvSpPr txBox="1"/>
          <p:nvPr/>
        </p:nvSpPr>
        <p:spPr>
          <a:xfrm>
            <a:off x="594360" y="960120"/>
            <a:ext cx="10972800" cy="960120"/>
          </a:xfrm>
          <a:prstGeom prst="rect">
            <a:avLst/>
          </a:prstGeom>
          <a:noFill/>
        </p:spPr>
        <p:txBody>
          <a:bodyPr wrap="square" tIns="0" bIns="0" lIns="0" rIns="0">
            <a:spAutoFit/>
          </a:bodyPr>
          <a:lstStyle/>
          <a:p>
            <a:pPr>
              <a:spcAft>
                <a:spcPts val="1000"/>
              </a:spcAft>
              <a:defRPr sz="3100" b="1">
                <a:solidFill>
                  <a:srgbClr val="172F46"/>
                </a:solidFill>
                <a:latin typeface="DejaVu Sans"/>
              </a:defRPr>
            </a:pPr>
            <a:r>
              <a:t>Start with one approved workflow</a:t>
            </a:r>
          </a:p>
        </p:txBody>
      </p:sp>
      <p:sp>
        <p:nvSpPr>
          <p:cNvPr id="5" name="TextBox 4"/>
          <p:cNvSpPr txBox="1"/>
          <p:nvPr/>
        </p:nvSpPr>
        <p:spPr>
          <a:xfrm>
            <a:off x="594360" y="1956816"/>
            <a:ext cx="10972800" cy="530352"/>
          </a:xfrm>
          <a:prstGeom prst="rect">
            <a:avLst/>
          </a:prstGeom>
          <a:noFill/>
        </p:spPr>
        <p:txBody>
          <a:bodyPr wrap="square" tIns="0" bIns="0" lIns="0" rIns="0">
            <a:spAutoFit/>
          </a:bodyPr>
          <a:lstStyle/>
          <a:p>
            <a:pPr>
              <a:spcAft>
                <a:spcPts val="1000"/>
              </a:spcAft>
              <a:defRPr sz="1600" b="0">
                <a:solidFill>
                  <a:srgbClr val="607482"/>
                </a:solidFill>
                <a:latin typeface="DejaVu Sans"/>
              </a:defRPr>
            </a:pPr>
            <a:r>
              <a:t>Learn the team’s process, agree on examples, then build a small pilot for review.</a:t>
            </a:r>
          </a:p>
        </p:txBody>
      </p:sp>
      <p:sp>
        <p:nvSpPr>
          <p:cNvPr id="6" name="Rectangle 5"/>
          <p:cNvSpPr/>
          <p:nvPr/>
        </p:nvSpPr>
        <p:spPr>
          <a:xfrm>
            <a:off x="594360" y="6409944"/>
            <a:ext cx="11000232" cy="10972"/>
          </a:xfrm>
          <a:prstGeom prst="rect">
            <a:avLst/>
          </a:prstGeom>
          <a:solidFill>
            <a:srgbClr val="DCE5EA"/>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594360" y="6537960"/>
            <a:ext cx="9875520" cy="210312"/>
          </a:xfrm>
          <a:prstGeom prst="rect">
            <a:avLst/>
          </a:prstGeom>
          <a:noFill/>
        </p:spPr>
        <p:txBody>
          <a:bodyPr wrap="square" tIns="0" bIns="0" lIns="0" rIns="0">
            <a:spAutoFit/>
          </a:bodyPr>
          <a:lstStyle/>
          <a:p>
            <a:pPr>
              <a:spcAft>
                <a:spcPts val="1000"/>
              </a:spcAft>
              <a:defRPr sz="850" b="0">
                <a:solidFill>
                  <a:srgbClr val="607482"/>
                </a:solidFill>
                <a:latin typeface="DejaVu Sans"/>
              </a:defRPr>
            </a:pPr>
            <a:r>
              <a:t>Sources: supplied internship brief; github.com/nafismam/UkilRAG. Proposals, not verified internal shortcomings.</a:t>
            </a:r>
          </a:p>
        </p:txBody>
      </p:sp>
      <p:sp>
        <p:nvSpPr>
          <p:cNvPr id="8" name="TextBox 7"/>
          <p:cNvSpPr txBox="1"/>
          <p:nvPr/>
        </p:nvSpPr>
        <p:spPr>
          <a:xfrm>
            <a:off x="10881360" y="6501384"/>
            <a:ext cx="731520" cy="274320"/>
          </a:xfrm>
          <a:prstGeom prst="rect">
            <a:avLst/>
          </a:prstGeom>
          <a:noFill/>
        </p:spPr>
        <p:txBody>
          <a:bodyPr wrap="square" tIns="0" bIns="0" lIns="0" rIns="0">
            <a:spAutoFit/>
          </a:bodyPr>
          <a:lstStyle/>
          <a:p>
            <a:pPr>
              <a:spcAft>
                <a:spcPts val="1000"/>
              </a:spcAft>
              <a:defRPr sz="1000" b="0">
                <a:solidFill>
                  <a:srgbClr val="607482"/>
                </a:solidFill>
                <a:latin typeface="DejaVu Sans"/>
              </a:defRPr>
            </a:pPr>
            <a:r>
              <a:t>05 / 05</a:t>
            </a:r>
          </a:p>
        </p:txBody>
      </p:sp>
      <p:sp>
        <p:nvSpPr>
          <p:cNvPr id="9" name="Rounded Rectangle 8"/>
          <p:cNvSpPr/>
          <p:nvPr/>
        </p:nvSpPr>
        <p:spPr>
          <a:xfrm>
            <a:off x="594360" y="2834640"/>
            <a:ext cx="5193792" cy="2286000"/>
          </a:xfrm>
          <a:prstGeom prst="roundRect">
            <a:avLst>
              <a:gd name="adj" fmla="val 8000"/>
            </a:avLst>
          </a:prstGeom>
          <a:solidFill>
            <a:srgbClr val="F1F5F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850392" y="3063240"/>
            <a:ext cx="4681727" cy="329184"/>
          </a:xfrm>
          <a:prstGeom prst="rect">
            <a:avLst/>
          </a:prstGeom>
          <a:noFill/>
        </p:spPr>
        <p:txBody>
          <a:bodyPr wrap="square" tIns="0" bIns="0" lIns="0" rIns="0">
            <a:spAutoFit/>
          </a:bodyPr>
          <a:lstStyle/>
          <a:p>
            <a:pPr>
              <a:spcAft>
                <a:spcPts val="1000"/>
              </a:spcAft>
              <a:defRPr sz="1200" b="1">
                <a:solidFill>
                  <a:srgbClr val="117970"/>
                </a:solidFill>
                <a:latin typeface="DejaVu Sans"/>
              </a:defRPr>
            </a:pPr>
            <a:r>
              <a:t>THIS DEMONSTRATION</a:t>
            </a:r>
          </a:p>
        </p:txBody>
      </p:sp>
      <p:sp>
        <p:nvSpPr>
          <p:cNvPr id="11" name="TextBox 10"/>
          <p:cNvSpPr txBox="1"/>
          <p:nvPr/>
        </p:nvSpPr>
        <p:spPr>
          <a:xfrm>
            <a:off x="850392" y="3666744"/>
            <a:ext cx="4681727" cy="1353312"/>
          </a:xfrm>
          <a:prstGeom prst="rect">
            <a:avLst/>
          </a:prstGeom>
          <a:noFill/>
        </p:spPr>
        <p:txBody>
          <a:bodyPr wrap="square" tIns="0" bIns="0" lIns="0" rIns="0">
            <a:spAutoFit/>
          </a:bodyPr>
          <a:lstStyle/>
          <a:p>
            <a:pPr>
              <a:spcAft>
                <a:spcPts val="1000"/>
              </a:spcAft>
              <a:defRPr sz="2000" b="1">
                <a:solidFill>
                  <a:srgbClr val="172F46"/>
                </a:solidFill>
                <a:latin typeface="DejaVu Sans"/>
              </a:defRPr>
            </a:pPr>
            <a:r>
              <a:t>Sample legal summaries</a:t>
            </a:r>
          </a:p>
          <a:p>
            <a:pPr>
              <a:spcAft>
                <a:spcPts val="1000"/>
              </a:spcAft>
              <a:defRPr sz="2000" b="1">
                <a:solidFill>
                  <a:srgbClr val="172F46"/>
                </a:solidFill>
                <a:latin typeface="DejaVu Sans"/>
              </a:defRPr>
            </a:pPr>
            <a:r>
              <a:t>Fictional cases and updates</a:t>
            </a:r>
          </a:p>
          <a:p>
            <a:pPr>
              <a:spcAft>
                <a:spcPts val="1000"/>
              </a:spcAft>
              <a:defRPr sz="2000" b="1">
                <a:solidFill>
                  <a:srgbClr val="172F46"/>
                </a:solidFill>
                <a:latin typeface="DejaVu Sans"/>
              </a:defRPr>
            </a:pPr>
            <a:r>
              <a:t>Rules, not LLM drafting</a:t>
            </a:r>
          </a:p>
        </p:txBody>
      </p:sp>
      <p:sp>
        <p:nvSpPr>
          <p:cNvPr id="12" name="Rounded Rectangle 11"/>
          <p:cNvSpPr/>
          <p:nvPr/>
        </p:nvSpPr>
        <p:spPr>
          <a:xfrm>
            <a:off x="6391656" y="2834640"/>
            <a:ext cx="5202936" cy="2286000"/>
          </a:xfrm>
          <a:prstGeom prst="roundRect">
            <a:avLst>
              <a:gd name="adj" fmla="val 8000"/>
            </a:avLst>
          </a:prstGeom>
          <a:solidFill>
            <a:srgbClr val="E8F3F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6647688" y="3063240"/>
            <a:ext cx="4690872" cy="329184"/>
          </a:xfrm>
          <a:prstGeom prst="rect">
            <a:avLst/>
          </a:prstGeom>
          <a:noFill/>
        </p:spPr>
        <p:txBody>
          <a:bodyPr wrap="square" tIns="0" bIns="0" lIns="0" rIns="0">
            <a:spAutoFit/>
          </a:bodyPr>
          <a:lstStyle/>
          <a:p>
            <a:pPr>
              <a:spcAft>
                <a:spcPts val="1000"/>
              </a:spcAft>
              <a:defRPr sz="1200" b="1">
                <a:solidFill>
                  <a:srgbClr val="117970"/>
                </a:solidFill>
                <a:latin typeface="DejaVu Sans"/>
              </a:defRPr>
            </a:pPr>
            <a:r>
              <a:t>WITH THE TEAM</a:t>
            </a:r>
          </a:p>
        </p:txBody>
      </p:sp>
      <p:sp>
        <p:nvSpPr>
          <p:cNvPr id="14" name="TextBox 13"/>
          <p:cNvSpPr txBox="1"/>
          <p:nvPr/>
        </p:nvSpPr>
        <p:spPr>
          <a:xfrm>
            <a:off x="6647688" y="3666744"/>
            <a:ext cx="4690872" cy="1353312"/>
          </a:xfrm>
          <a:prstGeom prst="rect">
            <a:avLst/>
          </a:prstGeom>
          <a:noFill/>
        </p:spPr>
        <p:txBody>
          <a:bodyPr wrap="square" tIns="0" bIns="0" lIns="0" rIns="0">
            <a:spAutoFit/>
          </a:bodyPr>
          <a:lstStyle/>
          <a:p>
            <a:pPr>
              <a:spcAft>
                <a:spcPts val="1000"/>
              </a:spcAft>
              <a:defRPr sz="2000" b="1">
                <a:solidFill>
                  <a:srgbClr val="172F46"/>
                </a:solidFill>
                <a:latin typeface="DejaVu Sans"/>
              </a:defRPr>
            </a:pPr>
            <a:r>
              <a:t>Lawyer-approved examples</a:t>
            </a:r>
          </a:p>
          <a:p>
            <a:pPr>
              <a:spcAft>
                <a:spcPts val="1000"/>
              </a:spcAft>
              <a:defRPr sz="2000" b="1">
                <a:solidFill>
                  <a:srgbClr val="172F46"/>
                </a:solidFill>
                <a:latin typeface="DejaVu Sans"/>
              </a:defRPr>
            </a:pPr>
            <a:r>
              <a:t>Reviewed rules and sources</a:t>
            </a:r>
          </a:p>
          <a:p>
            <a:pPr>
              <a:spcAft>
                <a:spcPts val="1000"/>
              </a:spcAft>
              <a:defRPr sz="2000" b="1">
                <a:solidFill>
                  <a:srgbClr val="172F46"/>
                </a:solidFill>
                <a:latin typeface="DejaVu Sans"/>
              </a:defRPr>
            </a:pPr>
            <a:r>
              <a:t>Feedback before expanding</a:t>
            </a:r>
          </a:p>
        </p:txBody>
      </p:sp>
      <p:sp>
        <p:nvSpPr>
          <p:cNvPr id="15" name="Rectangle 14"/>
          <p:cNvSpPr/>
          <p:nvPr/>
        </p:nvSpPr>
        <p:spPr>
          <a:xfrm>
            <a:off x="594360" y="5559552"/>
            <a:ext cx="11000232" cy="594360"/>
          </a:xfrm>
          <a:prstGeom prst="rect">
            <a:avLst/>
          </a:prstGeom>
          <a:solidFill>
            <a:srgbClr val="172F4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850392" y="5742432"/>
            <a:ext cx="10469880" cy="292608"/>
          </a:xfrm>
          <a:prstGeom prst="rect">
            <a:avLst/>
          </a:prstGeom>
          <a:noFill/>
        </p:spPr>
        <p:txBody>
          <a:bodyPr wrap="square" tIns="0" bIns="0" lIns="0" rIns="0">
            <a:spAutoFit/>
          </a:bodyPr>
          <a:lstStyle/>
          <a:p>
            <a:pPr>
              <a:spcAft>
                <a:spcPts val="1000"/>
              </a:spcAft>
              <a:defRPr sz="1600" b="1">
                <a:solidFill>
                  <a:srgbClr val="FFFFFF"/>
                </a:solidFill>
                <a:latin typeface="DejaVu Sans"/>
              </a:defRPr>
            </a:pPr>
            <a:r>
              <a:t>Which workflow would be the most useful starting point for this internship?</a:t>
            </a:r>
          </a:p>
        </p:txBody>
      </p:sp>
      <p:sp>
        <p:nvSpPr>
          <p:cNvPr id="17" name="TextBox 16"/>
          <p:cNvSpPr txBox="1"/>
          <p:nvPr/>
        </p:nvSpPr>
        <p:spPr>
          <a:xfrm>
            <a:off x="594360" y="6217920"/>
            <a:ext cx="8229600" cy="192024"/>
          </a:xfrm>
          <a:prstGeom prst="rect">
            <a:avLst/>
          </a:prstGeom>
          <a:noFill/>
        </p:spPr>
        <p:txBody>
          <a:bodyPr wrap="square" tIns="0" bIns="0" lIns="0" rIns="0">
            <a:spAutoFit/>
          </a:bodyPr>
          <a:lstStyle/>
          <a:p>
            <a:pPr>
              <a:spcAft>
                <a:spcPts val="1000"/>
              </a:spcAft>
              <a:defRPr sz="900" b="0">
                <a:solidFill>
                  <a:srgbClr val="117970"/>
                </a:solidFill>
                <a:latin typeface="DejaVu Sans"/>
              </a:defRPr>
            </a:pPr>
            <a:r>
              <a:rPr>
                <a:hlinkClick r:id="rId2"/>
              </a:rPr>
              <a:t>Code and executed notebook: github.com/nafismam/UkilRAG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From Legal Research to a Knowledge Systems Prototype</dc:title>
  <dc:subject>Compact interview discussion: research context, UkilRAG demo and role connection</dc:subject>
  <dc:creator>Nafis Ismam</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