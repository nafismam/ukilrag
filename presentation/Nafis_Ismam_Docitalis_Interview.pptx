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Docitalis publicly describes legal document translation for citizenship applications and an existing platform with human review. The internship brief extends into legal knowledge structuring and deterministic assembly. The brief supplies the Aprigliano connection; I am not asserting ownership or corporate affiliation. My aim is to understand the existing workflow before proposing changes. Source: https://docitalis.com/ and the supplied role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The deterministic engine uses case facts and an approved strategy. A module declares its required facts, prerequisites, conflicts, order and source links. A version and fingerprint identify the rule snapshot. The separate source matrix stores provenance, jurisdiction, dates and relationships between authorities and modules. Retrieval supplies review evidence and warnings, not a legal strategy. A lawyer assesses applicability. Relational tables are a reasonable starting point; a graph is a later choice only if relationship queries justify it. Sources: role description; https://docitalis.com/privacy-cookie-policy/ for document confidentiality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I would join on-site discovery sessions, ask for a representative approved example and ask why each argument is included or excluded. I would record unknowns instead of guessing legal rules. Then I would translate one decision into explicit structured conditions, implement a narrow Python change and inspect the resulting trace with the domain expert. SQL can hold modules, conditions, prerequisites, citations and approvals. I would build proficiency in the team’s actual schema and formal methods. My current demos do not demonstrate SQL or Alloy implementation, so I would describe those as development areas rather than completed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65 seconds. Regression tests compare a changed knowledge base with approved reference cases. A changed answer may be a defect or an intended legal update; the difference must be explained and reviewed. Passing every agreed test is a software acceptance criterion, not a guarantee of universal legal accuracy. My demonstration uses synthetic cases and simulated judgments, not real lawyer-approved histories. A new judgment is not necessarily a statutory amendment or applicable to every case. For appeals I would structure findings, reasoning and authorities and link them to issues; legal professionals would decide viable grounds. Protect confidential documents and use authorized or de-identified examples for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65 seconds. My earlier research contribution was literature review, problem identification and initial design. I later moved to an LLM inference project while a sub-team continued the legal work. These repositories are recent demonstrations, separate from the published implementation. UkilRAG demonstrates versioned modules, deterministic assembly and four passing synthetic regression groups; it is not a complete generative RAG system. LearnRAG has seven passing component tests and separately captured real MiniLM/Qwen outputs. It omits requested inline citations, and three chunks with top-k three do not establish retrieval quality at scale. I can explain those limitations. My first-month proposal is to map one workflow, agree on an authorized reference set, implement one bounded rule set and measure the result with reviewers. The team’s priorities determine the actual schedule. I would ask which workflow is the best first target.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afismam/UkilRAG" TargetMode="External"/><Relationship Id="rId3" Type="http://schemas.openxmlformats.org/officeDocument/2006/relationships/hyperlink" Target="https://github.com/nafismam/LearnRAG" TargetMode="External"/><Relationship Id="rId4"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NAFIS ISMAM · INTERVIEW DISCUSSION</a:t>
            </a:r>
          </a:p>
        </p:txBody>
      </p:sp>
      <p:sp>
        <p:nvSpPr>
          <p:cNvPr id="4" name="TextBox 3"/>
          <p:cNvSpPr txBox="1"/>
          <p:nvPr/>
        </p:nvSpPr>
        <p:spPr>
          <a:xfrm>
            <a:off x="594360" y="832104"/>
            <a:ext cx="10972800" cy="914400"/>
          </a:xfrm>
          <a:prstGeom prst="rect">
            <a:avLst/>
          </a:prstGeom>
          <a:noFill/>
        </p:spPr>
        <p:txBody>
          <a:bodyPr wrap="square" lIns="0" rIns="0" tIns="0" bIns="0">
            <a:spAutoFit/>
          </a:bodyPr>
          <a:lstStyle/>
          <a:p>
            <a:pPr>
              <a:spcAft>
                <a:spcPts val="700"/>
              </a:spcAft>
              <a:defRPr sz="3000" b="1">
                <a:solidFill>
                  <a:srgbClr val="162B43"/>
                </a:solidFill>
                <a:latin typeface="DejaVu Sans"/>
              </a:defRPr>
            </a:pPr>
            <a:r>
              <a:t>Making legal expertise repeatable and traceable</a:t>
            </a:r>
          </a:p>
        </p:txBody>
      </p:sp>
      <p:sp>
        <p:nvSpPr>
          <p:cNvPr id="5" name="TextBox 4"/>
          <p:cNvSpPr txBox="1"/>
          <p:nvPr/>
        </p:nvSpPr>
        <p:spPr>
          <a:xfrm>
            <a:off x="594360" y="1792224"/>
            <a:ext cx="10972800" cy="585216"/>
          </a:xfrm>
          <a:prstGeom prst="rect">
            <a:avLst/>
          </a:prstGeom>
          <a:noFill/>
        </p:spPr>
        <p:txBody>
          <a:bodyPr wrap="square" lIns="0" rIns="0" tIns="0" bIns="0">
            <a:spAutoFit/>
          </a:bodyPr>
          <a:lstStyle/>
          <a:p>
            <a:pPr>
              <a:spcAft>
                <a:spcPts val="700"/>
              </a:spcAft>
              <a:defRPr sz="1600" b="0">
                <a:solidFill>
                  <a:srgbClr val="607185"/>
                </a:solidFill>
                <a:latin typeface="DejaVu Sans"/>
              </a:defRPr>
            </a:pPr>
            <a:r>
              <a:t>My understanding of the Knowledge Systems &amp; AI Automation internship</a:t>
            </a:r>
          </a:p>
        </p:txBody>
      </p:sp>
      <p:sp>
        <p:nvSpPr>
          <p:cNvPr id="6" name="Rectangle 5"/>
          <p:cNvSpPr/>
          <p:nvPr/>
        </p:nvSpPr>
        <p:spPr>
          <a:xfrm>
            <a:off x="594360" y="6409944"/>
            <a:ext cx="11000232" cy="10972"/>
          </a:xfrm>
          <a:prstGeom prst="rect">
            <a:avLst/>
          </a:prstGeom>
          <a:solidFill>
            <a:srgbClr val="DEE6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28816"/>
            <a:ext cx="9784080" cy="182880"/>
          </a:xfrm>
          <a:prstGeom prst="rect">
            <a:avLst/>
          </a:prstGeom>
          <a:noFill/>
        </p:spPr>
        <p:txBody>
          <a:bodyPr wrap="square" lIns="0" rIns="0" tIns="0" bIns="0">
            <a:spAutoFit/>
          </a:bodyPr>
          <a:lstStyle/>
          <a:p>
            <a:pPr>
              <a:spcAft>
                <a:spcPts val="700"/>
              </a:spcAft>
              <a:defRPr sz="850" b="0">
                <a:solidFill>
                  <a:srgbClr val="607185"/>
                </a:solidFill>
                <a:latin typeface="DejaVu Sans"/>
              </a:defRPr>
            </a:pPr>
            <a:r>
              <a:t>Sources: Docitalis website; supplied role description. Proposed approach, not an internal-system assessment.</a:t>
            </a:r>
          </a:p>
        </p:txBody>
      </p:sp>
      <p:sp>
        <p:nvSpPr>
          <p:cNvPr id="8" name="TextBox 7"/>
          <p:cNvSpPr txBox="1"/>
          <p:nvPr/>
        </p:nvSpPr>
        <p:spPr>
          <a:xfrm>
            <a:off x="10835640" y="6492240"/>
            <a:ext cx="777240" cy="228600"/>
          </a:xfrm>
          <a:prstGeom prst="rect">
            <a:avLst/>
          </a:prstGeom>
          <a:noFill/>
        </p:spPr>
        <p:txBody>
          <a:bodyPr wrap="square" lIns="0" rIns="0" tIns="0" bIns="0">
            <a:spAutoFit/>
          </a:bodyPr>
          <a:lstStyle/>
          <a:p>
            <a:pPr>
              <a:spcAft>
                <a:spcPts val="700"/>
              </a:spcAft>
              <a:defRPr sz="1000" b="0">
                <a:solidFill>
                  <a:srgbClr val="607185"/>
                </a:solidFill>
                <a:latin typeface="DejaVu Sans"/>
              </a:defRPr>
            </a:pPr>
            <a:r>
              <a:t>01 / 05</a:t>
            </a:r>
          </a:p>
        </p:txBody>
      </p:sp>
      <p:sp>
        <p:nvSpPr>
          <p:cNvPr id="9" name="Rounded Rectangle 8"/>
          <p:cNvSpPr/>
          <p:nvPr/>
        </p:nvSpPr>
        <p:spPr>
          <a:xfrm>
            <a:off x="594360" y="2697480"/>
            <a:ext cx="3493008" cy="256032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2" y="2916936"/>
            <a:ext cx="3063240" cy="274320"/>
          </a:xfrm>
          <a:prstGeom prst="rect">
            <a:avLst/>
          </a:prstGeom>
          <a:noFill/>
        </p:spPr>
        <p:txBody>
          <a:bodyPr wrap="square" lIns="0" rIns="0" tIns="0" bIns="0">
            <a:spAutoFit/>
          </a:bodyPr>
          <a:lstStyle/>
          <a:p>
            <a:pPr>
              <a:spcAft>
                <a:spcPts val="700"/>
              </a:spcAft>
              <a:defRPr sz="1000" b="1">
                <a:solidFill>
                  <a:srgbClr val="147D78"/>
                </a:solidFill>
                <a:latin typeface="DejaVu Sans"/>
              </a:defRPr>
            </a:pPr>
            <a:r>
              <a:t>BUSINESS CONTEXT</a:t>
            </a:r>
          </a:p>
        </p:txBody>
      </p:sp>
      <p:sp>
        <p:nvSpPr>
          <p:cNvPr id="11" name="TextBox 10"/>
          <p:cNvSpPr txBox="1"/>
          <p:nvPr/>
        </p:nvSpPr>
        <p:spPr>
          <a:xfrm>
            <a:off x="804672" y="3337560"/>
            <a:ext cx="3035808" cy="777240"/>
          </a:xfrm>
          <a:prstGeom prst="rect">
            <a:avLst/>
          </a:prstGeom>
          <a:noFill/>
        </p:spPr>
        <p:txBody>
          <a:bodyPr wrap="square" lIns="0" rIns="0" tIns="0" bIns="0">
            <a:spAutoFit/>
          </a:bodyPr>
          <a:lstStyle/>
          <a:p>
            <a:pPr>
              <a:spcAft>
                <a:spcPts val="700"/>
              </a:spcAft>
              <a:defRPr sz="1800" b="1">
                <a:solidFill>
                  <a:srgbClr val="162B43"/>
                </a:solidFill>
                <a:latin typeface="DejaVu Sans"/>
              </a:defRPr>
            </a:pPr>
            <a:r>
              <a:t>Documents people depend on</a:t>
            </a:r>
          </a:p>
        </p:txBody>
      </p:sp>
      <p:sp>
        <p:nvSpPr>
          <p:cNvPr id="12" name="TextBox 11"/>
          <p:cNvSpPr txBox="1"/>
          <p:nvPr/>
        </p:nvSpPr>
        <p:spPr>
          <a:xfrm>
            <a:off x="804672" y="4224528"/>
            <a:ext cx="3035808" cy="868680"/>
          </a:xfrm>
          <a:prstGeom prst="rect">
            <a:avLst/>
          </a:prstGeom>
          <a:noFill/>
        </p:spPr>
        <p:txBody>
          <a:bodyPr wrap="square" lIns="0" rIns="0" tIns="0" bIns="0">
            <a:spAutoFit/>
          </a:bodyPr>
          <a:lstStyle/>
          <a:p>
            <a:pPr>
              <a:spcAft>
                <a:spcPts val="700"/>
              </a:spcAft>
              <a:defRPr sz="1400" b="0">
                <a:solidFill>
                  <a:srgbClr val="25364A"/>
                </a:solidFill>
                <a:latin typeface="DejaVu Sans"/>
              </a:defRPr>
            </a:pPr>
            <a:r>
              <a:t>Docitalis describes legal translations for Italian citizenship, with document preparation, review and certification.</a:t>
            </a:r>
          </a:p>
        </p:txBody>
      </p:sp>
      <p:sp>
        <p:nvSpPr>
          <p:cNvPr id="13" name="Rounded Rectangle 12"/>
          <p:cNvSpPr/>
          <p:nvPr/>
        </p:nvSpPr>
        <p:spPr>
          <a:xfrm>
            <a:off x="4343400" y="2697480"/>
            <a:ext cx="3493008" cy="256032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53712" y="2916936"/>
            <a:ext cx="3063240" cy="274320"/>
          </a:xfrm>
          <a:prstGeom prst="rect">
            <a:avLst/>
          </a:prstGeom>
          <a:noFill/>
        </p:spPr>
        <p:txBody>
          <a:bodyPr wrap="square" lIns="0" rIns="0" tIns="0" bIns="0">
            <a:spAutoFit/>
          </a:bodyPr>
          <a:lstStyle/>
          <a:p>
            <a:pPr>
              <a:spcAft>
                <a:spcPts val="700"/>
              </a:spcAft>
              <a:defRPr sz="1000" b="1">
                <a:solidFill>
                  <a:srgbClr val="147D78"/>
                </a:solidFill>
                <a:latin typeface="DejaVu Sans"/>
              </a:defRPr>
            </a:pPr>
            <a:r>
              <a:t>ROLE CONTEXT</a:t>
            </a:r>
          </a:p>
        </p:txBody>
      </p:sp>
      <p:sp>
        <p:nvSpPr>
          <p:cNvPr id="15" name="TextBox 14"/>
          <p:cNvSpPr txBox="1"/>
          <p:nvPr/>
        </p:nvSpPr>
        <p:spPr>
          <a:xfrm>
            <a:off x="4553712" y="3337560"/>
            <a:ext cx="3035808" cy="777240"/>
          </a:xfrm>
          <a:prstGeom prst="rect">
            <a:avLst/>
          </a:prstGeom>
          <a:noFill/>
        </p:spPr>
        <p:txBody>
          <a:bodyPr wrap="square" lIns="0" rIns="0" tIns="0" bIns="0">
            <a:spAutoFit/>
          </a:bodyPr>
          <a:lstStyle/>
          <a:p>
            <a:pPr>
              <a:spcAft>
                <a:spcPts val="700"/>
              </a:spcAft>
              <a:defRPr sz="1800" b="1">
                <a:solidFill>
                  <a:srgbClr val="162B43"/>
                </a:solidFill>
                <a:latin typeface="DejaVu Sans"/>
              </a:defRPr>
            </a:pPr>
            <a:r>
              <a:t>Lawyer-approved knowledge</a:t>
            </a:r>
          </a:p>
        </p:txBody>
      </p:sp>
      <p:sp>
        <p:nvSpPr>
          <p:cNvPr id="16" name="TextBox 15"/>
          <p:cNvSpPr txBox="1"/>
          <p:nvPr/>
        </p:nvSpPr>
        <p:spPr>
          <a:xfrm>
            <a:off x="4553712" y="4224528"/>
            <a:ext cx="3035808" cy="868680"/>
          </a:xfrm>
          <a:prstGeom prst="rect">
            <a:avLst/>
          </a:prstGeom>
          <a:noFill/>
        </p:spPr>
        <p:txBody>
          <a:bodyPr wrap="square" lIns="0" rIns="0" tIns="0" bIns="0">
            <a:spAutoFit/>
          </a:bodyPr>
          <a:lstStyle/>
          <a:p>
            <a:pPr>
              <a:spcAft>
                <a:spcPts val="700"/>
              </a:spcAft>
              <a:defRPr sz="1400" b="0">
                <a:solidFill>
                  <a:srgbClr val="25364A"/>
                </a:solidFill>
                <a:latin typeface="DejaVu Sans"/>
              </a:defRPr>
            </a:pPr>
            <a:r>
              <a:t>The brief places discovery with legal teams at Aprigliano: extract facts, arguments, conditions and exceptions.</a:t>
            </a:r>
          </a:p>
        </p:txBody>
      </p:sp>
      <p:sp>
        <p:nvSpPr>
          <p:cNvPr id="17" name="Rounded Rectangle 16"/>
          <p:cNvSpPr/>
          <p:nvPr/>
        </p:nvSpPr>
        <p:spPr>
          <a:xfrm>
            <a:off x="8092440" y="2697480"/>
            <a:ext cx="3493008" cy="256032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302752" y="2916936"/>
            <a:ext cx="3063240" cy="274320"/>
          </a:xfrm>
          <a:prstGeom prst="rect">
            <a:avLst/>
          </a:prstGeom>
          <a:noFill/>
        </p:spPr>
        <p:txBody>
          <a:bodyPr wrap="square" lIns="0" rIns="0" tIns="0" bIns="0">
            <a:spAutoFit/>
          </a:bodyPr>
          <a:lstStyle/>
          <a:p>
            <a:pPr>
              <a:spcAft>
                <a:spcPts val="700"/>
              </a:spcAft>
              <a:defRPr sz="1000" b="1">
                <a:solidFill>
                  <a:srgbClr val="147D78"/>
                </a:solidFill>
                <a:latin typeface="DejaVu Sans"/>
              </a:defRPr>
            </a:pPr>
            <a:r>
              <a:t>ENGINEERING NEED</a:t>
            </a:r>
          </a:p>
        </p:txBody>
      </p:sp>
      <p:sp>
        <p:nvSpPr>
          <p:cNvPr id="19" name="TextBox 18"/>
          <p:cNvSpPr txBox="1"/>
          <p:nvPr/>
        </p:nvSpPr>
        <p:spPr>
          <a:xfrm>
            <a:off x="8302752" y="3337560"/>
            <a:ext cx="3035808" cy="777240"/>
          </a:xfrm>
          <a:prstGeom prst="rect">
            <a:avLst/>
          </a:prstGeom>
          <a:noFill/>
        </p:spPr>
        <p:txBody>
          <a:bodyPr wrap="square" lIns="0" rIns="0" tIns="0" bIns="0">
            <a:spAutoFit/>
          </a:bodyPr>
          <a:lstStyle/>
          <a:p>
            <a:pPr>
              <a:spcAft>
                <a:spcPts val="700"/>
              </a:spcAft>
              <a:defRPr sz="1800" b="1">
                <a:solidFill>
                  <a:srgbClr val="162B43"/>
                </a:solidFill>
                <a:latin typeface="DejaVu Sans"/>
              </a:defRPr>
            </a:pPr>
            <a:r>
              <a:t>Explicit rules, clear decisions</a:t>
            </a:r>
          </a:p>
        </p:txBody>
      </p:sp>
      <p:sp>
        <p:nvSpPr>
          <p:cNvPr id="20" name="TextBox 19"/>
          <p:cNvSpPr txBox="1"/>
          <p:nvPr/>
        </p:nvSpPr>
        <p:spPr>
          <a:xfrm>
            <a:off x="8302752" y="4224528"/>
            <a:ext cx="3035808" cy="868680"/>
          </a:xfrm>
          <a:prstGeom prst="rect">
            <a:avLst/>
          </a:prstGeom>
          <a:noFill/>
        </p:spPr>
        <p:txBody>
          <a:bodyPr wrap="square" lIns="0" rIns="0" tIns="0" bIns="0">
            <a:spAutoFit/>
          </a:bodyPr>
          <a:lstStyle/>
          <a:p>
            <a:pPr>
              <a:spcAft>
                <a:spcPts val="700"/>
              </a:spcAft>
              <a:defRPr sz="1400" b="0">
                <a:solidFill>
                  <a:srgbClr val="25364A"/>
                </a:solidFill>
                <a:latin typeface="DejaVu Sans"/>
              </a:defRPr>
            </a:pPr>
            <a:r>
              <a:t>Turn approved reasoning into explicit rules, versioned modules and reviewable software changes.</a:t>
            </a:r>
          </a:p>
        </p:txBody>
      </p:sp>
      <p:sp>
        <p:nvSpPr>
          <p:cNvPr id="21" name="Rectangle 20"/>
          <p:cNvSpPr/>
          <p:nvPr/>
        </p:nvSpPr>
        <p:spPr>
          <a:xfrm>
            <a:off x="594360" y="5577840"/>
            <a:ext cx="11000232" cy="484632"/>
          </a:xfrm>
          <a:prstGeom prst="rect">
            <a:avLst/>
          </a:prstGeom>
          <a:solidFill>
            <a:srgbClr val="162B4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22960" y="5696712"/>
            <a:ext cx="10607040" cy="256032"/>
          </a:xfrm>
          <a:prstGeom prst="rect">
            <a:avLst/>
          </a:prstGeom>
          <a:noFill/>
        </p:spPr>
        <p:txBody>
          <a:bodyPr wrap="square" lIns="0" rIns="0" tIns="0" bIns="0">
            <a:spAutoFit/>
          </a:bodyPr>
          <a:lstStyle/>
          <a:p>
            <a:pPr>
              <a:spcAft>
                <a:spcPts val="700"/>
              </a:spcAft>
              <a:defRPr sz="1400" b="1">
                <a:solidFill>
                  <a:srgbClr val="FFFFFF"/>
                </a:solidFill>
                <a:latin typeface="DejaVu Sans"/>
              </a:defRPr>
            </a:pPr>
            <a:r>
              <a:t>My focus: make expert decisions explicit, preserve their sources, and test every change.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ARCHITECTURE · PROPOSED BOUNDARY</a:t>
            </a:r>
          </a:p>
        </p:txBody>
      </p:sp>
      <p:sp>
        <p:nvSpPr>
          <p:cNvPr id="4" name="TextBox 3"/>
          <p:cNvSpPr txBox="1"/>
          <p:nvPr/>
        </p:nvSpPr>
        <p:spPr>
          <a:xfrm>
            <a:off x="594360" y="832104"/>
            <a:ext cx="10972800" cy="914400"/>
          </a:xfrm>
          <a:prstGeom prst="rect">
            <a:avLst/>
          </a:prstGeom>
          <a:noFill/>
        </p:spPr>
        <p:txBody>
          <a:bodyPr wrap="square" lIns="0" rIns="0" tIns="0" bIns="0">
            <a:spAutoFit/>
          </a:bodyPr>
          <a:lstStyle/>
          <a:p>
            <a:pPr>
              <a:spcAft>
                <a:spcPts val="700"/>
              </a:spcAft>
              <a:defRPr sz="3000" b="1">
                <a:solidFill>
                  <a:srgbClr val="162B43"/>
                </a:solidFill>
                <a:latin typeface="DejaVu Sans"/>
              </a:defRPr>
            </a:pPr>
            <a:r>
              <a:t>Rules assemble. Retrieval supports review.</a:t>
            </a:r>
          </a:p>
        </p:txBody>
      </p:sp>
      <p:sp>
        <p:nvSpPr>
          <p:cNvPr id="5" name="TextBox 4"/>
          <p:cNvSpPr txBox="1"/>
          <p:nvPr/>
        </p:nvSpPr>
        <p:spPr>
          <a:xfrm>
            <a:off x="594360" y="1792224"/>
            <a:ext cx="10972800" cy="585216"/>
          </a:xfrm>
          <a:prstGeom prst="rect">
            <a:avLst/>
          </a:prstGeom>
          <a:noFill/>
        </p:spPr>
        <p:txBody>
          <a:bodyPr wrap="square" lIns="0" rIns="0" tIns="0" bIns="0">
            <a:spAutoFit/>
          </a:bodyPr>
          <a:lstStyle/>
          <a:p>
            <a:pPr>
              <a:spcAft>
                <a:spcPts val="700"/>
              </a:spcAft>
              <a:defRPr sz="1600" b="0">
                <a:solidFill>
                  <a:srgbClr val="607185"/>
                </a:solidFill>
                <a:latin typeface="DejaVu Sans"/>
              </a:defRPr>
            </a:pPr>
            <a:r>
              <a:t>Legal strategy remains explicit and lawyer-approved; a language model does not select the argument.</a:t>
            </a:r>
          </a:p>
        </p:txBody>
      </p:sp>
      <p:sp>
        <p:nvSpPr>
          <p:cNvPr id="6" name="Rectangle 5"/>
          <p:cNvSpPr/>
          <p:nvPr/>
        </p:nvSpPr>
        <p:spPr>
          <a:xfrm>
            <a:off x="594360" y="6409944"/>
            <a:ext cx="11000232" cy="10972"/>
          </a:xfrm>
          <a:prstGeom prst="rect">
            <a:avLst/>
          </a:prstGeom>
          <a:solidFill>
            <a:srgbClr val="DEE6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28816"/>
            <a:ext cx="9784080" cy="182880"/>
          </a:xfrm>
          <a:prstGeom prst="rect">
            <a:avLst/>
          </a:prstGeom>
          <a:noFill/>
        </p:spPr>
        <p:txBody>
          <a:bodyPr wrap="square" lIns="0" rIns="0" tIns="0" bIns="0">
            <a:spAutoFit/>
          </a:bodyPr>
          <a:lstStyle/>
          <a:p>
            <a:pPr>
              <a:spcAft>
                <a:spcPts val="700"/>
              </a:spcAft>
              <a:defRPr sz="850" b="0">
                <a:solidFill>
                  <a:srgbClr val="607185"/>
                </a:solidFill>
                <a:latin typeface="DejaVu Sans"/>
              </a:defRPr>
            </a:pPr>
            <a:r>
              <a:t>Source: supplied role description. Diagram is a proposed conceptual architecture.</a:t>
            </a:r>
          </a:p>
        </p:txBody>
      </p:sp>
      <p:sp>
        <p:nvSpPr>
          <p:cNvPr id="8" name="TextBox 7"/>
          <p:cNvSpPr txBox="1"/>
          <p:nvPr/>
        </p:nvSpPr>
        <p:spPr>
          <a:xfrm>
            <a:off x="10835640" y="6492240"/>
            <a:ext cx="777240" cy="228600"/>
          </a:xfrm>
          <a:prstGeom prst="rect">
            <a:avLst/>
          </a:prstGeom>
          <a:noFill/>
        </p:spPr>
        <p:txBody>
          <a:bodyPr wrap="square" lIns="0" rIns="0" tIns="0" bIns="0">
            <a:spAutoFit/>
          </a:bodyPr>
          <a:lstStyle/>
          <a:p>
            <a:pPr>
              <a:spcAft>
                <a:spcPts val="700"/>
              </a:spcAft>
              <a:defRPr sz="1000" b="0">
                <a:solidFill>
                  <a:srgbClr val="607185"/>
                </a:solidFill>
                <a:latin typeface="DejaVu Sans"/>
              </a:defRPr>
            </a:pPr>
            <a:r>
              <a:t>02 / 05</a:t>
            </a:r>
          </a:p>
        </p:txBody>
      </p:sp>
      <p:sp>
        <p:nvSpPr>
          <p:cNvPr id="9" name="Rounded Rectangle 8"/>
          <p:cNvSpPr/>
          <p:nvPr/>
        </p:nvSpPr>
        <p:spPr>
          <a:xfrm>
            <a:off x="594360" y="2670048"/>
            <a:ext cx="3383280" cy="141732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77240" y="2871216"/>
            <a:ext cx="3017520" cy="237744"/>
          </a:xfrm>
          <a:prstGeom prst="rect">
            <a:avLst/>
          </a:prstGeom>
          <a:noFill/>
        </p:spPr>
        <p:txBody>
          <a:bodyPr wrap="square" lIns="0" rIns="0" tIns="0" bIns="0">
            <a:spAutoFit/>
          </a:bodyPr>
          <a:lstStyle/>
          <a:p>
            <a:pPr>
              <a:spcAft>
                <a:spcPts val="700"/>
              </a:spcAft>
              <a:defRPr sz="1000" b="1">
                <a:solidFill>
                  <a:srgbClr val="147D78"/>
                </a:solidFill>
                <a:latin typeface="DejaVu Sans"/>
              </a:defRPr>
            </a:pPr>
            <a:r>
              <a:t>APPROVED INPUTS</a:t>
            </a:r>
          </a:p>
        </p:txBody>
      </p:sp>
      <p:sp>
        <p:nvSpPr>
          <p:cNvPr id="11" name="TextBox 10"/>
          <p:cNvSpPr txBox="1"/>
          <p:nvPr/>
        </p:nvSpPr>
        <p:spPr>
          <a:xfrm>
            <a:off x="777240" y="3291840"/>
            <a:ext cx="3017520" cy="658368"/>
          </a:xfrm>
          <a:prstGeom prst="rect">
            <a:avLst/>
          </a:prstGeom>
          <a:noFill/>
        </p:spPr>
        <p:txBody>
          <a:bodyPr wrap="square" lIns="0" rIns="0" tIns="0" bIns="0">
            <a:spAutoFit/>
          </a:bodyPr>
          <a:lstStyle/>
          <a:p>
            <a:pPr>
              <a:spcAft>
                <a:spcPts val="700"/>
              </a:spcAft>
              <a:defRPr sz="1500" b="1">
                <a:solidFill>
                  <a:srgbClr val="162B43"/>
                </a:solidFill>
                <a:latin typeface="DejaVu Sans"/>
              </a:defRPr>
            </a:pPr>
            <a:r>
              <a:t>Case facts + strategy</a:t>
            </a:r>
          </a:p>
          <a:p>
            <a:pPr>
              <a:spcAft>
                <a:spcPts val="700"/>
              </a:spcAft>
              <a:defRPr sz="1500" b="1">
                <a:solidFill>
                  <a:srgbClr val="162B43"/>
                </a:solidFill>
                <a:latin typeface="DejaVu Sans"/>
              </a:defRPr>
            </a:pPr>
            <a:r>
              <a:t>Knowledge version</a:t>
            </a:r>
          </a:p>
        </p:txBody>
      </p:sp>
      <p:sp>
        <p:nvSpPr>
          <p:cNvPr id="12" name="TextBox 11"/>
          <p:cNvSpPr txBox="1"/>
          <p:nvPr/>
        </p:nvSpPr>
        <p:spPr>
          <a:xfrm>
            <a:off x="4069080" y="3227832"/>
            <a:ext cx="274320" cy="457200"/>
          </a:xfrm>
          <a:prstGeom prst="rect">
            <a:avLst/>
          </a:prstGeom>
          <a:noFill/>
        </p:spPr>
        <p:txBody>
          <a:bodyPr wrap="square" lIns="0" rIns="0" tIns="0" bIns="0">
            <a:spAutoFit/>
          </a:bodyPr>
          <a:lstStyle/>
          <a:p>
            <a:pPr>
              <a:spcAft>
                <a:spcPts val="700"/>
              </a:spcAft>
              <a:defRPr sz="2300" b="1">
                <a:solidFill>
                  <a:srgbClr val="147D78"/>
                </a:solidFill>
                <a:latin typeface="DejaVu Sans"/>
              </a:defRPr>
            </a:pPr>
            <a:r>
              <a:t>→</a:t>
            </a:r>
          </a:p>
        </p:txBody>
      </p:sp>
      <p:sp>
        <p:nvSpPr>
          <p:cNvPr id="13" name="Rounded Rectangle 12"/>
          <p:cNvSpPr/>
          <p:nvPr/>
        </p:nvSpPr>
        <p:spPr>
          <a:xfrm>
            <a:off x="4398264" y="2670048"/>
            <a:ext cx="3383280" cy="141732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81144" y="2871216"/>
            <a:ext cx="3017520" cy="237744"/>
          </a:xfrm>
          <a:prstGeom prst="rect">
            <a:avLst/>
          </a:prstGeom>
          <a:noFill/>
        </p:spPr>
        <p:txBody>
          <a:bodyPr wrap="square" lIns="0" rIns="0" tIns="0" bIns="0">
            <a:spAutoFit/>
          </a:bodyPr>
          <a:lstStyle/>
          <a:p>
            <a:pPr>
              <a:spcAft>
                <a:spcPts val="700"/>
              </a:spcAft>
              <a:defRPr sz="1000" b="1">
                <a:solidFill>
                  <a:srgbClr val="147D78"/>
                </a:solidFill>
                <a:latin typeface="DejaVu Sans"/>
              </a:defRPr>
            </a:pPr>
            <a:r>
              <a:t>DETERMINISTIC ENGINE</a:t>
            </a:r>
          </a:p>
        </p:txBody>
      </p:sp>
      <p:sp>
        <p:nvSpPr>
          <p:cNvPr id="15" name="TextBox 14"/>
          <p:cNvSpPr txBox="1"/>
          <p:nvPr/>
        </p:nvSpPr>
        <p:spPr>
          <a:xfrm>
            <a:off x="4581144" y="3291840"/>
            <a:ext cx="3017520" cy="658368"/>
          </a:xfrm>
          <a:prstGeom prst="rect">
            <a:avLst/>
          </a:prstGeom>
          <a:noFill/>
        </p:spPr>
        <p:txBody>
          <a:bodyPr wrap="square" lIns="0" rIns="0" tIns="0" bIns="0">
            <a:spAutoFit/>
          </a:bodyPr>
          <a:lstStyle/>
          <a:p>
            <a:pPr>
              <a:spcAft>
                <a:spcPts val="700"/>
              </a:spcAft>
              <a:defRPr sz="1500" b="1">
                <a:solidFill>
                  <a:srgbClr val="162B43"/>
                </a:solidFill>
                <a:latin typeface="DejaVu Sans"/>
              </a:defRPr>
            </a:pPr>
            <a:r>
              <a:t>Rules + dependencies</a:t>
            </a:r>
          </a:p>
          <a:p>
            <a:pPr>
              <a:spcAft>
                <a:spcPts val="700"/>
              </a:spcAft>
              <a:defRPr sz="1500" b="1">
                <a:solidFill>
                  <a:srgbClr val="162B43"/>
                </a:solidFill>
                <a:latin typeface="DejaVu Sans"/>
              </a:defRPr>
            </a:pPr>
            <a:r>
              <a:t>Ordered modules</a:t>
            </a:r>
          </a:p>
        </p:txBody>
      </p:sp>
      <p:sp>
        <p:nvSpPr>
          <p:cNvPr id="16" name="TextBox 15"/>
          <p:cNvSpPr txBox="1"/>
          <p:nvPr/>
        </p:nvSpPr>
        <p:spPr>
          <a:xfrm>
            <a:off x="7872983" y="3227832"/>
            <a:ext cx="274320" cy="457200"/>
          </a:xfrm>
          <a:prstGeom prst="rect">
            <a:avLst/>
          </a:prstGeom>
          <a:noFill/>
        </p:spPr>
        <p:txBody>
          <a:bodyPr wrap="square" lIns="0" rIns="0" tIns="0" bIns="0">
            <a:spAutoFit/>
          </a:bodyPr>
          <a:lstStyle/>
          <a:p>
            <a:pPr>
              <a:spcAft>
                <a:spcPts val="700"/>
              </a:spcAft>
              <a:defRPr sz="2300" b="1">
                <a:solidFill>
                  <a:srgbClr val="147D78"/>
                </a:solidFill>
                <a:latin typeface="DejaVu Sans"/>
              </a:defRPr>
            </a:pPr>
            <a:r>
              <a:t>→</a:t>
            </a:r>
          </a:p>
        </p:txBody>
      </p:sp>
      <p:sp>
        <p:nvSpPr>
          <p:cNvPr id="17" name="Rounded Rectangle 16"/>
          <p:cNvSpPr/>
          <p:nvPr/>
        </p:nvSpPr>
        <p:spPr>
          <a:xfrm>
            <a:off x="8202168" y="2670048"/>
            <a:ext cx="3383280" cy="141732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385048" y="2871216"/>
            <a:ext cx="3017520" cy="237744"/>
          </a:xfrm>
          <a:prstGeom prst="rect">
            <a:avLst/>
          </a:prstGeom>
          <a:noFill/>
        </p:spPr>
        <p:txBody>
          <a:bodyPr wrap="square" lIns="0" rIns="0" tIns="0" bIns="0">
            <a:spAutoFit/>
          </a:bodyPr>
          <a:lstStyle/>
          <a:p>
            <a:pPr>
              <a:spcAft>
                <a:spcPts val="700"/>
              </a:spcAft>
              <a:defRPr sz="1000" b="1">
                <a:solidFill>
                  <a:srgbClr val="147D78"/>
                </a:solidFill>
                <a:latin typeface="DejaVu Sans"/>
              </a:defRPr>
            </a:pPr>
            <a:r>
              <a:t>REVIEWABLE OUTPUT</a:t>
            </a:r>
          </a:p>
        </p:txBody>
      </p:sp>
      <p:sp>
        <p:nvSpPr>
          <p:cNvPr id="19" name="TextBox 18"/>
          <p:cNvSpPr txBox="1"/>
          <p:nvPr/>
        </p:nvSpPr>
        <p:spPr>
          <a:xfrm>
            <a:off x="8385048" y="3291840"/>
            <a:ext cx="3017520" cy="658368"/>
          </a:xfrm>
          <a:prstGeom prst="rect">
            <a:avLst/>
          </a:prstGeom>
          <a:noFill/>
        </p:spPr>
        <p:txBody>
          <a:bodyPr wrap="square" lIns="0" rIns="0" tIns="0" bIns="0">
            <a:spAutoFit/>
          </a:bodyPr>
          <a:lstStyle/>
          <a:p>
            <a:pPr>
              <a:spcAft>
                <a:spcPts val="700"/>
              </a:spcAft>
              <a:defRPr sz="1500" b="1">
                <a:solidFill>
                  <a:srgbClr val="162B43"/>
                </a:solidFill>
                <a:latin typeface="DejaVu Sans"/>
              </a:defRPr>
            </a:pPr>
            <a:r>
              <a:t>Draft + decision trace</a:t>
            </a:r>
          </a:p>
          <a:p>
            <a:pPr>
              <a:spcAft>
                <a:spcPts val="700"/>
              </a:spcAft>
              <a:defRPr sz="1500" b="1">
                <a:solidFill>
                  <a:srgbClr val="162B43"/>
                </a:solidFill>
                <a:latin typeface="DejaVu Sans"/>
              </a:defRPr>
            </a:pPr>
            <a:r>
              <a:t>Version + output hash</a:t>
            </a:r>
          </a:p>
        </p:txBody>
      </p:sp>
      <p:sp>
        <p:nvSpPr>
          <p:cNvPr id="20" name="Rounded Rectangle 19"/>
          <p:cNvSpPr/>
          <p:nvPr/>
        </p:nvSpPr>
        <p:spPr>
          <a:xfrm>
            <a:off x="594360" y="4517136"/>
            <a:ext cx="7086600" cy="1353312"/>
          </a:xfrm>
          <a:prstGeom prst="roundRect">
            <a:avLst>
              <a:gd name="adj" fmla="val 10000"/>
            </a:avLst>
          </a:prstGeom>
          <a:solidFill>
            <a:srgbClr val="162B4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04672" y="4727448"/>
            <a:ext cx="6629400" cy="274320"/>
          </a:xfrm>
          <a:prstGeom prst="rect">
            <a:avLst/>
          </a:prstGeom>
          <a:noFill/>
        </p:spPr>
        <p:txBody>
          <a:bodyPr wrap="square" lIns="0" rIns="0" tIns="0" bIns="0">
            <a:spAutoFit/>
          </a:bodyPr>
          <a:lstStyle/>
          <a:p>
            <a:pPr>
              <a:spcAft>
                <a:spcPts val="700"/>
              </a:spcAft>
              <a:defRPr sz="1100" b="1">
                <a:solidFill>
                  <a:srgbClr val="8DD4CB"/>
                </a:solidFill>
                <a:latin typeface="DejaVu Sans"/>
              </a:defRPr>
            </a:pPr>
            <a:r>
              <a:t>SOURCE MATRIX + ASSISTIVE REVIEW</a:t>
            </a:r>
          </a:p>
        </p:txBody>
      </p:sp>
      <p:sp>
        <p:nvSpPr>
          <p:cNvPr id="22" name="TextBox 21"/>
          <p:cNvSpPr txBox="1"/>
          <p:nvPr/>
        </p:nvSpPr>
        <p:spPr>
          <a:xfrm>
            <a:off x="804672" y="5193792"/>
            <a:ext cx="6629400" cy="548640"/>
          </a:xfrm>
          <a:prstGeom prst="rect">
            <a:avLst/>
          </a:prstGeom>
          <a:noFill/>
        </p:spPr>
        <p:txBody>
          <a:bodyPr wrap="square" lIns="0" rIns="0" tIns="0" bIns="0">
            <a:spAutoFit/>
          </a:bodyPr>
          <a:lstStyle/>
          <a:p>
            <a:pPr>
              <a:spcAft>
                <a:spcPts val="700"/>
              </a:spcAft>
              <a:defRPr sz="1600" b="0">
                <a:solidFill>
                  <a:srgbClr val="FFFFFF"/>
                </a:solidFill>
                <a:latin typeface="DejaVu Sans"/>
              </a:defRPr>
            </a:pPr>
            <a:r>
              <a:t>Retrieve provisions · flag missing citations</a:t>
            </a:r>
          </a:p>
          <a:p>
            <a:pPr>
              <a:spcAft>
                <a:spcPts val="700"/>
              </a:spcAft>
              <a:defRPr sz="1600" b="0">
                <a:solidFill>
                  <a:srgbClr val="FFFFFF"/>
                </a:solidFill>
                <a:latin typeface="DejaVu Sans"/>
              </a:defRPr>
            </a:pPr>
            <a:r>
              <a:t>Identify modules affected by recorded judgments</a:t>
            </a:r>
          </a:p>
        </p:txBody>
      </p:sp>
      <p:sp>
        <p:nvSpPr>
          <p:cNvPr id="23" name="Rounded Rectangle 22"/>
          <p:cNvSpPr/>
          <p:nvPr/>
        </p:nvSpPr>
        <p:spPr>
          <a:xfrm>
            <a:off x="8211312" y="4517136"/>
            <a:ext cx="3383280" cy="1353312"/>
          </a:xfrm>
          <a:prstGeom prst="roundRect">
            <a:avLst>
              <a:gd name="adj" fmla="val 10000"/>
            </a:avLst>
          </a:prstGeom>
          <a:solidFill>
            <a:srgbClr val="E8F2E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412480" y="4727448"/>
            <a:ext cx="2999232"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LAWYER ASSESSMENT</a:t>
            </a:r>
          </a:p>
        </p:txBody>
      </p:sp>
      <p:sp>
        <p:nvSpPr>
          <p:cNvPr id="25" name="TextBox 24"/>
          <p:cNvSpPr txBox="1"/>
          <p:nvPr/>
        </p:nvSpPr>
        <p:spPr>
          <a:xfrm>
            <a:off x="8412480" y="5193792"/>
            <a:ext cx="2999232" cy="548640"/>
          </a:xfrm>
          <a:prstGeom prst="rect">
            <a:avLst/>
          </a:prstGeom>
          <a:noFill/>
        </p:spPr>
        <p:txBody>
          <a:bodyPr wrap="square" lIns="0" rIns="0" tIns="0" bIns="0">
            <a:spAutoFit/>
          </a:bodyPr>
          <a:lstStyle/>
          <a:p>
            <a:pPr>
              <a:spcAft>
                <a:spcPts val="700"/>
              </a:spcAft>
              <a:defRPr sz="1500" b="1">
                <a:solidFill>
                  <a:srgbClr val="162B43"/>
                </a:solidFill>
                <a:latin typeface="DejaVu Sans"/>
              </a:defRPr>
            </a:pPr>
            <a:r>
              <a:t>Review findings</a:t>
            </a:r>
          </a:p>
          <a:p>
            <a:pPr>
              <a:spcAft>
                <a:spcPts val="700"/>
              </a:spcAft>
              <a:defRPr sz="1500" b="1">
                <a:solidFill>
                  <a:srgbClr val="162B43"/>
                </a:solidFill>
                <a:latin typeface="DejaVu Sans"/>
              </a:defRPr>
            </a:pPr>
            <a:r>
              <a:t>Assess applicability</a:t>
            </a:r>
          </a:p>
        </p:txBody>
      </p:sp>
      <p:sp>
        <p:nvSpPr>
          <p:cNvPr id="26" name="TextBox 25"/>
          <p:cNvSpPr txBox="1"/>
          <p:nvPr/>
        </p:nvSpPr>
        <p:spPr>
          <a:xfrm>
            <a:off x="7799831" y="5010912"/>
            <a:ext cx="301752" cy="411480"/>
          </a:xfrm>
          <a:prstGeom prst="rect">
            <a:avLst/>
          </a:prstGeom>
          <a:noFill/>
        </p:spPr>
        <p:txBody>
          <a:bodyPr wrap="square" lIns="0" rIns="0" tIns="0" bIns="0">
            <a:spAutoFit/>
          </a:bodyPr>
          <a:lstStyle/>
          <a:p>
            <a:pPr>
              <a:spcAft>
                <a:spcPts val="700"/>
              </a:spcAft>
              <a:defRPr sz="2300" b="1">
                <a:solidFill>
                  <a:srgbClr val="147D78"/>
                </a:solidFill>
                <a:latin typeface="DejaVu Sans"/>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DAY-TO-DAY CONTRIBUTION</a:t>
            </a:r>
          </a:p>
        </p:txBody>
      </p:sp>
      <p:sp>
        <p:nvSpPr>
          <p:cNvPr id="4" name="TextBox 3"/>
          <p:cNvSpPr txBox="1"/>
          <p:nvPr/>
        </p:nvSpPr>
        <p:spPr>
          <a:xfrm>
            <a:off x="594360" y="832104"/>
            <a:ext cx="10972800" cy="914400"/>
          </a:xfrm>
          <a:prstGeom prst="rect">
            <a:avLst/>
          </a:prstGeom>
          <a:noFill/>
        </p:spPr>
        <p:txBody>
          <a:bodyPr wrap="square" lIns="0" rIns="0" tIns="0" bIns="0">
            <a:spAutoFit/>
          </a:bodyPr>
          <a:lstStyle/>
          <a:p>
            <a:pPr>
              <a:spcAft>
                <a:spcPts val="700"/>
              </a:spcAft>
              <a:defRPr sz="3000" b="1">
                <a:solidFill>
                  <a:srgbClr val="162B43"/>
                </a:solidFill>
                <a:latin typeface="DejaVu Sans"/>
              </a:defRPr>
            </a:pPr>
            <a:r>
              <a:t>From one approved example to one tested change</a:t>
            </a:r>
          </a:p>
        </p:txBody>
      </p:sp>
      <p:sp>
        <p:nvSpPr>
          <p:cNvPr id="5" name="TextBox 4"/>
          <p:cNvSpPr txBox="1"/>
          <p:nvPr/>
        </p:nvSpPr>
        <p:spPr>
          <a:xfrm>
            <a:off x="594360" y="1792224"/>
            <a:ext cx="10972800" cy="585216"/>
          </a:xfrm>
          <a:prstGeom prst="rect">
            <a:avLst/>
          </a:prstGeom>
          <a:noFill/>
        </p:spPr>
        <p:txBody>
          <a:bodyPr wrap="square" lIns="0" rIns="0" tIns="0" bIns="0">
            <a:spAutoFit/>
          </a:bodyPr>
          <a:lstStyle/>
          <a:p>
            <a:pPr>
              <a:spcAft>
                <a:spcPts val="700"/>
              </a:spcAft>
              <a:defRPr sz="1600" b="0">
                <a:solidFill>
                  <a:srgbClr val="607185"/>
                </a:solidFill>
                <a:latin typeface="DejaVu Sans"/>
              </a:defRPr>
            </a:pPr>
            <a:r>
              <a:t>Start with a narrow workflow and resolve ambiguity with the legal team.</a:t>
            </a:r>
          </a:p>
        </p:txBody>
      </p:sp>
      <p:sp>
        <p:nvSpPr>
          <p:cNvPr id="6" name="Rectangle 5"/>
          <p:cNvSpPr/>
          <p:nvPr/>
        </p:nvSpPr>
        <p:spPr>
          <a:xfrm>
            <a:off x="594360" y="6409944"/>
            <a:ext cx="11000232" cy="10972"/>
          </a:xfrm>
          <a:prstGeom prst="rect">
            <a:avLst/>
          </a:prstGeom>
          <a:solidFill>
            <a:srgbClr val="DEE6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28816"/>
            <a:ext cx="9784080" cy="182880"/>
          </a:xfrm>
          <a:prstGeom prst="rect">
            <a:avLst/>
          </a:prstGeom>
          <a:noFill/>
        </p:spPr>
        <p:txBody>
          <a:bodyPr wrap="square" lIns="0" rIns="0" tIns="0" bIns="0">
            <a:spAutoFit/>
          </a:bodyPr>
          <a:lstStyle/>
          <a:p>
            <a:pPr>
              <a:spcAft>
                <a:spcPts val="700"/>
              </a:spcAft>
              <a:defRPr sz="850" b="0">
                <a:solidFill>
                  <a:srgbClr val="607185"/>
                </a:solidFill>
                <a:latin typeface="DejaVu Sans"/>
              </a:defRPr>
            </a:pPr>
            <a:r>
              <a:t>Source: supplied role description. Activities and deliverables below are proposed.</a:t>
            </a:r>
          </a:p>
        </p:txBody>
      </p:sp>
      <p:sp>
        <p:nvSpPr>
          <p:cNvPr id="8" name="TextBox 7"/>
          <p:cNvSpPr txBox="1"/>
          <p:nvPr/>
        </p:nvSpPr>
        <p:spPr>
          <a:xfrm>
            <a:off x="10835640" y="6492240"/>
            <a:ext cx="777240" cy="228600"/>
          </a:xfrm>
          <a:prstGeom prst="rect">
            <a:avLst/>
          </a:prstGeom>
          <a:noFill/>
        </p:spPr>
        <p:txBody>
          <a:bodyPr wrap="square" lIns="0" rIns="0" tIns="0" bIns="0">
            <a:spAutoFit/>
          </a:bodyPr>
          <a:lstStyle/>
          <a:p>
            <a:pPr>
              <a:spcAft>
                <a:spcPts val="700"/>
              </a:spcAft>
              <a:defRPr sz="1000" b="0">
                <a:solidFill>
                  <a:srgbClr val="607185"/>
                </a:solidFill>
                <a:latin typeface="DejaVu Sans"/>
              </a:defRPr>
            </a:pPr>
            <a:r>
              <a:t>03 / 05</a:t>
            </a:r>
          </a:p>
        </p:txBody>
      </p:sp>
      <p:sp>
        <p:nvSpPr>
          <p:cNvPr id="9" name="Rounded Rectangle 8"/>
          <p:cNvSpPr/>
          <p:nvPr/>
        </p:nvSpPr>
        <p:spPr>
          <a:xfrm>
            <a:off x="594360" y="2587752"/>
            <a:ext cx="438912" cy="438912"/>
          </a:xfrm>
          <a:prstGeom prst="roundRect">
            <a:avLst>
              <a:gd name="adj" fmla="val 10000"/>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76656" y="2688336"/>
            <a:ext cx="310896" cy="228600"/>
          </a:xfrm>
          <a:prstGeom prst="rect">
            <a:avLst/>
          </a:prstGeom>
          <a:noFill/>
        </p:spPr>
        <p:txBody>
          <a:bodyPr wrap="square" lIns="0" rIns="0" tIns="0" bIns="0">
            <a:spAutoFit/>
          </a:bodyPr>
          <a:lstStyle/>
          <a:p>
            <a:pPr>
              <a:spcAft>
                <a:spcPts val="700"/>
              </a:spcAft>
              <a:defRPr sz="1100" b="1">
                <a:solidFill>
                  <a:srgbClr val="FFFFFF"/>
                </a:solidFill>
                <a:latin typeface="DejaVu Sans"/>
              </a:defRPr>
            </a:pPr>
            <a:r>
              <a:t>01</a:t>
            </a:r>
          </a:p>
        </p:txBody>
      </p:sp>
      <p:sp>
        <p:nvSpPr>
          <p:cNvPr id="11" name="TextBox 10"/>
          <p:cNvSpPr txBox="1"/>
          <p:nvPr/>
        </p:nvSpPr>
        <p:spPr>
          <a:xfrm>
            <a:off x="1243584" y="2624328"/>
            <a:ext cx="1417320" cy="256032"/>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DISCOVER</a:t>
            </a:r>
          </a:p>
        </p:txBody>
      </p:sp>
      <p:sp>
        <p:nvSpPr>
          <p:cNvPr id="12" name="TextBox 11"/>
          <p:cNvSpPr txBox="1"/>
          <p:nvPr/>
        </p:nvSpPr>
        <p:spPr>
          <a:xfrm>
            <a:off x="2788920" y="2596896"/>
            <a:ext cx="3749039" cy="402336"/>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Walk through an approved pleading</a:t>
            </a:r>
          </a:p>
        </p:txBody>
      </p:sp>
      <p:sp>
        <p:nvSpPr>
          <p:cNvPr id="13" name="TextBox 12"/>
          <p:cNvSpPr txBox="1"/>
          <p:nvPr/>
        </p:nvSpPr>
        <p:spPr>
          <a:xfrm>
            <a:off x="6839712" y="2578608"/>
            <a:ext cx="4617720" cy="594360"/>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Capture facts, choices, exceptions</a:t>
            </a:r>
          </a:p>
          <a:p>
            <a:pPr>
              <a:spcAft>
                <a:spcPts val="700"/>
              </a:spcAft>
              <a:defRPr sz="1300" b="0">
                <a:solidFill>
                  <a:srgbClr val="25364A"/>
                </a:solidFill>
                <a:latin typeface="DejaVu Sans"/>
              </a:defRPr>
            </a:pPr>
            <a:r>
              <a:t>and open questions with a lawyer.</a:t>
            </a:r>
          </a:p>
        </p:txBody>
      </p:sp>
      <p:sp>
        <p:nvSpPr>
          <p:cNvPr id="14" name="Rounded Rectangle 13"/>
          <p:cNvSpPr/>
          <p:nvPr/>
        </p:nvSpPr>
        <p:spPr>
          <a:xfrm>
            <a:off x="594360" y="3392424"/>
            <a:ext cx="438912" cy="438912"/>
          </a:xfrm>
          <a:prstGeom prst="roundRect">
            <a:avLst>
              <a:gd name="adj" fmla="val 10000"/>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76656" y="3493008"/>
            <a:ext cx="310896" cy="228600"/>
          </a:xfrm>
          <a:prstGeom prst="rect">
            <a:avLst/>
          </a:prstGeom>
          <a:noFill/>
        </p:spPr>
        <p:txBody>
          <a:bodyPr wrap="square" lIns="0" rIns="0" tIns="0" bIns="0">
            <a:spAutoFit/>
          </a:bodyPr>
          <a:lstStyle/>
          <a:p>
            <a:pPr>
              <a:spcAft>
                <a:spcPts val="700"/>
              </a:spcAft>
              <a:defRPr sz="1100" b="1">
                <a:solidFill>
                  <a:srgbClr val="FFFFFF"/>
                </a:solidFill>
                <a:latin typeface="DejaVu Sans"/>
              </a:defRPr>
            </a:pPr>
            <a:r>
              <a:t>02</a:t>
            </a:r>
          </a:p>
        </p:txBody>
      </p:sp>
      <p:sp>
        <p:nvSpPr>
          <p:cNvPr id="16" name="TextBox 15"/>
          <p:cNvSpPr txBox="1"/>
          <p:nvPr/>
        </p:nvSpPr>
        <p:spPr>
          <a:xfrm>
            <a:off x="1243584" y="3429000"/>
            <a:ext cx="1417320" cy="256032"/>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FORMALISE</a:t>
            </a:r>
          </a:p>
        </p:txBody>
      </p:sp>
      <p:sp>
        <p:nvSpPr>
          <p:cNvPr id="17" name="TextBox 16"/>
          <p:cNvSpPr txBox="1"/>
          <p:nvPr/>
        </p:nvSpPr>
        <p:spPr>
          <a:xfrm>
            <a:off x="2788920" y="3401568"/>
            <a:ext cx="3749039" cy="402336"/>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Make the rules inspectable</a:t>
            </a:r>
          </a:p>
        </p:txBody>
      </p:sp>
      <p:sp>
        <p:nvSpPr>
          <p:cNvPr id="18" name="TextBox 17"/>
          <p:cNvSpPr txBox="1"/>
          <p:nvPr/>
        </p:nvSpPr>
        <p:spPr>
          <a:xfrm>
            <a:off x="6839712" y="3383280"/>
            <a:ext cx="4617720" cy="594360"/>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Define module conditions and links</a:t>
            </a:r>
          </a:p>
          <a:p>
            <a:pPr>
              <a:spcAft>
                <a:spcPts val="700"/>
              </a:spcAft>
              <a:defRPr sz="1300" b="0">
                <a:solidFill>
                  <a:srgbClr val="25364A"/>
                </a:solidFill>
                <a:latin typeface="DejaVu Sans"/>
              </a:defRPr>
            </a:pPr>
            <a:r>
              <a:t>in a structured schema.</a:t>
            </a:r>
          </a:p>
        </p:txBody>
      </p:sp>
      <p:sp>
        <p:nvSpPr>
          <p:cNvPr id="19" name="Rounded Rectangle 18"/>
          <p:cNvSpPr/>
          <p:nvPr/>
        </p:nvSpPr>
        <p:spPr>
          <a:xfrm>
            <a:off x="594360" y="4197096"/>
            <a:ext cx="438912" cy="438912"/>
          </a:xfrm>
          <a:prstGeom prst="roundRect">
            <a:avLst>
              <a:gd name="adj" fmla="val 10000"/>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76656" y="4297680"/>
            <a:ext cx="310896" cy="228600"/>
          </a:xfrm>
          <a:prstGeom prst="rect">
            <a:avLst/>
          </a:prstGeom>
          <a:noFill/>
        </p:spPr>
        <p:txBody>
          <a:bodyPr wrap="square" lIns="0" rIns="0" tIns="0" bIns="0">
            <a:spAutoFit/>
          </a:bodyPr>
          <a:lstStyle/>
          <a:p>
            <a:pPr>
              <a:spcAft>
                <a:spcPts val="700"/>
              </a:spcAft>
              <a:defRPr sz="1100" b="1">
                <a:solidFill>
                  <a:srgbClr val="FFFFFF"/>
                </a:solidFill>
                <a:latin typeface="DejaVu Sans"/>
              </a:defRPr>
            </a:pPr>
            <a:r>
              <a:t>03</a:t>
            </a:r>
          </a:p>
        </p:txBody>
      </p:sp>
      <p:sp>
        <p:nvSpPr>
          <p:cNvPr id="21" name="TextBox 20"/>
          <p:cNvSpPr txBox="1"/>
          <p:nvPr/>
        </p:nvSpPr>
        <p:spPr>
          <a:xfrm>
            <a:off x="1243584" y="4233672"/>
            <a:ext cx="1417320" cy="256032"/>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IMPLEMENT</a:t>
            </a:r>
          </a:p>
        </p:txBody>
      </p:sp>
      <p:sp>
        <p:nvSpPr>
          <p:cNvPr id="22" name="TextBox 21"/>
          <p:cNvSpPr txBox="1"/>
          <p:nvPr/>
        </p:nvSpPr>
        <p:spPr>
          <a:xfrm>
            <a:off x="2788920" y="4206240"/>
            <a:ext cx="3749039" cy="402336"/>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Change one bounded behavior</a:t>
            </a:r>
          </a:p>
        </p:txBody>
      </p:sp>
      <p:sp>
        <p:nvSpPr>
          <p:cNvPr id="23" name="TextBox 22"/>
          <p:cNvSpPr txBox="1"/>
          <p:nvPr/>
        </p:nvSpPr>
        <p:spPr>
          <a:xfrm>
            <a:off x="6839712" y="4187952"/>
            <a:ext cx="4617720" cy="594360"/>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Update Python logic and preserve</a:t>
            </a:r>
          </a:p>
          <a:p>
            <a:pPr>
              <a:spcAft>
                <a:spcPts val="700"/>
              </a:spcAft>
              <a:defRPr sz="1300" b="0">
                <a:solidFill>
                  <a:srgbClr val="25364A"/>
                </a:solidFill>
                <a:latin typeface="DejaVu Sans"/>
              </a:defRPr>
            </a:pPr>
            <a:r>
              <a:t>versions and decision traces.</a:t>
            </a:r>
          </a:p>
        </p:txBody>
      </p:sp>
      <p:sp>
        <p:nvSpPr>
          <p:cNvPr id="24" name="Rounded Rectangle 23"/>
          <p:cNvSpPr/>
          <p:nvPr/>
        </p:nvSpPr>
        <p:spPr>
          <a:xfrm>
            <a:off x="594360" y="5001768"/>
            <a:ext cx="438912" cy="438912"/>
          </a:xfrm>
          <a:prstGeom prst="roundRect">
            <a:avLst>
              <a:gd name="adj" fmla="val 10000"/>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76656" y="5102352"/>
            <a:ext cx="310896" cy="228600"/>
          </a:xfrm>
          <a:prstGeom prst="rect">
            <a:avLst/>
          </a:prstGeom>
          <a:noFill/>
        </p:spPr>
        <p:txBody>
          <a:bodyPr wrap="square" lIns="0" rIns="0" tIns="0" bIns="0">
            <a:spAutoFit/>
          </a:bodyPr>
          <a:lstStyle/>
          <a:p>
            <a:pPr>
              <a:spcAft>
                <a:spcPts val="700"/>
              </a:spcAft>
              <a:defRPr sz="1100" b="1">
                <a:solidFill>
                  <a:srgbClr val="FFFFFF"/>
                </a:solidFill>
                <a:latin typeface="DejaVu Sans"/>
              </a:defRPr>
            </a:pPr>
            <a:r>
              <a:t>04</a:t>
            </a:r>
          </a:p>
        </p:txBody>
      </p:sp>
      <p:sp>
        <p:nvSpPr>
          <p:cNvPr id="26" name="TextBox 25"/>
          <p:cNvSpPr txBox="1"/>
          <p:nvPr/>
        </p:nvSpPr>
        <p:spPr>
          <a:xfrm>
            <a:off x="1243584" y="5038344"/>
            <a:ext cx="1417320" cy="256032"/>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VALIDATE</a:t>
            </a:r>
          </a:p>
        </p:txBody>
      </p:sp>
      <p:sp>
        <p:nvSpPr>
          <p:cNvPr id="27" name="TextBox 26"/>
          <p:cNvSpPr txBox="1"/>
          <p:nvPr/>
        </p:nvSpPr>
        <p:spPr>
          <a:xfrm>
            <a:off x="2788920" y="5010912"/>
            <a:ext cx="3749039" cy="402336"/>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Review evidence before release</a:t>
            </a:r>
          </a:p>
        </p:txBody>
      </p:sp>
      <p:sp>
        <p:nvSpPr>
          <p:cNvPr id="28" name="TextBox 27"/>
          <p:cNvSpPr txBox="1"/>
          <p:nvPr/>
        </p:nvSpPr>
        <p:spPr>
          <a:xfrm>
            <a:off x="6839712" y="4992624"/>
            <a:ext cx="4617720" cy="594360"/>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Compare expected outputs, explain</a:t>
            </a:r>
          </a:p>
          <a:p>
            <a:pPr>
              <a:spcAft>
                <a:spcPts val="700"/>
              </a:spcAft>
              <a:defRPr sz="1300" b="0">
                <a:solidFill>
                  <a:srgbClr val="25364A"/>
                </a:solidFill>
                <a:latin typeface="DejaVu Sans"/>
              </a:defRPr>
            </a:pPr>
            <a:r>
              <a:t>differences and record approval.</a:t>
            </a:r>
          </a:p>
        </p:txBody>
      </p:sp>
      <p:sp>
        <p:nvSpPr>
          <p:cNvPr id="29" name="Rectangle 28"/>
          <p:cNvSpPr/>
          <p:nvPr/>
        </p:nvSpPr>
        <p:spPr>
          <a:xfrm>
            <a:off x="594360" y="5934456"/>
            <a:ext cx="11000232" cy="274320"/>
          </a:xfrm>
          <a:prstGeom prst="rect">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49808" y="5961888"/>
            <a:ext cx="10698480" cy="201168"/>
          </a:xfrm>
          <a:prstGeom prst="rect">
            <a:avLst/>
          </a:prstGeom>
          <a:noFill/>
        </p:spPr>
        <p:txBody>
          <a:bodyPr wrap="square" lIns="0" rIns="0" tIns="0" bIns="0">
            <a:spAutoFit/>
          </a:bodyPr>
          <a:lstStyle/>
          <a:p>
            <a:pPr>
              <a:spcAft>
                <a:spcPts val="700"/>
              </a:spcAft>
              <a:defRPr sz="1100" b="0">
                <a:solidFill>
                  <a:srgbClr val="607185"/>
                </a:solidFill>
                <a:latin typeface="DejaVu Sans"/>
              </a:defRPr>
            </a:pPr>
            <a:r>
              <a:t>Python + structured data + Git; use formal constraint checks where they add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VALIDATION · IMPACT ANALYSIS</a:t>
            </a:r>
          </a:p>
        </p:txBody>
      </p:sp>
      <p:sp>
        <p:nvSpPr>
          <p:cNvPr id="4" name="TextBox 3"/>
          <p:cNvSpPr txBox="1"/>
          <p:nvPr/>
        </p:nvSpPr>
        <p:spPr>
          <a:xfrm>
            <a:off x="594360" y="832104"/>
            <a:ext cx="10972800" cy="914400"/>
          </a:xfrm>
          <a:prstGeom prst="rect">
            <a:avLst/>
          </a:prstGeom>
          <a:noFill/>
        </p:spPr>
        <p:txBody>
          <a:bodyPr wrap="square" lIns="0" rIns="0" tIns="0" bIns="0">
            <a:spAutoFit/>
          </a:bodyPr>
          <a:lstStyle/>
          <a:p>
            <a:pPr>
              <a:spcAft>
                <a:spcPts val="700"/>
              </a:spcAft>
              <a:defRPr sz="3000" b="1">
                <a:solidFill>
                  <a:srgbClr val="162B43"/>
                </a:solidFill>
                <a:latin typeface="DejaVu Sans"/>
              </a:defRPr>
            </a:pPr>
            <a:r>
              <a:t>A source update should trigger a reviewable change</a:t>
            </a:r>
          </a:p>
        </p:txBody>
      </p:sp>
      <p:sp>
        <p:nvSpPr>
          <p:cNvPr id="5" name="TextBox 4"/>
          <p:cNvSpPr txBox="1"/>
          <p:nvPr/>
        </p:nvSpPr>
        <p:spPr>
          <a:xfrm>
            <a:off x="594360" y="1792224"/>
            <a:ext cx="10972800" cy="585216"/>
          </a:xfrm>
          <a:prstGeom prst="rect">
            <a:avLst/>
          </a:prstGeom>
          <a:noFill/>
        </p:spPr>
        <p:txBody>
          <a:bodyPr wrap="square" lIns="0" rIns="0" tIns="0" bIns="0">
            <a:spAutoFit/>
          </a:bodyPr>
          <a:lstStyle/>
          <a:p>
            <a:pPr>
              <a:spcAft>
                <a:spcPts val="700"/>
              </a:spcAft>
              <a:defRPr sz="1600" b="0">
                <a:solidFill>
                  <a:srgbClr val="607185"/>
                </a:solidFill>
                <a:latin typeface="DejaVu Sans"/>
              </a:defRPr>
            </a:pPr>
            <a:r>
              <a:t>Example: a new judgment is linked to a provision already used by document modules.</a:t>
            </a:r>
          </a:p>
        </p:txBody>
      </p:sp>
      <p:sp>
        <p:nvSpPr>
          <p:cNvPr id="6" name="Rectangle 5"/>
          <p:cNvSpPr/>
          <p:nvPr/>
        </p:nvSpPr>
        <p:spPr>
          <a:xfrm>
            <a:off x="594360" y="6409944"/>
            <a:ext cx="11000232" cy="10972"/>
          </a:xfrm>
          <a:prstGeom prst="rect">
            <a:avLst/>
          </a:prstGeom>
          <a:solidFill>
            <a:srgbClr val="DEE6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28816"/>
            <a:ext cx="9784080" cy="182880"/>
          </a:xfrm>
          <a:prstGeom prst="rect">
            <a:avLst/>
          </a:prstGeom>
          <a:noFill/>
        </p:spPr>
        <p:txBody>
          <a:bodyPr wrap="square" lIns="0" rIns="0" tIns="0" bIns="0">
            <a:spAutoFit/>
          </a:bodyPr>
          <a:lstStyle/>
          <a:p>
            <a:pPr>
              <a:spcAft>
                <a:spcPts val="700"/>
              </a:spcAft>
              <a:defRPr sz="850" b="0">
                <a:solidFill>
                  <a:srgbClr val="607185"/>
                </a:solidFill>
                <a:latin typeface="DejaVu Sans"/>
              </a:defRPr>
            </a:pPr>
            <a:r>
              <a:t>Source: supplied role description; illustrative update, not a real judgment or legal conclusion.</a:t>
            </a:r>
          </a:p>
        </p:txBody>
      </p:sp>
      <p:sp>
        <p:nvSpPr>
          <p:cNvPr id="8" name="TextBox 7"/>
          <p:cNvSpPr txBox="1"/>
          <p:nvPr/>
        </p:nvSpPr>
        <p:spPr>
          <a:xfrm>
            <a:off x="10835640" y="6492240"/>
            <a:ext cx="777240" cy="228600"/>
          </a:xfrm>
          <a:prstGeom prst="rect">
            <a:avLst/>
          </a:prstGeom>
          <a:noFill/>
        </p:spPr>
        <p:txBody>
          <a:bodyPr wrap="square" lIns="0" rIns="0" tIns="0" bIns="0">
            <a:spAutoFit/>
          </a:bodyPr>
          <a:lstStyle/>
          <a:p>
            <a:pPr>
              <a:spcAft>
                <a:spcPts val="700"/>
              </a:spcAft>
              <a:defRPr sz="1000" b="0">
                <a:solidFill>
                  <a:srgbClr val="607185"/>
                </a:solidFill>
                <a:latin typeface="DejaVu Sans"/>
              </a:defRPr>
            </a:pPr>
            <a:r>
              <a:t>04 / 05</a:t>
            </a:r>
          </a:p>
        </p:txBody>
      </p:sp>
      <p:sp>
        <p:nvSpPr>
          <p:cNvPr id="9" name="Rounded Rectangle 8"/>
          <p:cNvSpPr/>
          <p:nvPr/>
        </p:nvSpPr>
        <p:spPr>
          <a:xfrm>
            <a:off x="594360" y="2624328"/>
            <a:ext cx="2560320" cy="146304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58952" y="2834640"/>
            <a:ext cx="2231136" cy="320040"/>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Record source</a:t>
            </a:r>
          </a:p>
        </p:txBody>
      </p:sp>
      <p:sp>
        <p:nvSpPr>
          <p:cNvPr id="11" name="TextBox 10"/>
          <p:cNvSpPr txBox="1"/>
          <p:nvPr/>
        </p:nvSpPr>
        <p:spPr>
          <a:xfrm>
            <a:off x="758952" y="3364992"/>
            <a:ext cx="2231136" cy="566928"/>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Authority, date,</a:t>
            </a:r>
          </a:p>
          <a:p>
            <a:pPr>
              <a:spcAft>
                <a:spcPts val="700"/>
              </a:spcAft>
              <a:defRPr sz="1300" b="0">
                <a:solidFill>
                  <a:srgbClr val="25364A"/>
                </a:solidFill>
                <a:latin typeface="DejaVu Sans"/>
              </a:defRPr>
            </a:pPr>
            <a:r>
              <a:t>jurisdiction, version</a:t>
            </a:r>
          </a:p>
        </p:txBody>
      </p:sp>
      <p:sp>
        <p:nvSpPr>
          <p:cNvPr id="12" name="TextBox 11"/>
          <p:cNvSpPr txBox="1"/>
          <p:nvPr/>
        </p:nvSpPr>
        <p:spPr>
          <a:xfrm>
            <a:off x="3209544" y="3163824"/>
            <a:ext cx="219456" cy="310896"/>
          </a:xfrm>
          <a:prstGeom prst="rect">
            <a:avLst/>
          </a:prstGeom>
          <a:noFill/>
        </p:spPr>
        <p:txBody>
          <a:bodyPr wrap="square" lIns="0" rIns="0" tIns="0" bIns="0">
            <a:spAutoFit/>
          </a:bodyPr>
          <a:lstStyle/>
          <a:p>
            <a:pPr>
              <a:spcAft>
                <a:spcPts val="700"/>
              </a:spcAft>
              <a:defRPr sz="1600" b="1">
                <a:solidFill>
                  <a:srgbClr val="147D78"/>
                </a:solidFill>
                <a:latin typeface="DejaVu Sans"/>
              </a:defRPr>
            </a:pPr>
            <a:r>
              <a:t>→</a:t>
            </a:r>
          </a:p>
        </p:txBody>
      </p:sp>
      <p:sp>
        <p:nvSpPr>
          <p:cNvPr id="13" name="Rounded Rectangle 12"/>
          <p:cNvSpPr/>
          <p:nvPr/>
        </p:nvSpPr>
        <p:spPr>
          <a:xfrm>
            <a:off x="3410712" y="2624328"/>
            <a:ext cx="2560320" cy="146304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575304" y="2834640"/>
            <a:ext cx="2231136" cy="320040"/>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Find dependencies</a:t>
            </a:r>
          </a:p>
        </p:txBody>
      </p:sp>
      <p:sp>
        <p:nvSpPr>
          <p:cNvPr id="15" name="TextBox 14"/>
          <p:cNvSpPr txBox="1"/>
          <p:nvPr/>
        </p:nvSpPr>
        <p:spPr>
          <a:xfrm>
            <a:off x="3575304" y="3364992"/>
            <a:ext cx="2231136" cy="566928"/>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Which modules cite</a:t>
            </a:r>
          </a:p>
          <a:p>
            <a:pPr>
              <a:spcAft>
                <a:spcPts val="700"/>
              </a:spcAft>
              <a:defRPr sz="1300" b="0">
                <a:solidFill>
                  <a:srgbClr val="25364A"/>
                </a:solidFill>
                <a:latin typeface="DejaVu Sans"/>
              </a:defRPr>
            </a:pPr>
            <a:r>
              <a:t>or rely on it?</a:t>
            </a:r>
          </a:p>
        </p:txBody>
      </p:sp>
      <p:sp>
        <p:nvSpPr>
          <p:cNvPr id="16" name="TextBox 15"/>
          <p:cNvSpPr txBox="1"/>
          <p:nvPr/>
        </p:nvSpPr>
        <p:spPr>
          <a:xfrm>
            <a:off x="6025896" y="3163824"/>
            <a:ext cx="219456" cy="310896"/>
          </a:xfrm>
          <a:prstGeom prst="rect">
            <a:avLst/>
          </a:prstGeom>
          <a:noFill/>
        </p:spPr>
        <p:txBody>
          <a:bodyPr wrap="square" lIns="0" rIns="0" tIns="0" bIns="0">
            <a:spAutoFit/>
          </a:bodyPr>
          <a:lstStyle/>
          <a:p>
            <a:pPr>
              <a:spcAft>
                <a:spcPts val="700"/>
              </a:spcAft>
              <a:defRPr sz="1600" b="1">
                <a:solidFill>
                  <a:srgbClr val="147D78"/>
                </a:solidFill>
                <a:latin typeface="DejaVu Sans"/>
              </a:defRPr>
            </a:pPr>
            <a:r>
              <a:t>→</a:t>
            </a:r>
          </a:p>
        </p:txBody>
      </p:sp>
      <p:sp>
        <p:nvSpPr>
          <p:cNvPr id="17" name="Rounded Rectangle 16"/>
          <p:cNvSpPr/>
          <p:nvPr/>
        </p:nvSpPr>
        <p:spPr>
          <a:xfrm>
            <a:off x="6227064" y="2624328"/>
            <a:ext cx="2560320" cy="146304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391656" y="2834640"/>
            <a:ext cx="2231136" cy="320040"/>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Run regression</a:t>
            </a:r>
          </a:p>
        </p:txBody>
      </p:sp>
      <p:sp>
        <p:nvSpPr>
          <p:cNvPr id="19" name="TextBox 18"/>
          <p:cNvSpPr txBox="1"/>
          <p:nvPr/>
        </p:nvSpPr>
        <p:spPr>
          <a:xfrm>
            <a:off x="6391656" y="3364992"/>
            <a:ext cx="2231136" cy="566928"/>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Compare against</a:t>
            </a:r>
          </a:p>
          <a:p>
            <a:pPr>
              <a:spcAft>
                <a:spcPts val="700"/>
              </a:spcAft>
              <a:defRPr sz="1300" b="0">
                <a:solidFill>
                  <a:srgbClr val="25364A"/>
                </a:solidFill>
                <a:latin typeface="DejaVu Sans"/>
              </a:defRPr>
            </a:pPr>
            <a:r>
              <a:t>approved examples</a:t>
            </a:r>
          </a:p>
        </p:txBody>
      </p:sp>
      <p:sp>
        <p:nvSpPr>
          <p:cNvPr id="20" name="TextBox 19"/>
          <p:cNvSpPr txBox="1"/>
          <p:nvPr/>
        </p:nvSpPr>
        <p:spPr>
          <a:xfrm>
            <a:off x="8842248" y="3163824"/>
            <a:ext cx="219456" cy="310896"/>
          </a:xfrm>
          <a:prstGeom prst="rect">
            <a:avLst/>
          </a:prstGeom>
          <a:noFill/>
        </p:spPr>
        <p:txBody>
          <a:bodyPr wrap="square" lIns="0" rIns="0" tIns="0" bIns="0">
            <a:spAutoFit/>
          </a:bodyPr>
          <a:lstStyle/>
          <a:p>
            <a:pPr>
              <a:spcAft>
                <a:spcPts val="700"/>
              </a:spcAft>
              <a:defRPr sz="1600" b="1">
                <a:solidFill>
                  <a:srgbClr val="147D78"/>
                </a:solidFill>
                <a:latin typeface="DejaVu Sans"/>
              </a:defRPr>
            </a:pPr>
            <a:r>
              <a:t>→</a:t>
            </a:r>
          </a:p>
        </p:txBody>
      </p:sp>
      <p:sp>
        <p:nvSpPr>
          <p:cNvPr id="21" name="Rounded Rectangle 20"/>
          <p:cNvSpPr/>
          <p:nvPr/>
        </p:nvSpPr>
        <p:spPr>
          <a:xfrm>
            <a:off x="9043416" y="2624328"/>
            <a:ext cx="2560320" cy="146304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208008" y="2834640"/>
            <a:ext cx="2231136" cy="320040"/>
          </a:xfrm>
          <a:prstGeom prst="rect">
            <a:avLst/>
          </a:prstGeom>
          <a:noFill/>
        </p:spPr>
        <p:txBody>
          <a:bodyPr wrap="square" lIns="0" rIns="0" tIns="0" bIns="0">
            <a:spAutoFit/>
          </a:bodyPr>
          <a:lstStyle/>
          <a:p>
            <a:pPr>
              <a:spcAft>
                <a:spcPts val="700"/>
              </a:spcAft>
              <a:defRPr sz="1700" b="1">
                <a:solidFill>
                  <a:srgbClr val="162B43"/>
                </a:solidFill>
                <a:latin typeface="DejaVu Sans"/>
              </a:defRPr>
            </a:pPr>
            <a:r>
              <a:t>Review differences</a:t>
            </a:r>
          </a:p>
        </p:txBody>
      </p:sp>
      <p:sp>
        <p:nvSpPr>
          <p:cNvPr id="23" name="TextBox 22"/>
          <p:cNvSpPr txBox="1"/>
          <p:nvPr/>
        </p:nvSpPr>
        <p:spPr>
          <a:xfrm>
            <a:off x="9208008" y="3364992"/>
            <a:ext cx="2231136" cy="566928"/>
          </a:xfrm>
          <a:prstGeom prst="rect">
            <a:avLst/>
          </a:prstGeom>
          <a:noFill/>
        </p:spPr>
        <p:txBody>
          <a:bodyPr wrap="square" lIns="0" rIns="0" tIns="0" bIns="0">
            <a:spAutoFit/>
          </a:bodyPr>
          <a:lstStyle/>
          <a:p>
            <a:pPr>
              <a:spcAft>
                <a:spcPts val="700"/>
              </a:spcAft>
              <a:defRPr sz="1300" b="0">
                <a:solidFill>
                  <a:srgbClr val="25364A"/>
                </a:solidFill>
                <a:latin typeface="DejaVu Sans"/>
              </a:defRPr>
            </a:pPr>
            <a:r>
              <a:t>Lawyer confirms</a:t>
            </a:r>
          </a:p>
          <a:p>
            <a:pPr>
              <a:spcAft>
                <a:spcPts val="700"/>
              </a:spcAft>
              <a:defRPr sz="1300" b="0">
                <a:solidFill>
                  <a:srgbClr val="25364A"/>
                </a:solidFill>
                <a:latin typeface="DejaVu Sans"/>
              </a:defRPr>
            </a:pPr>
            <a:r>
              <a:t>what should change</a:t>
            </a:r>
          </a:p>
        </p:txBody>
      </p:sp>
      <p:sp>
        <p:nvSpPr>
          <p:cNvPr id="24" name="TextBox 23"/>
          <p:cNvSpPr txBox="1"/>
          <p:nvPr/>
        </p:nvSpPr>
        <p:spPr>
          <a:xfrm>
            <a:off x="594360" y="4489704"/>
            <a:ext cx="5212080" cy="320040"/>
          </a:xfrm>
          <a:prstGeom prst="rect">
            <a:avLst/>
          </a:prstGeom>
          <a:noFill/>
        </p:spPr>
        <p:txBody>
          <a:bodyPr wrap="square" lIns="0" rIns="0" tIns="0" bIns="0">
            <a:spAutoFit/>
          </a:bodyPr>
          <a:lstStyle/>
          <a:p>
            <a:pPr>
              <a:spcAft>
                <a:spcPts val="700"/>
              </a:spcAft>
              <a:defRPr sz="1900" b="1">
                <a:solidFill>
                  <a:srgbClr val="162B43"/>
                </a:solidFill>
                <a:latin typeface="DejaVu Sans"/>
              </a:defRPr>
            </a:pPr>
            <a:r>
              <a:t>What the checks protect</a:t>
            </a:r>
          </a:p>
        </p:txBody>
      </p:sp>
      <p:sp>
        <p:nvSpPr>
          <p:cNvPr id="25" name="TextBox 24"/>
          <p:cNvSpPr txBox="1"/>
          <p:nvPr/>
        </p:nvSpPr>
        <p:spPr>
          <a:xfrm>
            <a:off x="594360" y="4983480"/>
            <a:ext cx="5303520" cy="950976"/>
          </a:xfrm>
          <a:prstGeom prst="rect">
            <a:avLst/>
          </a:prstGeom>
          <a:noFill/>
        </p:spPr>
        <p:txBody>
          <a:bodyPr wrap="square" lIns="0" rIns="0" tIns="0" bIns="0">
            <a:spAutoFit/>
          </a:bodyPr>
          <a:lstStyle/>
          <a:p>
            <a:pPr>
              <a:spcAft>
                <a:spcPts val="700"/>
              </a:spcAft>
              <a:defRPr sz="1500" b="0">
                <a:solidFill>
                  <a:srgbClr val="25364A"/>
                </a:solidFill>
                <a:latin typeface="DejaVu Sans"/>
              </a:defRPr>
            </a:pPr>
            <a:r>
              <a:t>Reproducibility</a:t>
            </a:r>
          </a:p>
          <a:p>
            <a:pPr>
              <a:spcAft>
                <a:spcPts val="700"/>
              </a:spcAft>
              <a:defRPr sz="1500" b="0">
                <a:solidFill>
                  <a:srgbClr val="25364A"/>
                </a:solidFill>
                <a:latin typeface="DejaVu Sans"/>
              </a:defRPr>
            </a:pPr>
            <a:r>
              <a:t>Expected module order and citations</a:t>
            </a:r>
          </a:p>
          <a:p>
            <a:pPr>
              <a:spcAft>
                <a:spcPts val="700"/>
              </a:spcAft>
              <a:defRPr sz="1500" b="0">
                <a:solidFill>
                  <a:srgbClr val="25364A"/>
                </a:solidFill>
                <a:latin typeface="DejaVu Sans"/>
              </a:defRPr>
            </a:pPr>
            <a:r>
              <a:t>Dependencies, exclusions and update alerts</a:t>
            </a:r>
          </a:p>
        </p:txBody>
      </p:sp>
      <p:sp>
        <p:nvSpPr>
          <p:cNvPr id="26" name="Rounded Rectangle 25"/>
          <p:cNvSpPr/>
          <p:nvPr/>
        </p:nvSpPr>
        <p:spPr>
          <a:xfrm>
            <a:off x="6419088" y="4453128"/>
            <a:ext cx="5175504" cy="1600200"/>
          </a:xfrm>
          <a:prstGeom prst="roundRect">
            <a:avLst>
              <a:gd name="adj" fmla="val 10000"/>
            </a:avLst>
          </a:prstGeom>
          <a:solidFill>
            <a:srgbClr val="E8F2E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629400" y="4645152"/>
            <a:ext cx="4718304"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APPEALS EXTENSION</a:t>
            </a:r>
          </a:p>
        </p:txBody>
      </p:sp>
      <p:sp>
        <p:nvSpPr>
          <p:cNvPr id="28" name="TextBox 27"/>
          <p:cNvSpPr txBox="1"/>
          <p:nvPr/>
        </p:nvSpPr>
        <p:spPr>
          <a:xfrm>
            <a:off x="6629400" y="5093208"/>
            <a:ext cx="4718304" cy="777240"/>
          </a:xfrm>
          <a:prstGeom prst="rect">
            <a:avLst/>
          </a:prstGeom>
          <a:noFill/>
        </p:spPr>
        <p:txBody>
          <a:bodyPr wrap="square" lIns="0" rIns="0" tIns="0" bIns="0">
            <a:spAutoFit/>
          </a:bodyPr>
          <a:lstStyle/>
          <a:p>
            <a:pPr>
              <a:spcAft>
                <a:spcPts val="700"/>
              </a:spcAft>
              <a:defRPr sz="1500" b="0">
                <a:solidFill>
                  <a:srgbClr val="162B43"/>
                </a:solidFill>
                <a:latin typeface="DejaVu Sans"/>
              </a:defRPr>
            </a:pPr>
            <a:r>
              <a:t>Map findings, reasoning and authorities</a:t>
            </a:r>
          </a:p>
          <a:p>
            <a:pPr>
              <a:spcAft>
                <a:spcPts val="700"/>
              </a:spcAft>
              <a:defRPr sz="1500" b="0">
                <a:solidFill>
                  <a:srgbClr val="162B43"/>
                </a:solidFill>
                <a:latin typeface="DejaVu Sans"/>
              </a:defRPr>
            </a:pPr>
            <a:r>
              <a:t>for a lawyer to assess potential appeal grounds.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47D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EVIDENCE · FIRST CONTRIBUTION</a:t>
            </a:r>
          </a:p>
        </p:txBody>
      </p:sp>
      <p:sp>
        <p:nvSpPr>
          <p:cNvPr id="4" name="TextBox 3"/>
          <p:cNvSpPr txBox="1"/>
          <p:nvPr/>
        </p:nvSpPr>
        <p:spPr>
          <a:xfrm>
            <a:off x="594360" y="832104"/>
            <a:ext cx="10972800" cy="914400"/>
          </a:xfrm>
          <a:prstGeom prst="rect">
            <a:avLst/>
          </a:prstGeom>
          <a:noFill/>
        </p:spPr>
        <p:txBody>
          <a:bodyPr wrap="square" lIns="0" rIns="0" tIns="0" bIns="0">
            <a:spAutoFit/>
          </a:bodyPr>
          <a:lstStyle/>
          <a:p>
            <a:pPr>
              <a:spcAft>
                <a:spcPts val="700"/>
              </a:spcAft>
              <a:defRPr sz="3000" b="1">
                <a:solidFill>
                  <a:srgbClr val="162B43"/>
                </a:solidFill>
                <a:latin typeface="DejaVu Sans"/>
              </a:defRPr>
            </a:pPr>
            <a:r>
              <a:t>Small, explainable work before broader automation</a:t>
            </a:r>
          </a:p>
        </p:txBody>
      </p:sp>
      <p:sp>
        <p:nvSpPr>
          <p:cNvPr id="5" name="TextBox 4"/>
          <p:cNvSpPr txBox="1"/>
          <p:nvPr/>
        </p:nvSpPr>
        <p:spPr>
          <a:xfrm>
            <a:off x="594360" y="1792224"/>
            <a:ext cx="10972800" cy="585216"/>
          </a:xfrm>
          <a:prstGeom prst="rect">
            <a:avLst/>
          </a:prstGeom>
          <a:noFill/>
        </p:spPr>
        <p:txBody>
          <a:bodyPr wrap="square" lIns="0" rIns="0" tIns="0" bIns="0">
            <a:spAutoFit/>
          </a:bodyPr>
          <a:lstStyle/>
          <a:p>
            <a:pPr>
              <a:spcAft>
                <a:spcPts val="700"/>
              </a:spcAft>
              <a:defRPr sz="1600" b="0">
                <a:solidFill>
                  <a:srgbClr val="607185"/>
                </a:solidFill>
                <a:latin typeface="DejaVu Sans"/>
              </a:defRPr>
            </a:pPr>
            <a:r>
              <a:t>My earlier research contribution and recent demonstrations are distinct.</a:t>
            </a:r>
          </a:p>
        </p:txBody>
      </p:sp>
      <p:sp>
        <p:nvSpPr>
          <p:cNvPr id="6" name="Rectangle 5"/>
          <p:cNvSpPr/>
          <p:nvPr/>
        </p:nvSpPr>
        <p:spPr>
          <a:xfrm>
            <a:off x="594360" y="6409944"/>
            <a:ext cx="11000232" cy="10972"/>
          </a:xfrm>
          <a:prstGeom prst="rect">
            <a:avLst/>
          </a:prstGeom>
          <a:solidFill>
            <a:srgbClr val="DEE6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94360" y="6528816"/>
            <a:ext cx="9784080" cy="182880"/>
          </a:xfrm>
          <a:prstGeom prst="rect">
            <a:avLst/>
          </a:prstGeom>
          <a:noFill/>
        </p:spPr>
        <p:txBody>
          <a:bodyPr wrap="square" lIns="0" rIns="0" tIns="0" bIns="0">
            <a:spAutoFit/>
          </a:bodyPr>
          <a:lstStyle/>
          <a:p>
            <a:pPr>
              <a:spcAft>
                <a:spcPts val="700"/>
              </a:spcAft>
              <a:defRPr sz="850" b="0">
                <a:solidFill>
                  <a:srgbClr val="607185"/>
                </a:solidFill>
                <a:latin typeface="DejaVu Sans"/>
              </a:defRPr>
            </a:pPr>
            <a:r>
              <a:t>Evidence: github.com/nafismam/UkilRAG and github.com/nafismam/LearnRAG. No production or legal-accuracy claim.</a:t>
            </a:r>
          </a:p>
        </p:txBody>
      </p:sp>
      <p:sp>
        <p:nvSpPr>
          <p:cNvPr id="8" name="TextBox 7"/>
          <p:cNvSpPr txBox="1"/>
          <p:nvPr/>
        </p:nvSpPr>
        <p:spPr>
          <a:xfrm>
            <a:off x="10835640" y="6492240"/>
            <a:ext cx="777240" cy="228600"/>
          </a:xfrm>
          <a:prstGeom prst="rect">
            <a:avLst/>
          </a:prstGeom>
          <a:noFill/>
        </p:spPr>
        <p:txBody>
          <a:bodyPr wrap="square" lIns="0" rIns="0" tIns="0" bIns="0">
            <a:spAutoFit/>
          </a:bodyPr>
          <a:lstStyle/>
          <a:p>
            <a:pPr>
              <a:spcAft>
                <a:spcPts val="700"/>
              </a:spcAft>
              <a:defRPr sz="1000" b="0">
                <a:solidFill>
                  <a:srgbClr val="607185"/>
                </a:solidFill>
                <a:latin typeface="DejaVu Sans"/>
              </a:defRPr>
            </a:pPr>
            <a:r>
              <a:t>05 / 05</a:t>
            </a:r>
          </a:p>
        </p:txBody>
      </p:sp>
      <p:sp>
        <p:nvSpPr>
          <p:cNvPr id="9" name="Rounded Rectangle 8"/>
          <p:cNvSpPr/>
          <p:nvPr/>
        </p:nvSpPr>
        <p:spPr>
          <a:xfrm>
            <a:off x="594360" y="2624328"/>
            <a:ext cx="5486400" cy="3246120"/>
          </a:xfrm>
          <a:prstGeom prst="roundRect">
            <a:avLst>
              <a:gd name="adj" fmla="val 10000"/>
            </a:avLst>
          </a:prstGeom>
          <a:solidFill>
            <a:srgbClr val="F1F5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2" y="2816352"/>
            <a:ext cx="5065776"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WHAT I CAN DISCUSS</a:t>
            </a:r>
          </a:p>
        </p:txBody>
      </p:sp>
      <p:sp>
        <p:nvSpPr>
          <p:cNvPr id="11" name="TextBox 10"/>
          <p:cNvSpPr txBox="1"/>
          <p:nvPr/>
        </p:nvSpPr>
        <p:spPr>
          <a:xfrm>
            <a:off x="804672" y="3264408"/>
            <a:ext cx="5047488" cy="658368"/>
          </a:xfrm>
          <a:prstGeom prst="rect">
            <a:avLst/>
          </a:prstGeom>
          <a:noFill/>
        </p:spPr>
        <p:txBody>
          <a:bodyPr wrap="square" lIns="0" rIns="0" tIns="0" bIns="0">
            <a:spAutoFit/>
          </a:bodyPr>
          <a:lstStyle/>
          <a:p>
            <a:pPr>
              <a:spcAft>
                <a:spcPts val="700"/>
              </a:spcAft>
              <a:defRPr sz="1600" b="1">
                <a:solidFill>
                  <a:srgbClr val="162B43"/>
                </a:solidFill>
                <a:latin typeface="DejaVu Sans"/>
              </a:defRPr>
            </a:pPr>
            <a:r>
              <a:t>Earlier research: literature review, problem</a:t>
            </a:r>
          </a:p>
          <a:p>
            <a:pPr>
              <a:spcAft>
                <a:spcPts val="700"/>
              </a:spcAft>
              <a:defRPr sz="1600" b="1">
                <a:solidFill>
                  <a:srgbClr val="162B43"/>
                </a:solidFill>
                <a:latin typeface="DejaVu Sans"/>
              </a:defRPr>
            </a:pPr>
            <a:r>
              <a:t>identification and initial design.</a:t>
            </a:r>
          </a:p>
        </p:txBody>
      </p:sp>
      <p:sp>
        <p:nvSpPr>
          <p:cNvPr id="12" name="TextBox 11"/>
          <p:cNvSpPr txBox="1"/>
          <p:nvPr/>
        </p:nvSpPr>
        <p:spPr>
          <a:xfrm>
            <a:off x="804672" y="4123944"/>
            <a:ext cx="5029200" cy="676656"/>
          </a:xfrm>
          <a:prstGeom prst="rect">
            <a:avLst/>
          </a:prstGeom>
          <a:noFill/>
        </p:spPr>
        <p:txBody>
          <a:bodyPr wrap="square" lIns="0" rIns="0" tIns="0" bIns="0">
            <a:spAutoFit/>
          </a:bodyPr>
          <a:lstStyle/>
          <a:p>
            <a:pPr>
              <a:spcAft>
                <a:spcPts val="700"/>
              </a:spcAft>
              <a:defRPr sz="1400" b="0">
                <a:solidFill>
                  <a:srgbClr val="25364A"/>
                </a:solidFill>
                <a:latin typeface="DejaVu Sans"/>
              </a:defRPr>
            </a:pPr>
            <a:r>
              <a:t>UkilRAG: rules, traces and synthetic regressions.</a:t>
            </a:r>
          </a:p>
          <a:p>
            <a:pPr>
              <a:spcAft>
                <a:spcPts val="700"/>
              </a:spcAft>
              <a:defRPr sz="1400" b="0">
                <a:solidFill>
                  <a:srgbClr val="25364A"/>
                </a:solidFill>
                <a:latin typeface="DejaVu Sans"/>
              </a:defRPr>
            </a:pPr>
            <a:r>
              <a:t>LearnRAG: real model outputs and limitations.</a:t>
            </a:r>
          </a:p>
        </p:txBody>
      </p:sp>
      <p:sp>
        <p:nvSpPr>
          <p:cNvPr id="13" name="TextBox 12"/>
          <p:cNvSpPr txBox="1"/>
          <p:nvPr/>
        </p:nvSpPr>
        <p:spPr>
          <a:xfrm>
            <a:off x="804672" y="5166360"/>
            <a:ext cx="2468880" cy="274320"/>
          </a:xfrm>
          <a:prstGeom prst="rect">
            <a:avLst/>
          </a:prstGeom>
          <a:noFill/>
        </p:spPr>
        <p:txBody>
          <a:bodyPr wrap="square" lIns="0" rIns="0" tIns="0" bIns="0">
            <a:spAutoFit/>
          </a:bodyPr>
          <a:lstStyle/>
          <a:p>
            <a:pPr>
              <a:spcAft>
                <a:spcPts val="700"/>
              </a:spcAft>
              <a:defRPr sz="1200" b="1">
                <a:solidFill>
                  <a:srgbClr val="147D78"/>
                </a:solidFill>
                <a:latin typeface="DejaVu Sans"/>
              </a:defRPr>
            </a:pPr>
            <a:r>
              <a:rPr>
                <a:hlinkClick r:id="rId2"/>
              </a:rPr>
              <a:t>View UkilRAG ↗</a:t>
            </a:r>
          </a:p>
        </p:txBody>
      </p:sp>
      <p:sp>
        <p:nvSpPr>
          <p:cNvPr id="14" name="TextBox 13"/>
          <p:cNvSpPr txBox="1"/>
          <p:nvPr/>
        </p:nvSpPr>
        <p:spPr>
          <a:xfrm>
            <a:off x="3337560" y="5166360"/>
            <a:ext cx="2468880" cy="274320"/>
          </a:xfrm>
          <a:prstGeom prst="rect">
            <a:avLst/>
          </a:prstGeom>
          <a:noFill/>
        </p:spPr>
        <p:txBody>
          <a:bodyPr wrap="square" lIns="0" rIns="0" tIns="0" bIns="0">
            <a:spAutoFit/>
          </a:bodyPr>
          <a:lstStyle/>
          <a:p>
            <a:pPr>
              <a:spcAft>
                <a:spcPts val="700"/>
              </a:spcAft>
              <a:defRPr sz="1200" b="1">
                <a:solidFill>
                  <a:srgbClr val="147D78"/>
                </a:solidFill>
                <a:latin typeface="DejaVu Sans"/>
              </a:defRPr>
            </a:pPr>
            <a:r>
              <a:rPr>
                <a:hlinkClick r:id="rId3"/>
              </a:rPr>
              <a:t>View LearnRAG ↗</a:t>
            </a:r>
          </a:p>
        </p:txBody>
      </p:sp>
      <p:sp>
        <p:nvSpPr>
          <p:cNvPr id="15" name="TextBox 14"/>
          <p:cNvSpPr txBox="1"/>
          <p:nvPr/>
        </p:nvSpPr>
        <p:spPr>
          <a:xfrm>
            <a:off x="6537960" y="2724912"/>
            <a:ext cx="5029200" cy="274320"/>
          </a:xfrm>
          <a:prstGeom prst="rect">
            <a:avLst/>
          </a:prstGeom>
          <a:noFill/>
        </p:spPr>
        <p:txBody>
          <a:bodyPr wrap="square" lIns="0" rIns="0" tIns="0" bIns="0">
            <a:spAutoFit/>
          </a:bodyPr>
          <a:lstStyle/>
          <a:p>
            <a:pPr>
              <a:spcAft>
                <a:spcPts val="700"/>
              </a:spcAft>
              <a:defRPr sz="1100" b="1">
                <a:solidFill>
                  <a:srgbClr val="147D78"/>
                </a:solidFill>
                <a:latin typeface="DejaVu Sans"/>
              </a:defRPr>
            </a:pPr>
            <a:r>
              <a:t>PROPOSED FIRST MONTH</a:t>
            </a:r>
          </a:p>
        </p:txBody>
      </p:sp>
      <p:sp>
        <p:nvSpPr>
          <p:cNvPr id="16" name="TextBox 15"/>
          <p:cNvSpPr txBox="1"/>
          <p:nvPr/>
        </p:nvSpPr>
        <p:spPr>
          <a:xfrm>
            <a:off x="6537960" y="3227832"/>
            <a:ext cx="4892040" cy="1828800"/>
          </a:xfrm>
          <a:prstGeom prst="rect">
            <a:avLst/>
          </a:prstGeom>
          <a:noFill/>
        </p:spPr>
        <p:txBody>
          <a:bodyPr wrap="square" lIns="0" rIns="0" tIns="0" bIns="0">
            <a:spAutoFit/>
          </a:bodyPr>
          <a:lstStyle/>
          <a:p>
            <a:pPr>
              <a:spcAft>
                <a:spcPts val="700"/>
              </a:spcAft>
              <a:defRPr sz="1600" b="0">
                <a:solidFill>
                  <a:srgbClr val="162B43"/>
                </a:solidFill>
                <a:latin typeface="DejaVu Sans"/>
              </a:defRPr>
            </a:pPr>
            <a:r>
              <a:t>Understand one workflow with the team.</a:t>
            </a:r>
          </a:p>
          <a:p>
            <a:pPr>
              <a:spcAft>
                <a:spcPts val="700"/>
              </a:spcAft>
              <a:defRPr sz="1600" b="0">
                <a:solidFill>
                  <a:srgbClr val="162B43"/>
                </a:solidFill>
                <a:latin typeface="DejaVu Sans"/>
              </a:defRPr>
            </a:pPr>
            <a:r>
              <a:t>Agree on examples and expected behavior.</a:t>
            </a:r>
          </a:p>
          <a:p>
            <a:pPr>
              <a:spcAft>
                <a:spcPts val="700"/>
              </a:spcAft>
              <a:defRPr sz="1600" b="0">
                <a:solidFill>
                  <a:srgbClr val="162B43"/>
                </a:solidFill>
                <a:latin typeface="DejaVu Sans"/>
              </a:defRPr>
            </a:pPr>
            <a:r>
              <a:t>Model and implement one bounded rule set.</a:t>
            </a:r>
          </a:p>
          <a:p>
            <a:pPr>
              <a:spcAft>
                <a:spcPts val="700"/>
              </a:spcAft>
              <a:defRPr sz="1600" b="0">
                <a:solidFill>
                  <a:srgbClr val="162B43"/>
                </a:solidFill>
                <a:latin typeface="DejaVu Sans"/>
              </a:defRPr>
            </a:pPr>
            <a:r>
              <a:t>Review test results and a baseline measure.</a:t>
            </a:r>
          </a:p>
        </p:txBody>
      </p:sp>
      <p:sp>
        <p:nvSpPr>
          <p:cNvPr id="17" name="TextBox 16"/>
          <p:cNvSpPr txBox="1"/>
          <p:nvPr/>
        </p:nvSpPr>
        <p:spPr>
          <a:xfrm>
            <a:off x="6537960" y="5285232"/>
            <a:ext cx="4892040" cy="594360"/>
          </a:xfrm>
          <a:prstGeom prst="rect">
            <a:avLst/>
          </a:prstGeom>
          <a:noFill/>
        </p:spPr>
        <p:txBody>
          <a:bodyPr wrap="square" lIns="0" rIns="0" tIns="0" bIns="0">
            <a:spAutoFit/>
          </a:bodyPr>
          <a:lstStyle/>
          <a:p>
            <a:pPr>
              <a:spcAft>
                <a:spcPts val="700"/>
              </a:spcAft>
              <a:defRPr sz="1200" b="0">
                <a:solidFill>
                  <a:srgbClr val="607185"/>
                </a:solidFill>
                <a:latin typeface="DejaVu Sans"/>
              </a:defRPr>
            </a:pPr>
            <a:r>
              <a:t>Measure review time, rework and unexpected</a:t>
            </a:r>
          </a:p>
          <a:p>
            <a:pPr>
              <a:spcAft>
                <a:spcPts val="700"/>
              </a:spcAft>
              <a:defRPr sz="1200" b="0">
                <a:solidFill>
                  <a:srgbClr val="607185"/>
                </a:solidFill>
                <a:latin typeface="DejaVu Sans"/>
              </a:defRPr>
            </a:pPr>
            <a:r>
              <a:t>output changes before setting improvement targets.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Legal Expertise to Traceable Software</dc:title>
  <dc:subject>Docitalis interview discussion — Knowledge Systems &amp; AI Automation</dc:subject>
  <dc:creator>Nafis Ismam</dc:creator>
  <cp:keywords>Knowledge engineering, deterministic assembly, regression testing, legal retrieval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