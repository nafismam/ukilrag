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35–45 seconds: “I understand this role as helping turn lawyer-approved expertise into repeatable software. I would first learn how your team works, rather than assume your process needs replacing.” Docitalis publicly describes document translation for Italian citizenship and human review. The role brief places this internship with Aprigliano legal teams and includes pleading assembly. I am distinguishing that brief from the public translation business. The legal team decides strategy; the software applies approved rules. Sources: https://docitalis.com/ and the supplied role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“These are challenges I infer from the job description, not problems I have observed inside your company.” First, an experienced lawyer may know when an argument applies but the exceptions may not yet be written as software rules. Second, changing a rule can unintentionally change other documents. Third, a new authority may warrant review of existing arguments. Ask which of these consumes most team time. Do not say their current drafts contain errors or their system lacks tests. Avoid quantifying costs or promising a reduction without a baseline.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“For unwritten knowledge, I would work through an approved example with a lawyer and record the conditions and exceptions. For consistency, I would compare changed software against examples with agreed expected results. For source review, I would keep links between authorities and the paragraphs that rely on them.” In engineering terms these are modular rules, regression tests, and a maintained legal sources matrix. Retrieval can assist source discovery, and AI can suggest concerns, but legal applicability and strategy remain with lawyers. A source change triggers investigation, not automatic replacement of every document. Human review remains essential.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“Suppose a new judgment is recorded. The first task is not to let AI rewrite the pleadings. It is to find the paragraphs linked to the relevant authority and ask a lawyer whether the judgment applies. If the lawyer approves a rule change, I would record a new version, rerun agreed examples and explain the differences.” It may be an interpretation rather than a statutory amendment. Regression means checking that a change did not break behavior we still expect. An intended legal update can legitimately change an expected result after review. Passing all agreed examples is not 100% legal accuracy. For the appeals extension, similar structured source links can help organise findings, reasoning and possible issues for lawyer assessment; they do not decide appeal grounds.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55 seconds. “My earlier research contribution was literature review, problem identification and initial design. I later moved to an LLM inference project while a sub-team continued the legal work. These recent demos are separate exercises.” UkilRAG demonstrates explicit document rules, a decision trace and regression checks on synthetic cases. LearnRAG has saved actual model outputs and separate component tests, with limitations recorded. Do not claim that either repository proves historical implementation ownership or production readiness. Proposed starting point: understand one workflow, agree on authorized examples and expected outputs, build one small pilot and measure reviewer effort and rework. Ask: “Which workflow would be the most useful starting point for this internship?”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afismam/UkilRAG" TargetMode="External"/><Relationship Id="rId3" Type="http://schemas.openxmlformats.org/officeDocument/2006/relationships/hyperlink" Target="https://github.com/nafismam/LearnRAG" TargetMode="External"/><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47D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47472"/>
            <a:ext cx="10972800"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NAFIS ISMAM · INTERVIEW DISCUSSION</a:t>
            </a:r>
          </a:p>
        </p:txBody>
      </p:sp>
      <p:sp>
        <p:nvSpPr>
          <p:cNvPr id="4" name="TextBox 3"/>
          <p:cNvSpPr txBox="1"/>
          <p:nvPr/>
        </p:nvSpPr>
        <p:spPr>
          <a:xfrm>
            <a:off x="594360" y="832104"/>
            <a:ext cx="10972800" cy="914400"/>
          </a:xfrm>
          <a:prstGeom prst="rect">
            <a:avLst/>
          </a:prstGeom>
          <a:noFill/>
        </p:spPr>
        <p:txBody>
          <a:bodyPr wrap="square" lIns="0" rIns="0" tIns="0" bIns="0">
            <a:spAutoFit/>
          </a:bodyPr>
          <a:lstStyle/>
          <a:p>
            <a:pPr>
              <a:spcAft>
                <a:spcPts val="700"/>
              </a:spcAft>
              <a:defRPr sz="3000" b="1">
                <a:solidFill>
                  <a:srgbClr val="162B43"/>
                </a:solidFill>
                <a:latin typeface="DejaVu Sans"/>
              </a:defRPr>
            </a:pPr>
            <a:r>
              <a:t>Make approved legal work easier to repeat</a:t>
            </a:r>
          </a:p>
        </p:txBody>
      </p:sp>
      <p:sp>
        <p:nvSpPr>
          <p:cNvPr id="5" name="TextBox 4"/>
          <p:cNvSpPr txBox="1"/>
          <p:nvPr/>
        </p:nvSpPr>
        <p:spPr>
          <a:xfrm>
            <a:off x="594360" y="1792224"/>
            <a:ext cx="10972800" cy="585216"/>
          </a:xfrm>
          <a:prstGeom prst="rect">
            <a:avLst/>
          </a:prstGeom>
          <a:noFill/>
        </p:spPr>
        <p:txBody>
          <a:bodyPr wrap="square" lIns="0" rIns="0" tIns="0" bIns="0">
            <a:spAutoFit/>
          </a:bodyPr>
          <a:lstStyle/>
          <a:p>
            <a:pPr>
              <a:spcAft>
                <a:spcPts val="700"/>
              </a:spcAft>
              <a:defRPr sz="1600" b="0">
                <a:solidFill>
                  <a:srgbClr val="607185"/>
                </a:solidFill>
                <a:latin typeface="DejaVu Sans"/>
              </a:defRPr>
            </a:pPr>
            <a:r>
              <a:t>My understanding of the role at Docitalis, working with Aprigliano’s legal teams.</a:t>
            </a:r>
          </a:p>
        </p:txBody>
      </p:sp>
      <p:sp>
        <p:nvSpPr>
          <p:cNvPr id="6" name="Rectangle 5"/>
          <p:cNvSpPr/>
          <p:nvPr/>
        </p:nvSpPr>
        <p:spPr>
          <a:xfrm>
            <a:off x="594360" y="6409944"/>
            <a:ext cx="11000232" cy="10972"/>
          </a:xfrm>
          <a:prstGeom prst="rect">
            <a:avLst/>
          </a:prstGeom>
          <a:solidFill>
            <a:srgbClr val="DEE6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28816"/>
            <a:ext cx="9784080" cy="182880"/>
          </a:xfrm>
          <a:prstGeom prst="rect">
            <a:avLst/>
          </a:prstGeom>
          <a:noFill/>
        </p:spPr>
        <p:txBody>
          <a:bodyPr wrap="square" lIns="0" rIns="0" tIns="0" bIns="0">
            <a:spAutoFit/>
          </a:bodyPr>
          <a:lstStyle/>
          <a:p>
            <a:pPr>
              <a:spcAft>
                <a:spcPts val="700"/>
              </a:spcAft>
              <a:defRPr sz="850" b="0">
                <a:solidFill>
                  <a:srgbClr val="607185"/>
                </a:solidFill>
                <a:latin typeface="DejaVu Sans"/>
              </a:defRPr>
            </a:pPr>
            <a:r>
              <a:t>Sources: Docitalis website and supplied role brief. This is a proposed approach, not an internal audit.</a:t>
            </a:r>
          </a:p>
        </p:txBody>
      </p:sp>
      <p:sp>
        <p:nvSpPr>
          <p:cNvPr id="8" name="TextBox 7"/>
          <p:cNvSpPr txBox="1"/>
          <p:nvPr/>
        </p:nvSpPr>
        <p:spPr>
          <a:xfrm>
            <a:off x="10835640" y="6492240"/>
            <a:ext cx="777240" cy="228600"/>
          </a:xfrm>
          <a:prstGeom prst="rect">
            <a:avLst/>
          </a:prstGeom>
          <a:noFill/>
        </p:spPr>
        <p:txBody>
          <a:bodyPr wrap="square" lIns="0" rIns="0" tIns="0" bIns="0">
            <a:spAutoFit/>
          </a:bodyPr>
          <a:lstStyle/>
          <a:p>
            <a:pPr>
              <a:spcAft>
                <a:spcPts val="700"/>
              </a:spcAft>
              <a:defRPr sz="1000" b="0">
                <a:solidFill>
                  <a:srgbClr val="607185"/>
                </a:solidFill>
                <a:latin typeface="DejaVu Sans"/>
              </a:defRPr>
            </a:pPr>
            <a:r>
              <a:t>01 / 05</a:t>
            </a:r>
          </a:p>
        </p:txBody>
      </p:sp>
      <p:sp>
        <p:nvSpPr>
          <p:cNvPr id="9" name="Rounded Rectangle 8"/>
          <p:cNvSpPr/>
          <p:nvPr/>
        </p:nvSpPr>
        <p:spPr>
          <a:xfrm>
            <a:off x="594360" y="2779776"/>
            <a:ext cx="3493008" cy="2084831"/>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22960" y="3081528"/>
            <a:ext cx="3035808" cy="640080"/>
          </a:xfrm>
          <a:prstGeom prst="rect">
            <a:avLst/>
          </a:prstGeom>
          <a:noFill/>
        </p:spPr>
        <p:txBody>
          <a:bodyPr wrap="square" lIns="0" rIns="0" tIns="0" bIns="0">
            <a:spAutoFit/>
          </a:bodyPr>
          <a:lstStyle/>
          <a:p>
            <a:pPr>
              <a:spcAft>
                <a:spcPts val="700"/>
              </a:spcAft>
              <a:defRPr sz="2100" b="1">
                <a:solidFill>
                  <a:srgbClr val="162B43"/>
                </a:solidFill>
                <a:latin typeface="DejaVu Sans"/>
              </a:defRPr>
            </a:pPr>
            <a:r>
              <a:t>Capture expertise</a:t>
            </a:r>
          </a:p>
        </p:txBody>
      </p:sp>
      <p:sp>
        <p:nvSpPr>
          <p:cNvPr id="11" name="TextBox 10"/>
          <p:cNvSpPr txBox="1"/>
          <p:nvPr/>
        </p:nvSpPr>
        <p:spPr>
          <a:xfrm>
            <a:off x="822960" y="4005072"/>
            <a:ext cx="3035808" cy="667512"/>
          </a:xfrm>
          <a:prstGeom prst="rect">
            <a:avLst/>
          </a:prstGeom>
          <a:noFill/>
        </p:spPr>
        <p:txBody>
          <a:bodyPr wrap="square" lIns="0" rIns="0" tIns="0" bIns="0">
            <a:spAutoFit/>
          </a:bodyPr>
          <a:lstStyle/>
          <a:p>
            <a:pPr>
              <a:spcAft>
                <a:spcPts val="700"/>
              </a:spcAft>
              <a:defRPr sz="1700" b="0">
                <a:solidFill>
                  <a:srgbClr val="25364A"/>
                </a:solidFill>
                <a:latin typeface="DejaVu Sans"/>
              </a:defRPr>
            </a:pPr>
            <a:r>
              <a:t>Understand why lawyers</a:t>
            </a:r>
          </a:p>
          <a:p>
            <a:pPr>
              <a:spcAft>
                <a:spcPts val="700"/>
              </a:spcAft>
              <a:defRPr sz="1700" b="0">
                <a:solidFill>
                  <a:srgbClr val="25364A"/>
                </a:solidFill>
                <a:latin typeface="DejaVu Sans"/>
              </a:defRPr>
            </a:pPr>
            <a:r>
              <a:t>choose each argument.</a:t>
            </a:r>
          </a:p>
        </p:txBody>
      </p:sp>
      <p:sp>
        <p:nvSpPr>
          <p:cNvPr id="12" name="Rounded Rectangle 11"/>
          <p:cNvSpPr/>
          <p:nvPr/>
        </p:nvSpPr>
        <p:spPr>
          <a:xfrm>
            <a:off x="4343400" y="2779776"/>
            <a:ext cx="3493008" cy="2084831"/>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72000" y="3081528"/>
            <a:ext cx="3035808" cy="640080"/>
          </a:xfrm>
          <a:prstGeom prst="rect">
            <a:avLst/>
          </a:prstGeom>
          <a:noFill/>
        </p:spPr>
        <p:txBody>
          <a:bodyPr wrap="square" lIns="0" rIns="0" tIns="0" bIns="0">
            <a:spAutoFit/>
          </a:bodyPr>
          <a:lstStyle/>
          <a:p>
            <a:pPr>
              <a:spcAft>
                <a:spcPts val="700"/>
              </a:spcAft>
              <a:defRPr sz="2100" b="1">
                <a:solidFill>
                  <a:srgbClr val="162B43"/>
                </a:solidFill>
                <a:latin typeface="DejaVu Sans"/>
              </a:defRPr>
            </a:pPr>
            <a:r>
              <a:t>Prepare consistent drafts</a:t>
            </a:r>
          </a:p>
        </p:txBody>
      </p:sp>
      <p:sp>
        <p:nvSpPr>
          <p:cNvPr id="14" name="TextBox 13"/>
          <p:cNvSpPr txBox="1"/>
          <p:nvPr/>
        </p:nvSpPr>
        <p:spPr>
          <a:xfrm>
            <a:off x="4572000" y="4005072"/>
            <a:ext cx="3035808" cy="667512"/>
          </a:xfrm>
          <a:prstGeom prst="rect">
            <a:avLst/>
          </a:prstGeom>
          <a:noFill/>
        </p:spPr>
        <p:txBody>
          <a:bodyPr wrap="square" lIns="0" rIns="0" tIns="0" bIns="0">
            <a:spAutoFit/>
          </a:bodyPr>
          <a:lstStyle/>
          <a:p>
            <a:pPr>
              <a:spcAft>
                <a:spcPts val="700"/>
              </a:spcAft>
              <a:defRPr sz="1700" b="0">
                <a:solidFill>
                  <a:srgbClr val="25364A"/>
                </a:solidFill>
                <a:latin typeface="DejaVu Sans"/>
              </a:defRPr>
            </a:pPr>
            <a:r>
              <a:t>Apply agreed rules</a:t>
            </a:r>
          </a:p>
          <a:p>
            <a:pPr>
              <a:spcAft>
                <a:spcPts val="700"/>
              </a:spcAft>
              <a:defRPr sz="1700" b="0">
                <a:solidFill>
                  <a:srgbClr val="25364A"/>
                </a:solidFill>
                <a:latin typeface="DejaVu Sans"/>
              </a:defRPr>
            </a:pPr>
            <a:r>
              <a:t>to the facts of a case.</a:t>
            </a:r>
          </a:p>
        </p:txBody>
      </p:sp>
      <p:sp>
        <p:nvSpPr>
          <p:cNvPr id="15" name="Rounded Rectangle 14"/>
          <p:cNvSpPr/>
          <p:nvPr/>
        </p:nvSpPr>
        <p:spPr>
          <a:xfrm>
            <a:off x="8092440" y="2779776"/>
            <a:ext cx="3493008" cy="2084831"/>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21040" y="3081528"/>
            <a:ext cx="3035808" cy="640080"/>
          </a:xfrm>
          <a:prstGeom prst="rect">
            <a:avLst/>
          </a:prstGeom>
          <a:noFill/>
        </p:spPr>
        <p:txBody>
          <a:bodyPr wrap="square" lIns="0" rIns="0" tIns="0" bIns="0">
            <a:spAutoFit/>
          </a:bodyPr>
          <a:lstStyle/>
          <a:p>
            <a:pPr>
              <a:spcAft>
                <a:spcPts val="700"/>
              </a:spcAft>
              <a:defRPr sz="2100" b="1">
                <a:solidFill>
                  <a:srgbClr val="162B43"/>
                </a:solidFill>
                <a:latin typeface="DejaVu Sans"/>
              </a:defRPr>
            </a:pPr>
            <a:r>
              <a:t>Keep changes visible</a:t>
            </a:r>
          </a:p>
        </p:txBody>
      </p:sp>
      <p:sp>
        <p:nvSpPr>
          <p:cNvPr id="17" name="TextBox 16"/>
          <p:cNvSpPr txBox="1"/>
          <p:nvPr/>
        </p:nvSpPr>
        <p:spPr>
          <a:xfrm>
            <a:off x="8321040" y="4005072"/>
            <a:ext cx="3035808" cy="667512"/>
          </a:xfrm>
          <a:prstGeom prst="rect">
            <a:avLst/>
          </a:prstGeom>
          <a:noFill/>
        </p:spPr>
        <p:txBody>
          <a:bodyPr wrap="square" lIns="0" rIns="0" tIns="0" bIns="0">
            <a:spAutoFit/>
          </a:bodyPr>
          <a:lstStyle/>
          <a:p>
            <a:pPr>
              <a:spcAft>
                <a:spcPts val="700"/>
              </a:spcAft>
              <a:defRPr sz="1700" b="0">
                <a:solidFill>
                  <a:srgbClr val="25364A"/>
                </a:solidFill>
                <a:latin typeface="DejaVu Sans"/>
              </a:defRPr>
            </a:pPr>
            <a:r>
              <a:t>Show what changed,</a:t>
            </a:r>
          </a:p>
          <a:p>
            <a:pPr>
              <a:spcAft>
                <a:spcPts val="700"/>
              </a:spcAft>
              <a:defRPr sz="1700" b="0">
                <a:solidFill>
                  <a:srgbClr val="25364A"/>
                </a:solidFill>
                <a:latin typeface="DejaVu Sans"/>
              </a:defRPr>
            </a:pPr>
            <a:r>
              <a:t>why, and what needs review.</a:t>
            </a:r>
          </a:p>
        </p:txBody>
      </p:sp>
      <p:sp>
        <p:nvSpPr>
          <p:cNvPr id="18" name="Rectangle 17"/>
          <p:cNvSpPr/>
          <p:nvPr/>
        </p:nvSpPr>
        <p:spPr>
          <a:xfrm>
            <a:off x="594360" y="5358384"/>
            <a:ext cx="11000232" cy="630936"/>
          </a:xfrm>
          <a:prstGeom prst="rect">
            <a:avLst/>
          </a:prstGeom>
          <a:solidFill>
            <a:srgbClr val="162B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9536" y="5559552"/>
            <a:ext cx="10497312" cy="292608"/>
          </a:xfrm>
          <a:prstGeom prst="rect">
            <a:avLst/>
          </a:prstGeom>
          <a:noFill/>
        </p:spPr>
        <p:txBody>
          <a:bodyPr wrap="square" lIns="0" rIns="0" tIns="0" bIns="0">
            <a:spAutoFit/>
          </a:bodyPr>
          <a:lstStyle/>
          <a:p>
            <a:pPr>
              <a:spcAft>
                <a:spcPts val="700"/>
              </a:spcAft>
              <a:defRPr sz="1700" b="1">
                <a:solidFill>
                  <a:srgbClr val="FFFFFF"/>
                </a:solidFill>
                <a:latin typeface="DejaVu Sans"/>
              </a:defRPr>
            </a:pPr>
            <a:r>
              <a:t>The lawyer decides. The software follows approved rules and explains its 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47D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47472"/>
            <a:ext cx="10972800"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CHALLENGES TO EXPLORE WITH THE TEAM</a:t>
            </a:r>
          </a:p>
        </p:txBody>
      </p:sp>
      <p:sp>
        <p:nvSpPr>
          <p:cNvPr id="4" name="TextBox 3"/>
          <p:cNvSpPr txBox="1"/>
          <p:nvPr/>
        </p:nvSpPr>
        <p:spPr>
          <a:xfrm>
            <a:off x="594360" y="832104"/>
            <a:ext cx="10972800" cy="914400"/>
          </a:xfrm>
          <a:prstGeom prst="rect">
            <a:avLst/>
          </a:prstGeom>
          <a:noFill/>
        </p:spPr>
        <p:txBody>
          <a:bodyPr wrap="square" lIns="0" rIns="0" tIns="0" bIns="0">
            <a:spAutoFit/>
          </a:bodyPr>
          <a:lstStyle/>
          <a:p>
            <a:pPr>
              <a:spcAft>
                <a:spcPts val="700"/>
              </a:spcAft>
              <a:defRPr sz="3000" b="1">
                <a:solidFill>
                  <a:srgbClr val="162B43"/>
                </a:solidFill>
                <a:latin typeface="DejaVu Sans"/>
              </a:defRPr>
            </a:pPr>
            <a:r>
              <a:t>Three challenges suggested by the role</a:t>
            </a:r>
          </a:p>
        </p:txBody>
      </p:sp>
      <p:sp>
        <p:nvSpPr>
          <p:cNvPr id="5" name="TextBox 4"/>
          <p:cNvSpPr txBox="1"/>
          <p:nvPr/>
        </p:nvSpPr>
        <p:spPr>
          <a:xfrm>
            <a:off x="594360" y="1792224"/>
            <a:ext cx="10972800" cy="585216"/>
          </a:xfrm>
          <a:prstGeom prst="rect">
            <a:avLst/>
          </a:prstGeom>
          <a:noFill/>
        </p:spPr>
        <p:txBody>
          <a:bodyPr wrap="square" lIns="0" rIns="0" tIns="0" bIns="0">
            <a:spAutoFit/>
          </a:bodyPr>
          <a:lstStyle/>
          <a:p>
            <a:pPr>
              <a:spcAft>
                <a:spcPts val="700"/>
              </a:spcAft>
              <a:defRPr sz="1600" b="0">
                <a:solidFill>
                  <a:srgbClr val="607185"/>
                </a:solidFill>
                <a:latin typeface="DejaVu Sans"/>
              </a:defRPr>
            </a:pPr>
            <a:r>
              <a:t>I would confirm where these occur, and which matters most, before proposing changes.</a:t>
            </a:r>
          </a:p>
        </p:txBody>
      </p:sp>
      <p:sp>
        <p:nvSpPr>
          <p:cNvPr id="6" name="Rectangle 5"/>
          <p:cNvSpPr/>
          <p:nvPr/>
        </p:nvSpPr>
        <p:spPr>
          <a:xfrm>
            <a:off x="594360" y="6409944"/>
            <a:ext cx="11000232" cy="10972"/>
          </a:xfrm>
          <a:prstGeom prst="rect">
            <a:avLst/>
          </a:prstGeom>
          <a:solidFill>
            <a:srgbClr val="DEE6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28816"/>
            <a:ext cx="9784080" cy="182880"/>
          </a:xfrm>
          <a:prstGeom prst="rect">
            <a:avLst/>
          </a:prstGeom>
          <a:noFill/>
        </p:spPr>
        <p:txBody>
          <a:bodyPr wrap="square" lIns="0" rIns="0" tIns="0" bIns="0">
            <a:spAutoFit/>
          </a:bodyPr>
          <a:lstStyle/>
          <a:p>
            <a:pPr>
              <a:spcAft>
                <a:spcPts val="700"/>
              </a:spcAft>
              <a:defRPr sz="850" b="0">
                <a:solidFill>
                  <a:srgbClr val="607185"/>
                </a:solidFill>
                <a:latin typeface="DejaVu Sans"/>
              </a:defRPr>
            </a:pPr>
            <a:r>
              <a:t>Source: responsibilities in the supplied role brief. These are possible challenges, not confirmed internal faults.</a:t>
            </a:r>
          </a:p>
        </p:txBody>
      </p:sp>
      <p:sp>
        <p:nvSpPr>
          <p:cNvPr id="8" name="TextBox 7"/>
          <p:cNvSpPr txBox="1"/>
          <p:nvPr/>
        </p:nvSpPr>
        <p:spPr>
          <a:xfrm>
            <a:off x="10835640" y="6492240"/>
            <a:ext cx="777240" cy="228600"/>
          </a:xfrm>
          <a:prstGeom prst="rect">
            <a:avLst/>
          </a:prstGeom>
          <a:noFill/>
        </p:spPr>
        <p:txBody>
          <a:bodyPr wrap="square" lIns="0" rIns="0" tIns="0" bIns="0">
            <a:spAutoFit/>
          </a:bodyPr>
          <a:lstStyle/>
          <a:p>
            <a:pPr>
              <a:spcAft>
                <a:spcPts val="700"/>
              </a:spcAft>
              <a:defRPr sz="1000" b="0">
                <a:solidFill>
                  <a:srgbClr val="607185"/>
                </a:solidFill>
                <a:latin typeface="DejaVu Sans"/>
              </a:defRPr>
            </a:pPr>
            <a:r>
              <a:t>02 / 05</a:t>
            </a:r>
          </a:p>
        </p:txBody>
      </p:sp>
      <p:sp>
        <p:nvSpPr>
          <p:cNvPr id="9" name="Rounded Rectangle 8"/>
          <p:cNvSpPr/>
          <p:nvPr/>
        </p:nvSpPr>
        <p:spPr>
          <a:xfrm>
            <a:off x="594360" y="2706624"/>
            <a:ext cx="11000232" cy="859536"/>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32104" y="2898648"/>
            <a:ext cx="1527048" cy="310896"/>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KNOWLEDGE</a:t>
            </a:r>
          </a:p>
        </p:txBody>
      </p:sp>
      <p:sp>
        <p:nvSpPr>
          <p:cNvPr id="11" name="TextBox 10"/>
          <p:cNvSpPr txBox="1"/>
          <p:nvPr/>
        </p:nvSpPr>
        <p:spPr>
          <a:xfrm>
            <a:off x="2532888" y="2852928"/>
            <a:ext cx="5486400" cy="56692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Important reasoning may be unwritten.</a:t>
            </a:r>
          </a:p>
        </p:txBody>
      </p:sp>
      <p:sp>
        <p:nvSpPr>
          <p:cNvPr id="12" name="TextBox 11"/>
          <p:cNvSpPr txBox="1"/>
          <p:nvPr/>
        </p:nvSpPr>
        <p:spPr>
          <a:xfrm>
            <a:off x="8247888" y="2871216"/>
            <a:ext cx="3026664" cy="576072"/>
          </a:xfrm>
          <a:prstGeom prst="rect">
            <a:avLst/>
          </a:prstGeom>
          <a:noFill/>
        </p:spPr>
        <p:txBody>
          <a:bodyPr wrap="square" lIns="0" rIns="0" tIns="0" bIns="0">
            <a:spAutoFit/>
          </a:bodyPr>
          <a:lstStyle/>
          <a:p>
            <a:pPr>
              <a:spcAft>
                <a:spcPts val="700"/>
              </a:spcAft>
              <a:defRPr sz="1400" b="0">
                <a:solidFill>
                  <a:srgbClr val="25364A"/>
                </a:solidFill>
                <a:latin typeface="DejaVu Sans"/>
              </a:defRPr>
            </a:pPr>
            <a:r>
              <a:t>Harder to reuse or hand over.</a:t>
            </a:r>
          </a:p>
        </p:txBody>
      </p:sp>
      <p:sp>
        <p:nvSpPr>
          <p:cNvPr id="13" name="Rounded Rectangle 12"/>
          <p:cNvSpPr/>
          <p:nvPr/>
        </p:nvSpPr>
        <p:spPr>
          <a:xfrm>
            <a:off x="594360" y="3712464"/>
            <a:ext cx="11000232" cy="859536"/>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32104" y="3904488"/>
            <a:ext cx="1527048" cy="310896"/>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CONSISTENCY</a:t>
            </a:r>
          </a:p>
        </p:txBody>
      </p:sp>
      <p:sp>
        <p:nvSpPr>
          <p:cNvPr id="15" name="TextBox 14"/>
          <p:cNvSpPr txBox="1"/>
          <p:nvPr/>
        </p:nvSpPr>
        <p:spPr>
          <a:xfrm>
            <a:off x="2532888" y="3858768"/>
            <a:ext cx="5486400" cy="56692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A rule change can affect earlier drafts.</a:t>
            </a:r>
          </a:p>
        </p:txBody>
      </p:sp>
      <p:sp>
        <p:nvSpPr>
          <p:cNvPr id="16" name="TextBox 15"/>
          <p:cNvSpPr txBox="1"/>
          <p:nvPr/>
        </p:nvSpPr>
        <p:spPr>
          <a:xfrm>
            <a:off x="8247888" y="3877056"/>
            <a:ext cx="3026664" cy="576072"/>
          </a:xfrm>
          <a:prstGeom prst="rect">
            <a:avLst/>
          </a:prstGeom>
          <a:noFill/>
        </p:spPr>
        <p:txBody>
          <a:bodyPr wrap="square" lIns="0" rIns="0" tIns="0" bIns="0">
            <a:spAutoFit/>
          </a:bodyPr>
          <a:lstStyle/>
          <a:p>
            <a:pPr>
              <a:spcAft>
                <a:spcPts val="700"/>
              </a:spcAft>
              <a:defRPr sz="1400" b="0">
                <a:solidFill>
                  <a:srgbClr val="25364A"/>
                </a:solidFill>
                <a:latin typeface="DejaVu Sans"/>
              </a:defRPr>
            </a:pPr>
            <a:r>
              <a:t>Unexpected differences need checking.</a:t>
            </a:r>
          </a:p>
        </p:txBody>
      </p:sp>
      <p:sp>
        <p:nvSpPr>
          <p:cNvPr id="17" name="Rounded Rectangle 16"/>
          <p:cNvSpPr/>
          <p:nvPr/>
        </p:nvSpPr>
        <p:spPr>
          <a:xfrm>
            <a:off x="594360" y="4718304"/>
            <a:ext cx="11000232" cy="859536"/>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32104" y="4910328"/>
            <a:ext cx="1527048" cy="310896"/>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SOURCES</a:t>
            </a:r>
          </a:p>
        </p:txBody>
      </p:sp>
      <p:sp>
        <p:nvSpPr>
          <p:cNvPr id="19" name="TextBox 18"/>
          <p:cNvSpPr txBox="1"/>
          <p:nvPr/>
        </p:nvSpPr>
        <p:spPr>
          <a:xfrm>
            <a:off x="2532888" y="4864608"/>
            <a:ext cx="5486400" cy="56692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A new judgment may affect existing arguments.</a:t>
            </a:r>
          </a:p>
        </p:txBody>
      </p:sp>
      <p:sp>
        <p:nvSpPr>
          <p:cNvPr id="20" name="TextBox 19"/>
          <p:cNvSpPr txBox="1"/>
          <p:nvPr/>
        </p:nvSpPr>
        <p:spPr>
          <a:xfrm>
            <a:off x="8247888" y="4882896"/>
            <a:ext cx="3026664" cy="576072"/>
          </a:xfrm>
          <a:prstGeom prst="rect">
            <a:avLst/>
          </a:prstGeom>
          <a:noFill/>
        </p:spPr>
        <p:txBody>
          <a:bodyPr wrap="square" lIns="0" rIns="0" tIns="0" bIns="0">
            <a:spAutoFit/>
          </a:bodyPr>
          <a:lstStyle/>
          <a:p>
            <a:pPr>
              <a:spcAft>
                <a:spcPts val="700"/>
              </a:spcAft>
              <a:defRPr sz="1400" b="0">
                <a:solidFill>
                  <a:srgbClr val="25364A"/>
                </a:solidFill>
                <a:latin typeface="DejaVu Sans"/>
              </a:defRPr>
            </a:pPr>
            <a:r>
              <a:t>The right documents need fresh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47D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47472"/>
            <a:ext cx="10972800"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PROPOSED APPROACH</a:t>
            </a:r>
          </a:p>
        </p:txBody>
      </p:sp>
      <p:sp>
        <p:nvSpPr>
          <p:cNvPr id="4" name="TextBox 3"/>
          <p:cNvSpPr txBox="1"/>
          <p:nvPr/>
        </p:nvSpPr>
        <p:spPr>
          <a:xfrm>
            <a:off x="594360" y="832104"/>
            <a:ext cx="10972800" cy="914400"/>
          </a:xfrm>
          <a:prstGeom prst="rect">
            <a:avLst/>
          </a:prstGeom>
          <a:noFill/>
        </p:spPr>
        <p:txBody>
          <a:bodyPr wrap="square" lIns="0" rIns="0" tIns="0" bIns="0">
            <a:spAutoFit/>
          </a:bodyPr>
          <a:lstStyle/>
          <a:p>
            <a:pPr>
              <a:spcAft>
                <a:spcPts val="700"/>
              </a:spcAft>
              <a:defRPr sz="3000" b="1">
                <a:solidFill>
                  <a:srgbClr val="162B43"/>
                </a:solidFill>
                <a:latin typeface="DejaVu Sans"/>
              </a:defRPr>
            </a:pPr>
            <a:r>
              <a:t>Write the rules. Check changes. Show the sources.</a:t>
            </a:r>
          </a:p>
        </p:txBody>
      </p:sp>
      <p:sp>
        <p:nvSpPr>
          <p:cNvPr id="5" name="TextBox 4"/>
          <p:cNvSpPr txBox="1"/>
          <p:nvPr/>
        </p:nvSpPr>
        <p:spPr>
          <a:xfrm>
            <a:off x="594360" y="1792224"/>
            <a:ext cx="10972800" cy="585216"/>
          </a:xfrm>
          <a:prstGeom prst="rect">
            <a:avLst/>
          </a:prstGeom>
          <a:noFill/>
        </p:spPr>
        <p:txBody>
          <a:bodyPr wrap="square" lIns="0" rIns="0" tIns="0" bIns="0">
            <a:spAutoFit/>
          </a:bodyPr>
          <a:lstStyle/>
          <a:p>
            <a:pPr>
              <a:spcAft>
                <a:spcPts val="700"/>
              </a:spcAft>
              <a:defRPr sz="1600" b="0">
                <a:solidFill>
                  <a:srgbClr val="607185"/>
                </a:solidFill>
                <a:latin typeface="DejaVu Sans"/>
              </a:defRPr>
            </a:pPr>
            <a:r>
              <a:t>Start small, and review the results with the people who do the work.</a:t>
            </a:r>
          </a:p>
        </p:txBody>
      </p:sp>
      <p:sp>
        <p:nvSpPr>
          <p:cNvPr id="6" name="Rectangle 5"/>
          <p:cNvSpPr/>
          <p:nvPr/>
        </p:nvSpPr>
        <p:spPr>
          <a:xfrm>
            <a:off x="594360" y="6409944"/>
            <a:ext cx="11000232" cy="10972"/>
          </a:xfrm>
          <a:prstGeom prst="rect">
            <a:avLst/>
          </a:prstGeom>
          <a:solidFill>
            <a:srgbClr val="DEE6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28816"/>
            <a:ext cx="9784080" cy="182880"/>
          </a:xfrm>
          <a:prstGeom prst="rect">
            <a:avLst/>
          </a:prstGeom>
          <a:noFill/>
        </p:spPr>
        <p:txBody>
          <a:bodyPr wrap="square" lIns="0" rIns="0" tIns="0" bIns="0">
            <a:spAutoFit/>
          </a:bodyPr>
          <a:lstStyle/>
          <a:p>
            <a:pPr>
              <a:spcAft>
                <a:spcPts val="700"/>
              </a:spcAft>
              <a:defRPr sz="850" b="0">
                <a:solidFill>
                  <a:srgbClr val="607185"/>
                </a:solidFill>
                <a:latin typeface="DejaVu Sans"/>
              </a:defRPr>
            </a:pPr>
            <a:r>
              <a:t>Source: supplied role brief. Proposed actions and intended benefits, not claims of implemented business outcomes.</a:t>
            </a:r>
          </a:p>
        </p:txBody>
      </p:sp>
      <p:sp>
        <p:nvSpPr>
          <p:cNvPr id="8" name="TextBox 7"/>
          <p:cNvSpPr txBox="1"/>
          <p:nvPr/>
        </p:nvSpPr>
        <p:spPr>
          <a:xfrm>
            <a:off x="10835640" y="6492240"/>
            <a:ext cx="777240" cy="228600"/>
          </a:xfrm>
          <a:prstGeom prst="rect">
            <a:avLst/>
          </a:prstGeom>
          <a:noFill/>
        </p:spPr>
        <p:txBody>
          <a:bodyPr wrap="square" lIns="0" rIns="0" tIns="0" bIns="0">
            <a:spAutoFit/>
          </a:bodyPr>
          <a:lstStyle/>
          <a:p>
            <a:pPr>
              <a:spcAft>
                <a:spcPts val="700"/>
              </a:spcAft>
              <a:defRPr sz="1000" b="0">
                <a:solidFill>
                  <a:srgbClr val="607185"/>
                </a:solidFill>
                <a:latin typeface="DejaVu Sans"/>
              </a:defRPr>
            </a:pPr>
            <a:r>
              <a:t>03 / 05</a:t>
            </a:r>
          </a:p>
        </p:txBody>
      </p:sp>
      <p:sp>
        <p:nvSpPr>
          <p:cNvPr id="9" name="Rounded Rectangle 8"/>
          <p:cNvSpPr/>
          <p:nvPr/>
        </p:nvSpPr>
        <p:spPr>
          <a:xfrm>
            <a:off x="594360" y="2734056"/>
            <a:ext cx="3493008" cy="2660904"/>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22960" y="3026664"/>
            <a:ext cx="3035808" cy="777240"/>
          </a:xfrm>
          <a:prstGeom prst="rect">
            <a:avLst/>
          </a:prstGeom>
          <a:noFill/>
        </p:spPr>
        <p:txBody>
          <a:bodyPr wrap="square" lIns="0" rIns="0" tIns="0" bIns="0">
            <a:spAutoFit/>
          </a:bodyPr>
          <a:lstStyle/>
          <a:p>
            <a:pPr>
              <a:spcAft>
                <a:spcPts val="700"/>
              </a:spcAft>
              <a:defRPr sz="2000" b="1">
                <a:solidFill>
                  <a:srgbClr val="162B43"/>
                </a:solidFill>
                <a:latin typeface="DejaVu Sans"/>
              </a:defRPr>
            </a:pPr>
            <a:r>
              <a:t>Make knowledge reusable</a:t>
            </a:r>
          </a:p>
        </p:txBody>
      </p:sp>
      <p:sp>
        <p:nvSpPr>
          <p:cNvPr id="11" name="TextBox 10"/>
          <p:cNvSpPr txBox="1"/>
          <p:nvPr/>
        </p:nvSpPr>
        <p:spPr>
          <a:xfrm>
            <a:off x="822960" y="4023360"/>
            <a:ext cx="3035808" cy="841248"/>
          </a:xfrm>
          <a:prstGeom prst="rect">
            <a:avLst/>
          </a:prstGeom>
          <a:noFill/>
        </p:spPr>
        <p:txBody>
          <a:bodyPr wrap="square" lIns="0" rIns="0" tIns="0" bIns="0">
            <a:spAutoFit/>
          </a:bodyPr>
          <a:lstStyle/>
          <a:p>
            <a:pPr>
              <a:spcAft>
                <a:spcPts val="700"/>
              </a:spcAft>
              <a:defRPr sz="1600" b="0">
                <a:solidFill>
                  <a:srgbClr val="25364A"/>
                </a:solidFill>
                <a:latin typeface="DejaVu Sans"/>
              </a:defRPr>
            </a:pPr>
            <a:r>
              <a:t>Record approved paragraphs,</a:t>
            </a:r>
          </a:p>
          <a:p>
            <a:pPr>
              <a:spcAft>
                <a:spcPts val="700"/>
              </a:spcAft>
              <a:defRPr sz="1600" b="0">
                <a:solidFill>
                  <a:srgbClr val="25364A"/>
                </a:solidFill>
                <a:latin typeface="DejaVu Sans"/>
              </a:defRPr>
            </a:pPr>
            <a:r>
              <a:t>when to use them, and exceptions.</a:t>
            </a:r>
          </a:p>
        </p:txBody>
      </p:sp>
      <p:sp>
        <p:nvSpPr>
          <p:cNvPr id="12" name="TextBox 11"/>
          <p:cNvSpPr txBox="1"/>
          <p:nvPr/>
        </p:nvSpPr>
        <p:spPr>
          <a:xfrm>
            <a:off x="822960" y="4992624"/>
            <a:ext cx="3035808" cy="310896"/>
          </a:xfrm>
          <a:prstGeom prst="rect">
            <a:avLst/>
          </a:prstGeom>
          <a:noFill/>
        </p:spPr>
        <p:txBody>
          <a:bodyPr wrap="square" lIns="0" rIns="0" tIns="0" bIns="0">
            <a:spAutoFit/>
          </a:bodyPr>
          <a:lstStyle/>
          <a:p>
            <a:pPr>
              <a:spcAft>
                <a:spcPts val="700"/>
              </a:spcAft>
              <a:defRPr sz="1200" b="1">
                <a:solidFill>
                  <a:srgbClr val="147D78"/>
                </a:solidFill>
                <a:latin typeface="DejaVu Sans"/>
              </a:defRPr>
            </a:pPr>
            <a:r>
              <a:t>Benefit: clearer handovers</a:t>
            </a:r>
          </a:p>
        </p:txBody>
      </p:sp>
      <p:sp>
        <p:nvSpPr>
          <p:cNvPr id="13" name="Rounded Rectangle 12"/>
          <p:cNvSpPr/>
          <p:nvPr/>
        </p:nvSpPr>
        <p:spPr>
          <a:xfrm>
            <a:off x="4343400" y="2734056"/>
            <a:ext cx="3493008" cy="2660904"/>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572000" y="3026664"/>
            <a:ext cx="3035808" cy="777240"/>
          </a:xfrm>
          <a:prstGeom prst="rect">
            <a:avLst/>
          </a:prstGeom>
          <a:noFill/>
        </p:spPr>
        <p:txBody>
          <a:bodyPr wrap="square" lIns="0" rIns="0" tIns="0" bIns="0">
            <a:spAutoFit/>
          </a:bodyPr>
          <a:lstStyle/>
          <a:p>
            <a:pPr>
              <a:spcAft>
                <a:spcPts val="700"/>
              </a:spcAft>
              <a:defRPr sz="2000" b="1">
                <a:solidFill>
                  <a:srgbClr val="162B43"/>
                </a:solidFill>
                <a:latin typeface="DejaVu Sans"/>
              </a:defRPr>
            </a:pPr>
            <a:r>
              <a:t>Protect expected behavior</a:t>
            </a:r>
          </a:p>
        </p:txBody>
      </p:sp>
      <p:sp>
        <p:nvSpPr>
          <p:cNvPr id="15" name="TextBox 14"/>
          <p:cNvSpPr txBox="1"/>
          <p:nvPr/>
        </p:nvSpPr>
        <p:spPr>
          <a:xfrm>
            <a:off x="4572000" y="4023360"/>
            <a:ext cx="3035808" cy="841248"/>
          </a:xfrm>
          <a:prstGeom prst="rect">
            <a:avLst/>
          </a:prstGeom>
          <a:noFill/>
        </p:spPr>
        <p:txBody>
          <a:bodyPr wrap="square" lIns="0" rIns="0" tIns="0" bIns="0">
            <a:spAutoFit/>
          </a:bodyPr>
          <a:lstStyle/>
          <a:p>
            <a:pPr>
              <a:spcAft>
                <a:spcPts val="700"/>
              </a:spcAft>
              <a:defRPr sz="1600" b="0">
                <a:solidFill>
                  <a:srgbClr val="25364A"/>
                </a:solidFill>
                <a:latin typeface="DejaVu Sans"/>
              </a:defRPr>
            </a:pPr>
            <a:r>
              <a:t>Rerun agreed examples</a:t>
            </a:r>
          </a:p>
          <a:p>
            <a:pPr>
              <a:spcAft>
                <a:spcPts val="700"/>
              </a:spcAft>
              <a:defRPr sz="1600" b="0">
                <a:solidFill>
                  <a:srgbClr val="25364A"/>
                </a:solidFill>
                <a:latin typeface="DejaVu Sans"/>
              </a:defRPr>
            </a:pPr>
            <a:r>
              <a:t>whenever rules change.</a:t>
            </a:r>
          </a:p>
        </p:txBody>
      </p:sp>
      <p:sp>
        <p:nvSpPr>
          <p:cNvPr id="16" name="TextBox 15"/>
          <p:cNvSpPr txBox="1"/>
          <p:nvPr/>
        </p:nvSpPr>
        <p:spPr>
          <a:xfrm>
            <a:off x="4572000" y="4992624"/>
            <a:ext cx="3035808" cy="310896"/>
          </a:xfrm>
          <a:prstGeom prst="rect">
            <a:avLst/>
          </a:prstGeom>
          <a:noFill/>
        </p:spPr>
        <p:txBody>
          <a:bodyPr wrap="square" lIns="0" rIns="0" tIns="0" bIns="0">
            <a:spAutoFit/>
          </a:bodyPr>
          <a:lstStyle/>
          <a:p>
            <a:pPr>
              <a:spcAft>
                <a:spcPts val="700"/>
              </a:spcAft>
              <a:defRPr sz="1200" b="1">
                <a:solidFill>
                  <a:srgbClr val="147D78"/>
                </a:solidFill>
                <a:latin typeface="DejaVu Sans"/>
              </a:defRPr>
            </a:pPr>
            <a:r>
              <a:t>Benefit: fewer silent surprises</a:t>
            </a:r>
          </a:p>
        </p:txBody>
      </p:sp>
      <p:sp>
        <p:nvSpPr>
          <p:cNvPr id="17" name="Rounded Rectangle 16"/>
          <p:cNvSpPr/>
          <p:nvPr/>
        </p:nvSpPr>
        <p:spPr>
          <a:xfrm>
            <a:off x="8092440" y="2734056"/>
            <a:ext cx="3493008" cy="2660904"/>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321040" y="3026664"/>
            <a:ext cx="3035808" cy="777240"/>
          </a:xfrm>
          <a:prstGeom prst="rect">
            <a:avLst/>
          </a:prstGeom>
          <a:noFill/>
        </p:spPr>
        <p:txBody>
          <a:bodyPr wrap="square" lIns="0" rIns="0" tIns="0" bIns="0">
            <a:spAutoFit/>
          </a:bodyPr>
          <a:lstStyle/>
          <a:p>
            <a:pPr>
              <a:spcAft>
                <a:spcPts val="700"/>
              </a:spcAft>
              <a:defRPr sz="2000" b="1">
                <a:solidFill>
                  <a:srgbClr val="162B43"/>
                </a:solidFill>
                <a:latin typeface="DejaVu Sans"/>
              </a:defRPr>
            </a:pPr>
            <a:r>
              <a:t>Support legal review</a:t>
            </a:r>
          </a:p>
        </p:txBody>
      </p:sp>
      <p:sp>
        <p:nvSpPr>
          <p:cNvPr id="19" name="TextBox 18"/>
          <p:cNvSpPr txBox="1"/>
          <p:nvPr/>
        </p:nvSpPr>
        <p:spPr>
          <a:xfrm>
            <a:off x="8321040" y="4023360"/>
            <a:ext cx="3035808" cy="841248"/>
          </a:xfrm>
          <a:prstGeom prst="rect">
            <a:avLst/>
          </a:prstGeom>
          <a:noFill/>
        </p:spPr>
        <p:txBody>
          <a:bodyPr wrap="square" lIns="0" rIns="0" tIns="0" bIns="0">
            <a:spAutoFit/>
          </a:bodyPr>
          <a:lstStyle/>
          <a:p>
            <a:pPr>
              <a:spcAft>
                <a:spcPts val="700"/>
              </a:spcAft>
              <a:defRPr sz="1600" b="0">
                <a:solidFill>
                  <a:srgbClr val="25364A"/>
                </a:solidFill>
                <a:latin typeface="DejaVu Sans"/>
              </a:defRPr>
            </a:pPr>
            <a:r>
              <a:t>Link paragraphs to sources</a:t>
            </a:r>
          </a:p>
          <a:p>
            <a:pPr>
              <a:spcAft>
                <a:spcPts val="700"/>
              </a:spcAft>
              <a:defRPr sz="1600" b="0">
                <a:solidFill>
                  <a:srgbClr val="25364A"/>
                </a:solidFill>
                <a:latin typeface="DejaVu Sans"/>
              </a:defRPr>
            </a:pPr>
            <a:r>
              <a:t>and flag possible update impacts.</a:t>
            </a:r>
          </a:p>
        </p:txBody>
      </p:sp>
      <p:sp>
        <p:nvSpPr>
          <p:cNvPr id="20" name="TextBox 19"/>
          <p:cNvSpPr txBox="1"/>
          <p:nvPr/>
        </p:nvSpPr>
        <p:spPr>
          <a:xfrm>
            <a:off x="8321040" y="4992624"/>
            <a:ext cx="3035808" cy="310896"/>
          </a:xfrm>
          <a:prstGeom prst="rect">
            <a:avLst/>
          </a:prstGeom>
          <a:noFill/>
        </p:spPr>
        <p:txBody>
          <a:bodyPr wrap="square" lIns="0" rIns="0" tIns="0" bIns="0">
            <a:spAutoFit/>
          </a:bodyPr>
          <a:lstStyle/>
          <a:p>
            <a:pPr>
              <a:spcAft>
                <a:spcPts val="700"/>
              </a:spcAft>
              <a:defRPr sz="1200" b="1">
                <a:solidFill>
                  <a:srgbClr val="147D78"/>
                </a:solidFill>
                <a:latin typeface="DejaVu Sans"/>
              </a:defRPr>
            </a:pPr>
            <a:r>
              <a:t>Benefit: focused source checking</a:t>
            </a:r>
          </a:p>
        </p:txBody>
      </p:sp>
      <p:sp>
        <p:nvSpPr>
          <p:cNvPr id="21" name="TextBox 20"/>
          <p:cNvSpPr txBox="1"/>
          <p:nvPr/>
        </p:nvSpPr>
        <p:spPr>
          <a:xfrm>
            <a:off x="594360" y="5760720"/>
            <a:ext cx="10972800" cy="320040"/>
          </a:xfrm>
          <a:prstGeom prst="rect">
            <a:avLst/>
          </a:prstGeom>
          <a:noFill/>
        </p:spPr>
        <p:txBody>
          <a:bodyPr wrap="square" lIns="0" rIns="0" tIns="0" bIns="0">
            <a:spAutoFit/>
          </a:bodyPr>
          <a:lstStyle/>
          <a:p>
            <a:pPr>
              <a:spcAft>
                <a:spcPts val="700"/>
              </a:spcAft>
              <a:defRPr sz="1600" b="1">
                <a:solidFill>
                  <a:srgbClr val="162B43"/>
                </a:solidFill>
                <a:latin typeface="DejaVu Sans"/>
              </a:defRPr>
            </a:pPr>
            <a:r>
              <a:t>AI can suggest checks and retrieve material. It does not choose the legal strategy.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47D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47472"/>
            <a:ext cx="10972800"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ILLUSTRATIVE EXAMPLE</a:t>
            </a:r>
          </a:p>
        </p:txBody>
      </p:sp>
      <p:sp>
        <p:nvSpPr>
          <p:cNvPr id="4" name="TextBox 3"/>
          <p:cNvSpPr txBox="1"/>
          <p:nvPr/>
        </p:nvSpPr>
        <p:spPr>
          <a:xfrm>
            <a:off x="594360" y="832104"/>
            <a:ext cx="10972800" cy="914400"/>
          </a:xfrm>
          <a:prstGeom prst="rect">
            <a:avLst/>
          </a:prstGeom>
          <a:noFill/>
        </p:spPr>
        <p:txBody>
          <a:bodyPr wrap="square" lIns="0" rIns="0" tIns="0" bIns="0">
            <a:spAutoFit/>
          </a:bodyPr>
          <a:lstStyle/>
          <a:p>
            <a:pPr>
              <a:spcAft>
                <a:spcPts val="700"/>
              </a:spcAft>
              <a:defRPr sz="3000" b="1">
                <a:solidFill>
                  <a:srgbClr val="162B43"/>
                </a:solidFill>
                <a:latin typeface="DejaVu Sans"/>
              </a:defRPr>
            </a:pPr>
            <a:r>
              <a:t>A new judgment arrives. What happens next?</a:t>
            </a:r>
          </a:p>
        </p:txBody>
      </p:sp>
      <p:sp>
        <p:nvSpPr>
          <p:cNvPr id="5" name="TextBox 4"/>
          <p:cNvSpPr txBox="1"/>
          <p:nvPr/>
        </p:nvSpPr>
        <p:spPr>
          <a:xfrm>
            <a:off x="594360" y="1792224"/>
            <a:ext cx="10972800" cy="585216"/>
          </a:xfrm>
          <a:prstGeom prst="rect">
            <a:avLst/>
          </a:prstGeom>
          <a:noFill/>
        </p:spPr>
        <p:txBody>
          <a:bodyPr wrap="square" lIns="0" rIns="0" tIns="0" bIns="0">
            <a:spAutoFit/>
          </a:bodyPr>
          <a:lstStyle/>
          <a:p>
            <a:pPr>
              <a:spcAft>
                <a:spcPts val="700"/>
              </a:spcAft>
              <a:defRPr sz="1600" b="0">
                <a:solidFill>
                  <a:srgbClr val="607185"/>
                </a:solidFill>
                <a:latin typeface="DejaVu Sans"/>
              </a:defRPr>
            </a:pPr>
            <a:r>
              <a:t>Identify what may be affected before changing an approved drafting rule.</a:t>
            </a:r>
          </a:p>
        </p:txBody>
      </p:sp>
      <p:sp>
        <p:nvSpPr>
          <p:cNvPr id="6" name="Rectangle 5"/>
          <p:cNvSpPr/>
          <p:nvPr/>
        </p:nvSpPr>
        <p:spPr>
          <a:xfrm>
            <a:off x="594360" y="6409944"/>
            <a:ext cx="11000232" cy="10972"/>
          </a:xfrm>
          <a:prstGeom prst="rect">
            <a:avLst/>
          </a:prstGeom>
          <a:solidFill>
            <a:srgbClr val="DEE6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28816"/>
            <a:ext cx="9784080" cy="182880"/>
          </a:xfrm>
          <a:prstGeom prst="rect">
            <a:avLst/>
          </a:prstGeom>
          <a:noFill/>
        </p:spPr>
        <p:txBody>
          <a:bodyPr wrap="square" lIns="0" rIns="0" tIns="0" bIns="0">
            <a:spAutoFit/>
          </a:bodyPr>
          <a:lstStyle/>
          <a:p>
            <a:pPr>
              <a:spcAft>
                <a:spcPts val="700"/>
              </a:spcAft>
              <a:defRPr sz="850" b="0">
                <a:solidFill>
                  <a:srgbClr val="607185"/>
                </a:solidFill>
                <a:latin typeface="DejaVu Sans"/>
              </a:defRPr>
            </a:pPr>
            <a:r>
              <a:t>Illustration only: no real judgment, case or legal conclusion. Approved examples would be supplied by the team.</a:t>
            </a:r>
          </a:p>
        </p:txBody>
      </p:sp>
      <p:sp>
        <p:nvSpPr>
          <p:cNvPr id="8" name="TextBox 7"/>
          <p:cNvSpPr txBox="1"/>
          <p:nvPr/>
        </p:nvSpPr>
        <p:spPr>
          <a:xfrm>
            <a:off x="10835640" y="6492240"/>
            <a:ext cx="777240" cy="228600"/>
          </a:xfrm>
          <a:prstGeom prst="rect">
            <a:avLst/>
          </a:prstGeom>
          <a:noFill/>
        </p:spPr>
        <p:txBody>
          <a:bodyPr wrap="square" lIns="0" rIns="0" tIns="0" bIns="0">
            <a:spAutoFit/>
          </a:bodyPr>
          <a:lstStyle/>
          <a:p>
            <a:pPr>
              <a:spcAft>
                <a:spcPts val="700"/>
              </a:spcAft>
              <a:defRPr sz="1000" b="0">
                <a:solidFill>
                  <a:srgbClr val="607185"/>
                </a:solidFill>
                <a:latin typeface="DejaVu Sans"/>
              </a:defRPr>
            </a:pPr>
            <a:r>
              <a:t>04 / 05</a:t>
            </a:r>
          </a:p>
        </p:txBody>
      </p:sp>
      <p:sp>
        <p:nvSpPr>
          <p:cNvPr id="9" name="Rounded Rectangle 8"/>
          <p:cNvSpPr/>
          <p:nvPr/>
        </p:nvSpPr>
        <p:spPr>
          <a:xfrm>
            <a:off x="594360" y="2825496"/>
            <a:ext cx="2560320" cy="1810512"/>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77240" y="3108960"/>
            <a:ext cx="2194560" cy="65836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1. Record it</a:t>
            </a:r>
          </a:p>
        </p:txBody>
      </p:sp>
      <p:sp>
        <p:nvSpPr>
          <p:cNvPr id="11" name="TextBox 10"/>
          <p:cNvSpPr txBox="1"/>
          <p:nvPr/>
        </p:nvSpPr>
        <p:spPr>
          <a:xfrm>
            <a:off x="777240" y="3904487"/>
            <a:ext cx="2194560" cy="594360"/>
          </a:xfrm>
          <a:prstGeom prst="rect">
            <a:avLst/>
          </a:prstGeom>
          <a:noFill/>
        </p:spPr>
        <p:txBody>
          <a:bodyPr wrap="square" lIns="0" rIns="0" tIns="0" bIns="0">
            <a:spAutoFit/>
          </a:bodyPr>
          <a:lstStyle/>
          <a:p>
            <a:pPr>
              <a:spcAft>
                <a:spcPts val="700"/>
              </a:spcAft>
              <a:defRPr sz="1500" b="0">
                <a:solidFill>
                  <a:srgbClr val="25364A"/>
                </a:solidFill>
                <a:latin typeface="DejaVu Sans"/>
              </a:defRPr>
            </a:pPr>
            <a:r>
              <a:t>Save the source</a:t>
            </a:r>
          </a:p>
          <a:p>
            <a:pPr>
              <a:spcAft>
                <a:spcPts val="700"/>
              </a:spcAft>
              <a:defRPr sz="1500" b="0">
                <a:solidFill>
                  <a:srgbClr val="25364A"/>
                </a:solidFill>
                <a:latin typeface="DejaVu Sans"/>
              </a:defRPr>
            </a:pPr>
            <a:r>
              <a:t>and its date.</a:t>
            </a:r>
          </a:p>
        </p:txBody>
      </p:sp>
      <p:sp>
        <p:nvSpPr>
          <p:cNvPr id="12" name="TextBox 11"/>
          <p:cNvSpPr txBox="1"/>
          <p:nvPr/>
        </p:nvSpPr>
        <p:spPr>
          <a:xfrm>
            <a:off x="3209544" y="3602736"/>
            <a:ext cx="219456" cy="310896"/>
          </a:xfrm>
          <a:prstGeom prst="rect">
            <a:avLst/>
          </a:prstGeom>
          <a:noFill/>
        </p:spPr>
        <p:txBody>
          <a:bodyPr wrap="square" lIns="0" rIns="0" tIns="0" bIns="0">
            <a:spAutoFit/>
          </a:bodyPr>
          <a:lstStyle/>
          <a:p>
            <a:pPr>
              <a:spcAft>
                <a:spcPts val="700"/>
              </a:spcAft>
              <a:defRPr sz="1700" b="1">
                <a:solidFill>
                  <a:srgbClr val="147D78"/>
                </a:solidFill>
                <a:latin typeface="DejaVu Sans"/>
              </a:defRPr>
            </a:pPr>
            <a:r>
              <a:t>→</a:t>
            </a:r>
          </a:p>
        </p:txBody>
      </p:sp>
      <p:sp>
        <p:nvSpPr>
          <p:cNvPr id="13" name="Rounded Rectangle 12"/>
          <p:cNvSpPr/>
          <p:nvPr/>
        </p:nvSpPr>
        <p:spPr>
          <a:xfrm>
            <a:off x="3410712" y="2825496"/>
            <a:ext cx="2560320" cy="1810512"/>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593592" y="3108960"/>
            <a:ext cx="2194560" cy="65836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2. Find links</a:t>
            </a:r>
          </a:p>
        </p:txBody>
      </p:sp>
      <p:sp>
        <p:nvSpPr>
          <p:cNvPr id="15" name="TextBox 14"/>
          <p:cNvSpPr txBox="1"/>
          <p:nvPr/>
        </p:nvSpPr>
        <p:spPr>
          <a:xfrm>
            <a:off x="3593592" y="3904487"/>
            <a:ext cx="2194560" cy="594360"/>
          </a:xfrm>
          <a:prstGeom prst="rect">
            <a:avLst/>
          </a:prstGeom>
          <a:noFill/>
        </p:spPr>
        <p:txBody>
          <a:bodyPr wrap="square" lIns="0" rIns="0" tIns="0" bIns="0">
            <a:spAutoFit/>
          </a:bodyPr>
          <a:lstStyle/>
          <a:p>
            <a:pPr>
              <a:spcAft>
                <a:spcPts val="700"/>
              </a:spcAft>
              <a:defRPr sz="1500" b="0">
                <a:solidFill>
                  <a:srgbClr val="25364A"/>
                </a:solidFill>
                <a:latin typeface="DejaVu Sans"/>
              </a:defRPr>
            </a:pPr>
            <a:r>
              <a:t>List paragraphs</a:t>
            </a:r>
          </a:p>
          <a:p>
            <a:pPr>
              <a:spcAft>
                <a:spcPts val="700"/>
              </a:spcAft>
              <a:defRPr sz="1500" b="0">
                <a:solidFill>
                  <a:srgbClr val="25364A"/>
                </a:solidFill>
                <a:latin typeface="DejaVu Sans"/>
              </a:defRPr>
            </a:pPr>
            <a:r>
              <a:t>that may be affected.</a:t>
            </a:r>
          </a:p>
        </p:txBody>
      </p:sp>
      <p:sp>
        <p:nvSpPr>
          <p:cNvPr id="16" name="TextBox 15"/>
          <p:cNvSpPr txBox="1"/>
          <p:nvPr/>
        </p:nvSpPr>
        <p:spPr>
          <a:xfrm>
            <a:off x="6025896" y="3602736"/>
            <a:ext cx="219456" cy="310896"/>
          </a:xfrm>
          <a:prstGeom prst="rect">
            <a:avLst/>
          </a:prstGeom>
          <a:noFill/>
        </p:spPr>
        <p:txBody>
          <a:bodyPr wrap="square" lIns="0" rIns="0" tIns="0" bIns="0">
            <a:spAutoFit/>
          </a:bodyPr>
          <a:lstStyle/>
          <a:p>
            <a:pPr>
              <a:spcAft>
                <a:spcPts val="700"/>
              </a:spcAft>
              <a:defRPr sz="1700" b="1">
                <a:solidFill>
                  <a:srgbClr val="147D78"/>
                </a:solidFill>
                <a:latin typeface="DejaVu Sans"/>
              </a:defRPr>
            </a:pPr>
            <a:r>
              <a:t>→</a:t>
            </a:r>
          </a:p>
        </p:txBody>
      </p:sp>
      <p:sp>
        <p:nvSpPr>
          <p:cNvPr id="17" name="Rounded Rectangle 16"/>
          <p:cNvSpPr/>
          <p:nvPr/>
        </p:nvSpPr>
        <p:spPr>
          <a:xfrm>
            <a:off x="6227064" y="2825496"/>
            <a:ext cx="2560320" cy="1810512"/>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409944" y="3108960"/>
            <a:ext cx="2194560" cy="65836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3. Lawyer reviews</a:t>
            </a:r>
          </a:p>
        </p:txBody>
      </p:sp>
      <p:sp>
        <p:nvSpPr>
          <p:cNvPr id="19" name="TextBox 18"/>
          <p:cNvSpPr txBox="1"/>
          <p:nvPr/>
        </p:nvSpPr>
        <p:spPr>
          <a:xfrm>
            <a:off x="6409944" y="3904487"/>
            <a:ext cx="2194560" cy="594360"/>
          </a:xfrm>
          <a:prstGeom prst="rect">
            <a:avLst/>
          </a:prstGeom>
          <a:noFill/>
        </p:spPr>
        <p:txBody>
          <a:bodyPr wrap="square" lIns="0" rIns="0" tIns="0" bIns="0">
            <a:spAutoFit/>
          </a:bodyPr>
          <a:lstStyle/>
          <a:p>
            <a:pPr>
              <a:spcAft>
                <a:spcPts val="700"/>
              </a:spcAft>
              <a:defRPr sz="1500" b="0">
                <a:solidFill>
                  <a:srgbClr val="25364A"/>
                </a:solidFill>
                <a:latin typeface="DejaVu Sans"/>
              </a:defRPr>
            </a:pPr>
            <a:r>
              <a:t>Confirm whether</a:t>
            </a:r>
          </a:p>
          <a:p>
            <a:pPr>
              <a:spcAft>
                <a:spcPts val="700"/>
              </a:spcAft>
              <a:defRPr sz="1500" b="0">
                <a:solidFill>
                  <a:srgbClr val="25364A"/>
                </a:solidFill>
                <a:latin typeface="DejaVu Sans"/>
              </a:defRPr>
            </a:pPr>
            <a:r>
              <a:t>a rule should change.</a:t>
            </a:r>
          </a:p>
        </p:txBody>
      </p:sp>
      <p:sp>
        <p:nvSpPr>
          <p:cNvPr id="20" name="TextBox 19"/>
          <p:cNvSpPr txBox="1"/>
          <p:nvPr/>
        </p:nvSpPr>
        <p:spPr>
          <a:xfrm>
            <a:off x="8842248" y="3602736"/>
            <a:ext cx="219456" cy="310896"/>
          </a:xfrm>
          <a:prstGeom prst="rect">
            <a:avLst/>
          </a:prstGeom>
          <a:noFill/>
        </p:spPr>
        <p:txBody>
          <a:bodyPr wrap="square" lIns="0" rIns="0" tIns="0" bIns="0">
            <a:spAutoFit/>
          </a:bodyPr>
          <a:lstStyle/>
          <a:p>
            <a:pPr>
              <a:spcAft>
                <a:spcPts val="700"/>
              </a:spcAft>
              <a:defRPr sz="1700" b="1">
                <a:solidFill>
                  <a:srgbClr val="147D78"/>
                </a:solidFill>
                <a:latin typeface="DejaVu Sans"/>
              </a:defRPr>
            </a:pPr>
            <a:r>
              <a:t>→</a:t>
            </a:r>
          </a:p>
        </p:txBody>
      </p:sp>
      <p:sp>
        <p:nvSpPr>
          <p:cNvPr id="21" name="Rounded Rectangle 20"/>
          <p:cNvSpPr/>
          <p:nvPr/>
        </p:nvSpPr>
        <p:spPr>
          <a:xfrm>
            <a:off x="9043416" y="2825496"/>
            <a:ext cx="2560320" cy="1810512"/>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226296" y="3108960"/>
            <a:ext cx="2194560" cy="658368"/>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4. Check the change</a:t>
            </a:r>
          </a:p>
        </p:txBody>
      </p:sp>
      <p:sp>
        <p:nvSpPr>
          <p:cNvPr id="23" name="TextBox 22"/>
          <p:cNvSpPr txBox="1"/>
          <p:nvPr/>
        </p:nvSpPr>
        <p:spPr>
          <a:xfrm>
            <a:off x="9226296" y="3904487"/>
            <a:ext cx="2194560" cy="594360"/>
          </a:xfrm>
          <a:prstGeom prst="rect">
            <a:avLst/>
          </a:prstGeom>
          <a:noFill/>
        </p:spPr>
        <p:txBody>
          <a:bodyPr wrap="square" lIns="0" rIns="0" tIns="0" bIns="0">
            <a:spAutoFit/>
          </a:bodyPr>
          <a:lstStyle/>
          <a:p>
            <a:pPr>
              <a:spcAft>
                <a:spcPts val="700"/>
              </a:spcAft>
              <a:defRPr sz="1500" b="0">
                <a:solidFill>
                  <a:srgbClr val="25364A"/>
                </a:solidFill>
                <a:latin typeface="DejaVu Sans"/>
              </a:defRPr>
            </a:pPr>
            <a:r>
              <a:t>Compare agreed cases;</a:t>
            </a:r>
          </a:p>
          <a:p>
            <a:pPr>
              <a:spcAft>
                <a:spcPts val="700"/>
              </a:spcAft>
              <a:defRPr sz="1500" b="0">
                <a:solidFill>
                  <a:srgbClr val="25364A"/>
                </a:solidFill>
                <a:latin typeface="DejaVu Sans"/>
              </a:defRPr>
            </a:pPr>
            <a:r>
              <a:t>review differences.</a:t>
            </a:r>
          </a:p>
        </p:txBody>
      </p:sp>
      <p:sp>
        <p:nvSpPr>
          <p:cNvPr id="24" name="Rounded Rectangle 23"/>
          <p:cNvSpPr/>
          <p:nvPr/>
        </p:nvSpPr>
        <p:spPr>
          <a:xfrm>
            <a:off x="594360" y="5239512"/>
            <a:ext cx="11000232" cy="749808"/>
          </a:xfrm>
          <a:prstGeom prst="roundRect">
            <a:avLst>
              <a:gd name="adj" fmla="val 10000"/>
            </a:avLst>
          </a:prstGeom>
          <a:solidFill>
            <a:srgbClr val="E8F2E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59536" y="5468112"/>
            <a:ext cx="10497312" cy="365760"/>
          </a:xfrm>
          <a:prstGeom prst="rect">
            <a:avLst/>
          </a:prstGeom>
          <a:noFill/>
        </p:spPr>
        <p:txBody>
          <a:bodyPr wrap="square" lIns="0" rIns="0" tIns="0" bIns="0">
            <a:spAutoFit/>
          </a:bodyPr>
          <a:lstStyle/>
          <a:p>
            <a:pPr>
              <a:spcAft>
                <a:spcPts val="700"/>
              </a:spcAft>
              <a:defRPr sz="1800" b="1">
                <a:solidFill>
                  <a:srgbClr val="162B43"/>
                </a:solidFill>
                <a:latin typeface="DejaVu Sans"/>
              </a:defRPr>
            </a:pPr>
            <a:r>
              <a:t>The review record shows what changed, why, and which cases were checked.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47D7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47472"/>
            <a:ext cx="10972800"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MY CONTRIBUTION · A PRACTICAL STARTING POINT</a:t>
            </a:r>
          </a:p>
        </p:txBody>
      </p:sp>
      <p:sp>
        <p:nvSpPr>
          <p:cNvPr id="4" name="TextBox 3"/>
          <p:cNvSpPr txBox="1"/>
          <p:nvPr/>
        </p:nvSpPr>
        <p:spPr>
          <a:xfrm>
            <a:off x="594360" y="832104"/>
            <a:ext cx="10972800" cy="914400"/>
          </a:xfrm>
          <a:prstGeom prst="rect">
            <a:avLst/>
          </a:prstGeom>
          <a:noFill/>
        </p:spPr>
        <p:txBody>
          <a:bodyPr wrap="square" lIns="0" rIns="0" tIns="0" bIns="0">
            <a:spAutoFit/>
          </a:bodyPr>
          <a:lstStyle/>
          <a:p>
            <a:pPr>
              <a:spcAft>
                <a:spcPts val="700"/>
              </a:spcAft>
              <a:defRPr sz="3000" b="1">
                <a:solidFill>
                  <a:srgbClr val="162B43"/>
                </a:solidFill>
                <a:latin typeface="DejaVu Sans"/>
              </a:defRPr>
            </a:pPr>
            <a:r>
              <a:t>One workflow. A small pilot. Evidence to review.</a:t>
            </a:r>
          </a:p>
        </p:txBody>
      </p:sp>
      <p:sp>
        <p:nvSpPr>
          <p:cNvPr id="5" name="TextBox 4"/>
          <p:cNvSpPr txBox="1"/>
          <p:nvPr/>
        </p:nvSpPr>
        <p:spPr>
          <a:xfrm>
            <a:off x="594360" y="1792224"/>
            <a:ext cx="10972800" cy="585216"/>
          </a:xfrm>
          <a:prstGeom prst="rect">
            <a:avLst/>
          </a:prstGeom>
          <a:noFill/>
        </p:spPr>
        <p:txBody>
          <a:bodyPr wrap="square" lIns="0" rIns="0" tIns="0" bIns="0">
            <a:spAutoFit/>
          </a:bodyPr>
          <a:lstStyle/>
          <a:p>
            <a:pPr>
              <a:spcAft>
                <a:spcPts val="700"/>
              </a:spcAft>
              <a:defRPr sz="1600" b="0">
                <a:solidFill>
                  <a:srgbClr val="607185"/>
                </a:solidFill>
                <a:latin typeface="DejaVu Sans"/>
              </a:defRPr>
            </a:pPr>
            <a:r>
              <a:t>Learn the process first; agree on examples and a useful measure with the team.</a:t>
            </a:r>
          </a:p>
        </p:txBody>
      </p:sp>
      <p:sp>
        <p:nvSpPr>
          <p:cNvPr id="6" name="Rectangle 5"/>
          <p:cNvSpPr/>
          <p:nvPr/>
        </p:nvSpPr>
        <p:spPr>
          <a:xfrm>
            <a:off x="594360" y="6409944"/>
            <a:ext cx="11000232" cy="10972"/>
          </a:xfrm>
          <a:prstGeom prst="rect">
            <a:avLst/>
          </a:prstGeom>
          <a:solidFill>
            <a:srgbClr val="DEE6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28816"/>
            <a:ext cx="9784080" cy="182880"/>
          </a:xfrm>
          <a:prstGeom prst="rect">
            <a:avLst/>
          </a:prstGeom>
          <a:noFill/>
        </p:spPr>
        <p:txBody>
          <a:bodyPr wrap="square" lIns="0" rIns="0" tIns="0" bIns="0">
            <a:spAutoFit/>
          </a:bodyPr>
          <a:lstStyle/>
          <a:p>
            <a:pPr>
              <a:spcAft>
                <a:spcPts val="700"/>
              </a:spcAft>
              <a:defRPr sz="850" b="0">
                <a:solidFill>
                  <a:srgbClr val="607185"/>
                </a:solidFill>
                <a:latin typeface="DejaVu Sans"/>
              </a:defRPr>
            </a:pPr>
            <a:r>
              <a:t>Project demonstrations use synthetic legal examples. Earlier research contribution is separate from the recent implementations.</a:t>
            </a:r>
          </a:p>
        </p:txBody>
      </p:sp>
      <p:sp>
        <p:nvSpPr>
          <p:cNvPr id="8" name="TextBox 7"/>
          <p:cNvSpPr txBox="1"/>
          <p:nvPr/>
        </p:nvSpPr>
        <p:spPr>
          <a:xfrm>
            <a:off x="10835640" y="6492240"/>
            <a:ext cx="777240" cy="228600"/>
          </a:xfrm>
          <a:prstGeom prst="rect">
            <a:avLst/>
          </a:prstGeom>
          <a:noFill/>
        </p:spPr>
        <p:txBody>
          <a:bodyPr wrap="square" lIns="0" rIns="0" tIns="0" bIns="0">
            <a:spAutoFit/>
          </a:bodyPr>
          <a:lstStyle/>
          <a:p>
            <a:pPr>
              <a:spcAft>
                <a:spcPts val="700"/>
              </a:spcAft>
              <a:defRPr sz="1000" b="0">
                <a:solidFill>
                  <a:srgbClr val="607185"/>
                </a:solidFill>
                <a:latin typeface="DejaVu Sans"/>
              </a:defRPr>
            </a:pPr>
            <a:r>
              <a:t>05 / 05</a:t>
            </a:r>
          </a:p>
        </p:txBody>
      </p:sp>
      <p:sp>
        <p:nvSpPr>
          <p:cNvPr id="9" name="Rounded Rectangle 8"/>
          <p:cNvSpPr/>
          <p:nvPr/>
        </p:nvSpPr>
        <p:spPr>
          <a:xfrm>
            <a:off x="594360" y="2724912"/>
            <a:ext cx="5486400" cy="2953512"/>
          </a:xfrm>
          <a:prstGeom prst="roundRect">
            <a:avLst>
              <a:gd name="adj" fmla="val 10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41248" y="2980944"/>
            <a:ext cx="4992624"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RELEVANT BACKGROUND</a:t>
            </a:r>
          </a:p>
        </p:txBody>
      </p:sp>
      <p:sp>
        <p:nvSpPr>
          <p:cNvPr id="11" name="TextBox 10"/>
          <p:cNvSpPr txBox="1"/>
          <p:nvPr/>
        </p:nvSpPr>
        <p:spPr>
          <a:xfrm>
            <a:off x="841248" y="3456432"/>
            <a:ext cx="4937760" cy="777240"/>
          </a:xfrm>
          <a:prstGeom prst="rect">
            <a:avLst/>
          </a:prstGeom>
          <a:noFill/>
        </p:spPr>
        <p:txBody>
          <a:bodyPr wrap="square" lIns="0" rIns="0" tIns="0" bIns="0">
            <a:spAutoFit/>
          </a:bodyPr>
          <a:lstStyle/>
          <a:p>
            <a:pPr>
              <a:spcAft>
                <a:spcPts val="700"/>
              </a:spcAft>
              <a:defRPr sz="1700" b="1">
                <a:solidFill>
                  <a:srgbClr val="162B43"/>
                </a:solidFill>
                <a:latin typeface="DejaVu Sans"/>
              </a:defRPr>
            </a:pPr>
            <a:r>
              <a:t>Earlier research: literature review,</a:t>
            </a:r>
          </a:p>
          <a:p>
            <a:pPr>
              <a:spcAft>
                <a:spcPts val="700"/>
              </a:spcAft>
              <a:defRPr sz="1700" b="1">
                <a:solidFill>
                  <a:srgbClr val="162B43"/>
                </a:solidFill>
                <a:latin typeface="DejaVu Sans"/>
              </a:defRPr>
            </a:pPr>
            <a:r>
              <a:t>problem identification and initial design.</a:t>
            </a:r>
          </a:p>
        </p:txBody>
      </p:sp>
      <p:sp>
        <p:nvSpPr>
          <p:cNvPr id="12" name="TextBox 11"/>
          <p:cNvSpPr txBox="1"/>
          <p:nvPr/>
        </p:nvSpPr>
        <p:spPr>
          <a:xfrm>
            <a:off x="841248" y="4517136"/>
            <a:ext cx="4937760" cy="594360"/>
          </a:xfrm>
          <a:prstGeom prst="rect">
            <a:avLst/>
          </a:prstGeom>
          <a:noFill/>
        </p:spPr>
        <p:txBody>
          <a:bodyPr wrap="square" lIns="0" rIns="0" tIns="0" bIns="0">
            <a:spAutoFit/>
          </a:bodyPr>
          <a:lstStyle/>
          <a:p>
            <a:pPr>
              <a:spcAft>
                <a:spcPts val="700"/>
              </a:spcAft>
              <a:defRPr sz="1600" b="0">
                <a:solidFill>
                  <a:srgbClr val="25364A"/>
                </a:solidFill>
                <a:latin typeface="DejaVu Sans"/>
              </a:defRPr>
            </a:pPr>
            <a:r>
              <a:t>Recent demos: explainable drafting checks</a:t>
            </a:r>
          </a:p>
          <a:p>
            <a:pPr>
              <a:spcAft>
                <a:spcPts val="700"/>
              </a:spcAft>
              <a:defRPr sz="1600" b="0">
                <a:solidFill>
                  <a:srgbClr val="25364A"/>
                </a:solidFill>
                <a:latin typeface="DejaVu Sans"/>
              </a:defRPr>
            </a:pPr>
            <a:r>
              <a:t>and source-backed retrieval.</a:t>
            </a:r>
          </a:p>
        </p:txBody>
      </p:sp>
      <p:sp>
        <p:nvSpPr>
          <p:cNvPr id="13" name="TextBox 12"/>
          <p:cNvSpPr txBox="1"/>
          <p:nvPr/>
        </p:nvSpPr>
        <p:spPr>
          <a:xfrm>
            <a:off x="841248" y="5202936"/>
            <a:ext cx="2286000" cy="274320"/>
          </a:xfrm>
          <a:prstGeom prst="rect">
            <a:avLst/>
          </a:prstGeom>
          <a:noFill/>
        </p:spPr>
        <p:txBody>
          <a:bodyPr wrap="square" lIns="0" rIns="0" tIns="0" bIns="0">
            <a:spAutoFit/>
          </a:bodyPr>
          <a:lstStyle/>
          <a:p>
            <a:pPr>
              <a:spcAft>
                <a:spcPts val="700"/>
              </a:spcAft>
              <a:defRPr sz="1200" b="1">
                <a:solidFill>
                  <a:srgbClr val="147D78"/>
                </a:solidFill>
                <a:latin typeface="DejaVu Sans"/>
              </a:defRPr>
            </a:pPr>
            <a:r>
              <a:rPr>
                <a:hlinkClick r:id="rId2"/>
              </a:rPr>
              <a:t>UkilRAG ↗</a:t>
            </a:r>
          </a:p>
        </p:txBody>
      </p:sp>
      <p:sp>
        <p:nvSpPr>
          <p:cNvPr id="14" name="TextBox 13"/>
          <p:cNvSpPr txBox="1"/>
          <p:nvPr/>
        </p:nvSpPr>
        <p:spPr>
          <a:xfrm>
            <a:off x="3346704" y="5202936"/>
            <a:ext cx="2286000" cy="274320"/>
          </a:xfrm>
          <a:prstGeom prst="rect">
            <a:avLst/>
          </a:prstGeom>
          <a:noFill/>
        </p:spPr>
        <p:txBody>
          <a:bodyPr wrap="square" lIns="0" rIns="0" tIns="0" bIns="0">
            <a:spAutoFit/>
          </a:bodyPr>
          <a:lstStyle/>
          <a:p>
            <a:pPr>
              <a:spcAft>
                <a:spcPts val="700"/>
              </a:spcAft>
              <a:defRPr sz="1200" b="1">
                <a:solidFill>
                  <a:srgbClr val="147D78"/>
                </a:solidFill>
                <a:latin typeface="DejaVu Sans"/>
              </a:defRPr>
            </a:pPr>
            <a:r>
              <a:rPr>
                <a:hlinkClick r:id="rId3"/>
              </a:rPr>
              <a:t>LearnRAG ↗</a:t>
            </a:r>
          </a:p>
        </p:txBody>
      </p:sp>
      <p:sp>
        <p:nvSpPr>
          <p:cNvPr id="15" name="TextBox 14"/>
          <p:cNvSpPr txBox="1"/>
          <p:nvPr/>
        </p:nvSpPr>
        <p:spPr>
          <a:xfrm>
            <a:off x="6565392" y="2962656"/>
            <a:ext cx="4846320" cy="274320"/>
          </a:xfrm>
          <a:prstGeom prst="rect">
            <a:avLst/>
          </a:prstGeom>
          <a:noFill/>
        </p:spPr>
        <p:txBody>
          <a:bodyPr wrap="square" lIns="0" rIns="0" tIns="0" bIns="0">
            <a:spAutoFit/>
          </a:bodyPr>
          <a:lstStyle/>
          <a:p>
            <a:pPr>
              <a:spcAft>
                <a:spcPts val="700"/>
              </a:spcAft>
              <a:defRPr sz="1100" b="1">
                <a:solidFill>
                  <a:srgbClr val="147D78"/>
                </a:solidFill>
                <a:latin typeface="DejaVu Sans"/>
              </a:defRPr>
            </a:pPr>
            <a:r>
              <a:t>PROPOSED FIRST CONTRIBUTION</a:t>
            </a:r>
          </a:p>
        </p:txBody>
      </p:sp>
      <p:sp>
        <p:nvSpPr>
          <p:cNvPr id="16" name="TextBox 15"/>
          <p:cNvSpPr txBox="1"/>
          <p:nvPr/>
        </p:nvSpPr>
        <p:spPr>
          <a:xfrm>
            <a:off x="6565392" y="3483864"/>
            <a:ext cx="4846320" cy="1737360"/>
          </a:xfrm>
          <a:prstGeom prst="rect">
            <a:avLst/>
          </a:prstGeom>
          <a:noFill/>
        </p:spPr>
        <p:txBody>
          <a:bodyPr wrap="square" lIns="0" rIns="0" tIns="0" bIns="0">
            <a:spAutoFit/>
          </a:bodyPr>
          <a:lstStyle/>
          <a:p>
            <a:pPr>
              <a:spcAft>
                <a:spcPts val="700"/>
              </a:spcAft>
              <a:defRPr sz="2000" b="1">
                <a:solidFill>
                  <a:srgbClr val="162B43"/>
                </a:solidFill>
                <a:latin typeface="DejaVu Sans"/>
              </a:defRPr>
            </a:pPr>
            <a:r>
              <a:t>Map one workflow with a lawyer.</a:t>
            </a:r>
          </a:p>
          <a:p>
            <a:pPr>
              <a:spcAft>
                <a:spcPts val="700"/>
              </a:spcAft>
              <a:defRPr sz="2000" b="1">
                <a:solidFill>
                  <a:srgbClr val="162B43"/>
                </a:solidFill>
                <a:latin typeface="DejaVu Sans"/>
              </a:defRPr>
            </a:pPr>
            <a:r>
              <a:t>Build and check one small pilot.</a:t>
            </a:r>
          </a:p>
          <a:p>
            <a:pPr>
              <a:spcAft>
                <a:spcPts val="700"/>
              </a:spcAft>
              <a:defRPr sz="2000" b="1">
                <a:solidFill>
                  <a:srgbClr val="162B43"/>
                </a:solidFill>
                <a:latin typeface="DejaVu Sans"/>
              </a:defRPr>
            </a:pPr>
            <a:r>
              <a:t>Review results before expanding.</a:t>
            </a:r>
          </a:p>
        </p:txBody>
      </p:sp>
      <p:sp>
        <p:nvSpPr>
          <p:cNvPr id="17" name="TextBox 16"/>
          <p:cNvSpPr txBox="1"/>
          <p:nvPr/>
        </p:nvSpPr>
        <p:spPr>
          <a:xfrm>
            <a:off x="6565392" y="5148072"/>
            <a:ext cx="4846320" cy="640080"/>
          </a:xfrm>
          <a:prstGeom prst="rect">
            <a:avLst/>
          </a:prstGeom>
          <a:noFill/>
        </p:spPr>
        <p:txBody>
          <a:bodyPr wrap="square" lIns="0" rIns="0" tIns="0" bIns="0">
            <a:spAutoFit/>
          </a:bodyPr>
          <a:lstStyle/>
          <a:p>
            <a:pPr>
              <a:spcAft>
                <a:spcPts val="700"/>
              </a:spcAft>
              <a:defRPr sz="1400" b="0">
                <a:solidFill>
                  <a:srgbClr val="607185"/>
                </a:solidFill>
                <a:latin typeface="DejaVu Sans"/>
              </a:defRPr>
            </a:pPr>
            <a:r>
              <a:t>Measure review effort, rework and</a:t>
            </a:r>
          </a:p>
          <a:p>
            <a:pPr>
              <a:spcAft>
                <a:spcPts val="700"/>
              </a:spcAft>
              <a:defRPr sz="1400" b="0">
                <a:solidFill>
                  <a:srgbClr val="607185"/>
                </a:solidFill>
                <a:latin typeface="DejaVu Sans"/>
              </a:defRPr>
            </a:pPr>
            <a:r>
              <a:t>unexpected changes—not promises.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Legal Challenges to Reviewable Workflows</dc:title>
  <dc:subject>Docitalis interview discussion — compact, plain-language edition</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