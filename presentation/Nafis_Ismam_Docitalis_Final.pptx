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“I understand the role as learning how lawyers make decisions and representing approved reasoning as explicit rules. The system then prepares a consistent draft and explains its choices. AI can support review, but legal strategy and applicability remain with lawyers.” This is based on the supplied posting, not access to the internal system. Public context: https://docitalis.com/.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“My role covered literature review, problem identification and initial design. I helped explore section-level organisation and parent Act metadata so retrieved passages could be traced to their sources. I later moved to an LLM inference project while a sub-team continued the legal work.” Do not claim implementation of the final research pipeline. A lawyer discussion motivated the Bangladesh/India confusion concern. Act names alone cannot settle jurisdiction; verified source, jurisdiction and version metadata are needed. The recent demo is a separate implementation; explain assistance and personal work accurately when discussing ownership.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Cell 1 creates a catalogue with source IDs, Act names, section numbers, prepared summaries, status and judgment notes. Cell 2 creates reusable paragraph definitions: conditions, prerequisites, configured exclusions, order, source links and prepared text. The shared ID C167 connects source and paragraph. M5 needs records AND selected M3, has order 50, and cites C167. Ten records and seven modules are definitions, not a draft. Version 1.2.0 and its snapshot date are manually assigned. Summaries and judgment notes are illustrative, not verified full official law. Legal time limits are not calculated by the legacy limitation_defense flag.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55 seconds. These are the sample facts and actual decisions. Missing optional flags default to False. Every block must satisfy its own required facts AND have every prerequisite included. Conditions select M1, M2, M3, M5 and M7; M4 and M6 are skipped. Both configured exclusive routes would raise an error before text is returned. The selected prepared templates are filled with the name, case ID and summary, then joined in order. The trace records both inclusion and skipping with expected/actual facts, prerequisites, source IDs and version fingerprints. Same facts and rule snapshot produce the same result. It is not LLM drafting or automated legal fact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The two-part exact-source query first has a best score of 0.787877, below the uncalibrated 0.80 threshold, so nothing is accepted. The method splits on the semicolon, searches each exact source text, and accepts C54 and P420 at approximately 1.0. It interleaves ranked groups and removes duplicate IDs. No model performs this split: it uses explicit text separators. Ordinary case-summary retrieval and both split parts accept no sources, and are returned as unresolved. Retrieval does not determine strategy. Separately, review derives required citations from module definitions and reads markers from actual text. The sample has no missing markers but newer recorded notes produce three module-source warnings. Notes are manually entered and simulated; the program does not discover judgments or determine legal applicability. TF-IDF matching is word-based and the threshold is not an accuracy percentage.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Reproducibility compares document and full-output fingerprints across 25 runs. Reference parity compares four synthetic cases against independently written module sequences, citation lists and actual text markers. The conflict test expects an exception when both teaching routes are requested, and checks consistent messages. The update test begins with no notes, adds a simulated C167 note and expects M3 and M5 warnings. Additional checks remove C54, add unknown C999 and exercise retrieval paths. All four groups pass. These checks were specified for this role-focused demonstration, not taken as an evaluation suite from the research paper. Twenty-five is a demonstration count, not a statistical guarantee. Synthetic fixtures are not genuinely lawyer-approved historical cases. Passing checks software expectations, not legal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“The demo uses summaries, fictional cases and simple checks. With your team, I would start from one approved workflow and reviewed reference set, implement a bounded task, then inspect results with lawyers and engineers.” Production work needs jurisdiction/version/source metadata, approved test cases, access controls and technical review. Evaluate thresholds on labeled queries rather than assume 0.80 transfers to another corpus. Assess claim-to-source support rather than just marker presence. The prototype lacks production storage, a generative legal reviewer and an appeals workflow. Keep these as development scope, not completed features. Close with the slide’s question. Ask about technical supervision and legal approval if not covered.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C4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NAFIS ISMAM · MY UNDERSTANDING OF THE ROLE</a:t>
            </a:r>
          </a:p>
        </p:txBody>
      </p:sp>
      <p:sp>
        <p:nvSpPr>
          <p:cNvPr id="3" name="TextBox 2"/>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A8BFCD"/>
                </a:solidFill>
                <a:latin typeface="DejaVu Sans"/>
              </a:defRPr>
            </a:pPr>
            <a:r>
              <a:t>Basis: original internship posting supplied by the candidate. Proposed understanding, not an internal-system assessment.</a:t>
            </a:r>
          </a:p>
        </p:txBody>
      </p:sp>
      <p:sp>
        <p:nvSpPr>
          <p:cNvPr id="4" name="TextBox 3"/>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A8BFCD"/>
                </a:solidFill>
                <a:latin typeface="DejaVu Sans"/>
              </a:defRPr>
            </a:pPr>
            <a:r>
              <a:t>01 / 07</a:t>
            </a:r>
          </a:p>
        </p:txBody>
      </p:sp>
      <p:sp>
        <p:nvSpPr>
          <p:cNvPr id="5" name="TextBox 4"/>
          <p:cNvSpPr txBox="1"/>
          <p:nvPr/>
        </p:nvSpPr>
        <p:spPr>
          <a:xfrm>
            <a:off x="640080" y="1353312"/>
            <a:ext cx="6126480" cy="1792224"/>
          </a:xfrm>
          <a:prstGeom prst="rect">
            <a:avLst/>
          </a:prstGeom>
          <a:noFill/>
        </p:spPr>
        <p:txBody>
          <a:bodyPr wrap="square" lIns="0" rIns="0" tIns="0" bIns="0">
            <a:spAutoFit/>
          </a:bodyPr>
          <a:lstStyle/>
          <a:p>
            <a:pPr>
              <a:spcAft>
                <a:spcPts val="500"/>
              </a:spcAft>
              <a:defRPr sz="3600" b="1">
                <a:solidFill>
                  <a:srgbClr val="FFFFFF"/>
                </a:solidFill>
                <a:latin typeface="DejaVu Sans"/>
              </a:defRPr>
            </a:pPr>
            <a:r>
              <a:t>Turn legal expertise</a:t>
            </a:r>
          </a:p>
          <a:p>
            <a:pPr>
              <a:spcAft>
                <a:spcPts val="500"/>
              </a:spcAft>
              <a:defRPr sz="3600" b="1">
                <a:solidFill>
                  <a:srgbClr val="FFFFFF"/>
                </a:solidFill>
                <a:latin typeface="DejaVu Sans"/>
              </a:defRPr>
            </a:pPr>
            <a:r>
              <a:t>into reliable software.</a:t>
            </a:r>
          </a:p>
        </p:txBody>
      </p:sp>
      <p:sp>
        <p:nvSpPr>
          <p:cNvPr id="6" name="TextBox 5"/>
          <p:cNvSpPr txBox="1"/>
          <p:nvPr/>
        </p:nvSpPr>
        <p:spPr>
          <a:xfrm>
            <a:off x="676656" y="3685032"/>
            <a:ext cx="5285232" cy="950976"/>
          </a:xfrm>
          <a:prstGeom prst="rect">
            <a:avLst/>
          </a:prstGeom>
          <a:noFill/>
        </p:spPr>
        <p:txBody>
          <a:bodyPr wrap="square" lIns="0" rIns="0" tIns="0" bIns="0">
            <a:spAutoFit/>
          </a:bodyPr>
          <a:lstStyle/>
          <a:p>
            <a:pPr>
              <a:spcAft>
                <a:spcPts val="500"/>
              </a:spcAft>
              <a:defRPr sz="2000" b="0">
                <a:solidFill>
                  <a:srgbClr val="D5E6ED"/>
                </a:solidFill>
                <a:latin typeface="DejaVu Sans"/>
              </a:defRPr>
            </a:pPr>
            <a:r>
              <a:t>Learn the decisions.</a:t>
            </a:r>
          </a:p>
          <a:p>
            <a:pPr>
              <a:spcAft>
                <a:spcPts val="500"/>
              </a:spcAft>
              <a:defRPr sz="2000" b="0">
                <a:solidFill>
                  <a:srgbClr val="D5E6ED"/>
                </a:solidFill>
                <a:latin typeface="DejaVu Sans"/>
              </a:defRPr>
            </a:pPr>
            <a:r>
              <a:t>Make the rules explicit.</a:t>
            </a:r>
          </a:p>
          <a:p>
            <a:pPr>
              <a:spcAft>
                <a:spcPts val="500"/>
              </a:spcAft>
              <a:defRPr sz="2000" b="0">
                <a:solidFill>
                  <a:srgbClr val="D5E6ED"/>
                </a:solidFill>
                <a:latin typeface="DejaVu Sans"/>
              </a:defRPr>
            </a:pPr>
            <a:r>
              <a:t>Check the result with the team.</a:t>
            </a:r>
          </a:p>
        </p:txBody>
      </p:sp>
      <p:sp>
        <p:nvSpPr>
          <p:cNvPr id="7" name="TextBox 6"/>
          <p:cNvSpPr txBox="1"/>
          <p:nvPr/>
        </p:nvSpPr>
        <p:spPr>
          <a:xfrm>
            <a:off x="676656" y="5504688"/>
            <a:ext cx="5394960" cy="530352"/>
          </a:xfrm>
          <a:prstGeom prst="rect">
            <a:avLst/>
          </a:prstGeom>
          <a:noFill/>
        </p:spPr>
        <p:txBody>
          <a:bodyPr wrap="square" lIns="0" rIns="0" tIns="0" bIns="0">
            <a:spAutoFit/>
          </a:bodyPr>
          <a:lstStyle/>
          <a:p>
            <a:pPr>
              <a:spcAft>
                <a:spcPts val="500"/>
              </a:spcAft>
              <a:defRPr sz="1600" b="1">
                <a:solidFill>
                  <a:srgbClr val="8DD9C9"/>
                </a:solidFill>
                <a:latin typeface="DejaVu Sans"/>
              </a:defRPr>
            </a:pPr>
            <a:r>
              <a:t>The lawyer decides legal applicability.</a:t>
            </a:r>
          </a:p>
        </p:txBody>
      </p:sp>
      <p:sp>
        <p:nvSpPr>
          <p:cNvPr id="8" name="Rounded Rectangle 7"/>
          <p:cNvSpPr/>
          <p:nvPr/>
        </p:nvSpPr>
        <p:spPr>
          <a:xfrm>
            <a:off x="7114032" y="1389888"/>
            <a:ext cx="4434840" cy="1161288"/>
          </a:xfrm>
          <a:prstGeom prst="roundRect">
            <a:avLst>
              <a:gd name="adj" fmla="val 6000"/>
            </a:avLst>
          </a:prstGeom>
          <a:solidFill>
            <a:srgbClr val="203F5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70064" y="1572768"/>
            <a:ext cx="3886200" cy="246888"/>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LAWYERS</a:t>
            </a:r>
          </a:p>
        </p:txBody>
      </p:sp>
      <p:sp>
        <p:nvSpPr>
          <p:cNvPr id="10" name="TextBox 9"/>
          <p:cNvSpPr txBox="1"/>
          <p:nvPr/>
        </p:nvSpPr>
        <p:spPr>
          <a:xfrm>
            <a:off x="7370064" y="1984248"/>
            <a:ext cx="3886200" cy="338328"/>
          </a:xfrm>
          <a:prstGeom prst="rect">
            <a:avLst/>
          </a:prstGeom>
          <a:noFill/>
        </p:spPr>
        <p:txBody>
          <a:bodyPr wrap="square" lIns="0" rIns="0" tIns="0" bIns="0">
            <a:spAutoFit/>
          </a:bodyPr>
          <a:lstStyle/>
          <a:p>
            <a:pPr>
              <a:spcAft>
                <a:spcPts val="500"/>
              </a:spcAft>
              <a:defRPr sz="1900" b="1">
                <a:solidFill>
                  <a:srgbClr val="FFFFFF"/>
                </a:solidFill>
                <a:latin typeface="DejaVu Sans"/>
              </a:defRPr>
            </a:pPr>
            <a:r>
              <a:t>Approve the reasoning</a:t>
            </a:r>
          </a:p>
        </p:txBody>
      </p:sp>
      <p:sp>
        <p:nvSpPr>
          <p:cNvPr id="11" name="Rounded Rectangle 10"/>
          <p:cNvSpPr/>
          <p:nvPr/>
        </p:nvSpPr>
        <p:spPr>
          <a:xfrm>
            <a:off x="7114032" y="2843784"/>
            <a:ext cx="4434840" cy="1161288"/>
          </a:xfrm>
          <a:prstGeom prst="roundRect">
            <a:avLst>
              <a:gd name="adj" fmla="val 6000"/>
            </a:avLst>
          </a:prstGeom>
          <a:solidFill>
            <a:srgbClr val="203F5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370064" y="3026664"/>
            <a:ext cx="3886200" cy="246888"/>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RULES</a:t>
            </a:r>
          </a:p>
        </p:txBody>
      </p:sp>
      <p:sp>
        <p:nvSpPr>
          <p:cNvPr id="13" name="TextBox 12"/>
          <p:cNvSpPr txBox="1"/>
          <p:nvPr/>
        </p:nvSpPr>
        <p:spPr>
          <a:xfrm>
            <a:off x="7370064" y="3438144"/>
            <a:ext cx="3886200" cy="338328"/>
          </a:xfrm>
          <a:prstGeom prst="rect">
            <a:avLst/>
          </a:prstGeom>
          <a:noFill/>
        </p:spPr>
        <p:txBody>
          <a:bodyPr wrap="square" lIns="0" rIns="0" tIns="0" bIns="0">
            <a:spAutoFit/>
          </a:bodyPr>
          <a:lstStyle/>
          <a:p>
            <a:pPr>
              <a:spcAft>
                <a:spcPts val="500"/>
              </a:spcAft>
              <a:defRPr sz="1900" b="1">
                <a:solidFill>
                  <a:srgbClr val="FFFFFF"/>
                </a:solidFill>
                <a:latin typeface="DejaVu Sans"/>
              </a:defRPr>
            </a:pPr>
            <a:r>
              <a:t>Assemble and explain</a:t>
            </a:r>
          </a:p>
        </p:txBody>
      </p:sp>
      <p:sp>
        <p:nvSpPr>
          <p:cNvPr id="14" name="Rounded Rectangle 13"/>
          <p:cNvSpPr/>
          <p:nvPr/>
        </p:nvSpPr>
        <p:spPr>
          <a:xfrm>
            <a:off x="7114032" y="4297680"/>
            <a:ext cx="4434840" cy="1161288"/>
          </a:xfrm>
          <a:prstGeom prst="roundRect">
            <a:avLst>
              <a:gd name="adj" fmla="val 6000"/>
            </a:avLst>
          </a:prstGeom>
          <a:solidFill>
            <a:srgbClr val="203F5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370064" y="4480560"/>
            <a:ext cx="3886200" cy="246888"/>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AI REVIEW</a:t>
            </a:r>
          </a:p>
        </p:txBody>
      </p:sp>
      <p:sp>
        <p:nvSpPr>
          <p:cNvPr id="16" name="TextBox 15"/>
          <p:cNvSpPr txBox="1"/>
          <p:nvPr/>
        </p:nvSpPr>
        <p:spPr>
          <a:xfrm>
            <a:off x="7370064" y="4892040"/>
            <a:ext cx="3886200" cy="338328"/>
          </a:xfrm>
          <a:prstGeom prst="rect">
            <a:avLst/>
          </a:prstGeom>
          <a:noFill/>
        </p:spPr>
        <p:txBody>
          <a:bodyPr wrap="square" lIns="0" rIns="0" tIns="0" bIns="0">
            <a:spAutoFit/>
          </a:bodyPr>
          <a:lstStyle/>
          <a:p>
            <a:pPr>
              <a:spcAft>
                <a:spcPts val="500"/>
              </a:spcAft>
              <a:defRPr sz="1900" b="1">
                <a:solidFill>
                  <a:srgbClr val="FFFFFF"/>
                </a:solidFill>
                <a:latin typeface="DejaVu Sans"/>
              </a:defRPr>
            </a:pPr>
            <a:r>
              <a:t>Suggest checks and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087F76"/>
                </a:solidFill>
                <a:latin typeface="DejaVu Sans"/>
              </a:defRPr>
            </a:pPr>
            <a:r>
              <a:t>MY PREVIOUS EXPERIENCE</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142C43"/>
                </a:solidFill>
                <a:latin typeface="DejaVu Sans"/>
              </a:defRPr>
            </a:pPr>
            <a:r>
              <a:t>My earlier work in legal question answering</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62798A"/>
                </a:solidFill>
                <a:latin typeface="DejaVu Sans"/>
              </a:defRPr>
            </a:pPr>
            <a:r>
              <a:t>North South University · Bangladeshi statutes · early research contribution</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62798A"/>
                </a:solidFill>
                <a:latin typeface="DejaVu Sans"/>
              </a:defRPr>
            </a:pPr>
            <a:r>
              <a:t>Earlier responsibilities based on candidate account. The recent prototype is separate from the published implementation.</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62798A"/>
                </a:solidFill>
                <a:latin typeface="DejaVu Sans"/>
              </a:defRPr>
            </a:pPr>
            <a:r>
              <a:t>02 / 07</a:t>
            </a:r>
          </a:p>
        </p:txBody>
      </p:sp>
      <p:sp>
        <p:nvSpPr>
          <p:cNvPr id="7" name="Rectangle 6"/>
          <p:cNvSpPr/>
          <p:nvPr/>
        </p:nvSpPr>
        <p:spPr>
          <a:xfrm>
            <a:off x="978408" y="2779776"/>
            <a:ext cx="9921240" cy="32004"/>
          </a:xfrm>
          <a:prstGeom prst="rect">
            <a:avLst/>
          </a:prstGeom>
          <a:solidFill>
            <a:srgbClr val="D8E3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758952" y="2578608"/>
            <a:ext cx="420624" cy="420624"/>
          </a:xfrm>
          <a:prstGeom prst="ellipse">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651760"/>
            <a:ext cx="283464" cy="329184"/>
          </a:xfrm>
          <a:prstGeom prst="rect">
            <a:avLst/>
          </a:prstGeom>
          <a:noFill/>
        </p:spPr>
        <p:txBody>
          <a:bodyPr wrap="square" lIns="0" rIns="0" tIns="0" bIns="0">
            <a:spAutoFit/>
          </a:bodyPr>
          <a:lstStyle/>
          <a:p>
            <a:pPr>
              <a:spcAft>
                <a:spcPts val="500"/>
              </a:spcAft>
              <a:defRPr sz="1200" b="1">
                <a:solidFill>
                  <a:srgbClr val="FFFFFF"/>
                </a:solidFill>
                <a:latin typeface="DejaVu Sans"/>
              </a:defRPr>
            </a:pPr>
            <a:r>
              <a:t>1</a:t>
            </a:r>
          </a:p>
        </p:txBody>
      </p:sp>
      <p:sp>
        <p:nvSpPr>
          <p:cNvPr id="10" name="TextBox 9"/>
          <p:cNvSpPr txBox="1"/>
          <p:nvPr/>
        </p:nvSpPr>
        <p:spPr>
          <a:xfrm>
            <a:off x="685800" y="3310128"/>
            <a:ext cx="3246120" cy="384048"/>
          </a:xfrm>
          <a:prstGeom prst="rect">
            <a:avLst/>
          </a:prstGeom>
          <a:noFill/>
        </p:spPr>
        <p:txBody>
          <a:bodyPr wrap="square" lIns="0" rIns="0" tIns="0" bIns="0">
            <a:spAutoFit/>
          </a:bodyPr>
          <a:lstStyle/>
          <a:p>
            <a:pPr>
              <a:spcAft>
                <a:spcPts val="500"/>
              </a:spcAft>
              <a:defRPr sz="2100" b="1">
                <a:solidFill>
                  <a:srgbClr val="142C43"/>
                </a:solidFill>
                <a:latin typeface="DejaVu Sans"/>
              </a:defRPr>
            </a:pPr>
            <a:r>
              <a:t>Review the problem</a:t>
            </a:r>
          </a:p>
        </p:txBody>
      </p:sp>
      <p:sp>
        <p:nvSpPr>
          <p:cNvPr id="11" name="TextBox 10"/>
          <p:cNvSpPr txBox="1"/>
          <p:nvPr/>
        </p:nvSpPr>
        <p:spPr>
          <a:xfrm>
            <a:off x="685800" y="3895344"/>
            <a:ext cx="3246120" cy="914400"/>
          </a:xfrm>
          <a:prstGeom prst="rect">
            <a:avLst/>
          </a:prstGeom>
          <a:noFill/>
        </p:spPr>
        <p:txBody>
          <a:bodyPr wrap="square" lIns="0" rIns="0" tIns="0" bIns="0">
            <a:spAutoFit/>
          </a:bodyPr>
          <a:lstStyle/>
          <a:p>
            <a:pPr>
              <a:spcAft>
                <a:spcPts val="500"/>
              </a:spcAft>
              <a:defRPr sz="1600" b="0">
                <a:solidFill>
                  <a:srgbClr val="21394D"/>
                </a:solidFill>
                <a:latin typeface="DejaVu Sans"/>
              </a:defRPr>
            </a:pPr>
            <a:r>
              <a:t>Literature review and</a:t>
            </a:r>
          </a:p>
          <a:p>
            <a:pPr>
              <a:spcAft>
                <a:spcPts val="500"/>
              </a:spcAft>
              <a:defRPr sz="1600" b="0">
                <a:solidFill>
                  <a:srgbClr val="21394D"/>
                </a:solidFill>
                <a:latin typeface="DejaVu Sans"/>
              </a:defRPr>
            </a:pPr>
            <a:r>
              <a:t>problem identification</a:t>
            </a:r>
          </a:p>
        </p:txBody>
      </p:sp>
      <p:sp>
        <p:nvSpPr>
          <p:cNvPr id="12" name="Oval 11"/>
          <p:cNvSpPr/>
          <p:nvPr/>
        </p:nvSpPr>
        <p:spPr>
          <a:xfrm>
            <a:off x="4572000" y="2578608"/>
            <a:ext cx="420624" cy="420624"/>
          </a:xfrm>
          <a:prstGeom prst="ellipse">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2584" y="2651760"/>
            <a:ext cx="283464" cy="329184"/>
          </a:xfrm>
          <a:prstGeom prst="rect">
            <a:avLst/>
          </a:prstGeom>
          <a:noFill/>
        </p:spPr>
        <p:txBody>
          <a:bodyPr wrap="square" lIns="0" rIns="0" tIns="0" bIns="0">
            <a:spAutoFit/>
          </a:bodyPr>
          <a:lstStyle/>
          <a:p>
            <a:pPr>
              <a:spcAft>
                <a:spcPts val="500"/>
              </a:spcAft>
              <a:defRPr sz="1200" b="1">
                <a:solidFill>
                  <a:srgbClr val="FFFFFF"/>
                </a:solidFill>
                <a:latin typeface="DejaVu Sans"/>
              </a:defRPr>
            </a:pPr>
            <a:r>
              <a:t>2</a:t>
            </a:r>
          </a:p>
        </p:txBody>
      </p:sp>
      <p:sp>
        <p:nvSpPr>
          <p:cNvPr id="14" name="TextBox 13"/>
          <p:cNvSpPr txBox="1"/>
          <p:nvPr/>
        </p:nvSpPr>
        <p:spPr>
          <a:xfrm>
            <a:off x="4498848" y="3310128"/>
            <a:ext cx="3246120" cy="384048"/>
          </a:xfrm>
          <a:prstGeom prst="rect">
            <a:avLst/>
          </a:prstGeom>
          <a:noFill/>
        </p:spPr>
        <p:txBody>
          <a:bodyPr wrap="square" lIns="0" rIns="0" tIns="0" bIns="0">
            <a:spAutoFit/>
          </a:bodyPr>
          <a:lstStyle/>
          <a:p>
            <a:pPr>
              <a:spcAft>
                <a:spcPts val="500"/>
              </a:spcAft>
              <a:defRPr sz="2100" b="1">
                <a:solidFill>
                  <a:srgbClr val="142C43"/>
                </a:solidFill>
                <a:latin typeface="DejaVu Sans"/>
              </a:defRPr>
            </a:pPr>
            <a:r>
              <a:t>Organise sources</a:t>
            </a:r>
          </a:p>
        </p:txBody>
      </p:sp>
      <p:sp>
        <p:nvSpPr>
          <p:cNvPr id="15" name="TextBox 14"/>
          <p:cNvSpPr txBox="1"/>
          <p:nvPr/>
        </p:nvSpPr>
        <p:spPr>
          <a:xfrm>
            <a:off x="4498848" y="3895344"/>
            <a:ext cx="3246120" cy="914400"/>
          </a:xfrm>
          <a:prstGeom prst="rect">
            <a:avLst/>
          </a:prstGeom>
          <a:noFill/>
        </p:spPr>
        <p:txBody>
          <a:bodyPr wrap="square" lIns="0" rIns="0" tIns="0" bIns="0">
            <a:spAutoFit/>
          </a:bodyPr>
          <a:lstStyle/>
          <a:p>
            <a:pPr>
              <a:spcAft>
                <a:spcPts val="500"/>
              </a:spcAft>
              <a:defRPr sz="1600" b="0">
                <a:solidFill>
                  <a:srgbClr val="21394D"/>
                </a:solidFill>
                <a:latin typeface="DejaVu Sans"/>
              </a:defRPr>
            </a:pPr>
            <a:r>
              <a:t>Initial design: keep sections</a:t>
            </a:r>
          </a:p>
          <a:p>
            <a:pPr>
              <a:spcAft>
                <a:spcPts val="500"/>
              </a:spcAft>
              <a:defRPr sz="1600" b="0">
                <a:solidFill>
                  <a:srgbClr val="21394D"/>
                </a:solidFill>
                <a:latin typeface="DejaVu Sans"/>
              </a:defRPr>
            </a:pPr>
            <a:r>
              <a:t>and their Act names together</a:t>
            </a:r>
          </a:p>
        </p:txBody>
      </p:sp>
      <p:sp>
        <p:nvSpPr>
          <p:cNvPr id="16" name="Oval 15"/>
          <p:cNvSpPr/>
          <p:nvPr/>
        </p:nvSpPr>
        <p:spPr>
          <a:xfrm>
            <a:off x="8375904" y="2578608"/>
            <a:ext cx="420624" cy="420624"/>
          </a:xfrm>
          <a:prstGeom prst="ellipse">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2651760"/>
            <a:ext cx="283464" cy="329184"/>
          </a:xfrm>
          <a:prstGeom prst="rect">
            <a:avLst/>
          </a:prstGeom>
          <a:noFill/>
        </p:spPr>
        <p:txBody>
          <a:bodyPr wrap="square" lIns="0" rIns="0" tIns="0" bIns="0">
            <a:spAutoFit/>
          </a:bodyPr>
          <a:lstStyle/>
          <a:p>
            <a:pPr>
              <a:spcAft>
                <a:spcPts val="500"/>
              </a:spcAft>
              <a:defRPr sz="1200" b="1">
                <a:solidFill>
                  <a:srgbClr val="FFFFFF"/>
                </a:solidFill>
                <a:latin typeface="DejaVu Sans"/>
              </a:defRPr>
            </a:pPr>
            <a:r>
              <a:t>3</a:t>
            </a:r>
          </a:p>
        </p:txBody>
      </p:sp>
      <p:sp>
        <p:nvSpPr>
          <p:cNvPr id="18" name="TextBox 17"/>
          <p:cNvSpPr txBox="1"/>
          <p:nvPr/>
        </p:nvSpPr>
        <p:spPr>
          <a:xfrm>
            <a:off x="8302752" y="3310128"/>
            <a:ext cx="3246120" cy="384048"/>
          </a:xfrm>
          <a:prstGeom prst="rect">
            <a:avLst/>
          </a:prstGeom>
          <a:noFill/>
        </p:spPr>
        <p:txBody>
          <a:bodyPr wrap="square" lIns="0" rIns="0" tIns="0" bIns="0">
            <a:spAutoFit/>
          </a:bodyPr>
          <a:lstStyle/>
          <a:p>
            <a:pPr>
              <a:spcAft>
                <a:spcPts val="500"/>
              </a:spcAft>
              <a:defRPr sz="2100" b="1">
                <a:solidFill>
                  <a:srgbClr val="142C43"/>
                </a:solidFill>
                <a:latin typeface="DejaVu Sans"/>
              </a:defRPr>
            </a:pPr>
            <a:r>
              <a:t>Move to LLM work</a:t>
            </a:r>
          </a:p>
        </p:txBody>
      </p:sp>
      <p:sp>
        <p:nvSpPr>
          <p:cNvPr id="19" name="TextBox 18"/>
          <p:cNvSpPr txBox="1"/>
          <p:nvPr/>
        </p:nvSpPr>
        <p:spPr>
          <a:xfrm>
            <a:off x="8302752" y="3895344"/>
            <a:ext cx="3246120" cy="914400"/>
          </a:xfrm>
          <a:prstGeom prst="rect">
            <a:avLst/>
          </a:prstGeom>
          <a:noFill/>
        </p:spPr>
        <p:txBody>
          <a:bodyPr wrap="square" lIns="0" rIns="0" tIns="0" bIns="0">
            <a:spAutoFit/>
          </a:bodyPr>
          <a:lstStyle/>
          <a:p>
            <a:pPr>
              <a:spcAft>
                <a:spcPts val="500"/>
              </a:spcAft>
              <a:defRPr sz="1600" b="0">
                <a:solidFill>
                  <a:srgbClr val="21394D"/>
                </a:solidFill>
                <a:latin typeface="DejaVu Sans"/>
              </a:defRPr>
            </a:pPr>
            <a:r>
              <a:t>Another sub-team continued</a:t>
            </a:r>
          </a:p>
          <a:p>
            <a:pPr>
              <a:spcAft>
                <a:spcPts val="500"/>
              </a:spcAft>
              <a:defRPr sz="1600" b="0">
                <a:solidFill>
                  <a:srgbClr val="21394D"/>
                </a:solidFill>
                <a:latin typeface="DejaVu Sans"/>
              </a:defRPr>
            </a:pPr>
            <a:r>
              <a:t>the legal research</a:t>
            </a:r>
          </a:p>
        </p:txBody>
      </p:sp>
      <p:sp>
        <p:nvSpPr>
          <p:cNvPr id="20" name="Rounded Rectangle 19"/>
          <p:cNvSpPr/>
          <p:nvPr/>
        </p:nvSpPr>
        <p:spPr>
          <a:xfrm>
            <a:off x="594360" y="5166360"/>
            <a:ext cx="11000232" cy="841248"/>
          </a:xfrm>
          <a:prstGeom prst="roundRect">
            <a:avLst>
              <a:gd name="adj" fmla="val 6000"/>
            </a:avLst>
          </a:prstGeom>
          <a:solidFill>
            <a:srgbClr val="E9F4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59536" y="5404104"/>
            <a:ext cx="10469880" cy="420624"/>
          </a:xfrm>
          <a:prstGeom prst="rect">
            <a:avLst/>
          </a:prstGeom>
          <a:noFill/>
        </p:spPr>
        <p:txBody>
          <a:bodyPr wrap="square" lIns="0" rIns="0" tIns="0" bIns="0">
            <a:spAutoFit/>
          </a:bodyPr>
          <a:lstStyle/>
          <a:p>
            <a:pPr>
              <a:spcAft>
                <a:spcPts val="300"/>
              </a:spcAft>
              <a:defRPr sz="1500" b="1">
                <a:solidFill>
                  <a:srgbClr val="21394D"/>
                </a:solidFill>
                <a:latin typeface="DejaVu Sans"/>
              </a:defRPr>
            </a:pPr>
            <a:r>
              <a:t>Earlier research asked: “Where is the evidence?”</a:t>
            </a:r>
          </a:p>
          <a:p>
            <a:pPr>
              <a:spcAft>
                <a:spcPts val="300"/>
              </a:spcAft>
              <a:defRPr sz="1500" b="1">
                <a:solidFill>
                  <a:srgbClr val="21394D"/>
                </a:solidFill>
                <a:latin typeface="DejaVu Sans"/>
              </a:defRPr>
            </a:pPr>
            <a:r>
              <a:t>This recent demo also asks: “When should the paragraph be used?”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087F76"/>
                </a:solidFill>
                <a:latin typeface="DejaVu Sans"/>
              </a:defRPr>
            </a:pPr>
            <a:r>
              <a:t>IMPLEMENTATION · CELLS 1 + 2</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142C43"/>
                </a:solidFill>
                <a:latin typeface="DejaVu Sans"/>
              </a:defRPr>
            </a:pPr>
            <a:r>
              <a:t>Define the sources, paragraphs and their rules</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62798A"/>
                </a:solidFill>
                <a:latin typeface="DejaVu Sans"/>
              </a:defRPr>
            </a:pPr>
            <a:r>
              <a:t>Cell 1 stores the evidence. Cell 2 says when each prepared paragraph can be used.</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62798A"/>
                </a:solidFill>
                <a:latin typeface="DejaVu Sans"/>
              </a:defRPr>
            </a:pPr>
            <a:r>
              <a:t>Notebook cells 1–2: 10 educational source summaries; 7 modules; fictional judgment updates and teaching rules.</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62798A"/>
                </a:solidFill>
                <a:latin typeface="DejaVu Sans"/>
              </a:defRPr>
            </a:pPr>
            <a:r>
              <a:t>03 / 07</a:t>
            </a:r>
          </a:p>
        </p:txBody>
      </p:sp>
      <p:sp>
        <p:nvSpPr>
          <p:cNvPr id="7" name="Rounded Rectangle 6"/>
          <p:cNvSpPr/>
          <p:nvPr/>
        </p:nvSpPr>
        <p:spPr>
          <a:xfrm>
            <a:off x="594360" y="2706624"/>
            <a:ext cx="4224528" cy="2880360"/>
          </a:xfrm>
          <a:prstGeom prst="roundRect">
            <a:avLst>
              <a:gd name="adj" fmla="val 6000"/>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32104" y="2926080"/>
            <a:ext cx="3749039" cy="274320"/>
          </a:xfrm>
          <a:prstGeom prst="rect">
            <a:avLst/>
          </a:prstGeom>
          <a:noFill/>
        </p:spPr>
        <p:txBody>
          <a:bodyPr wrap="square" lIns="0" rIns="0" tIns="0" bIns="0">
            <a:spAutoFit/>
          </a:bodyPr>
          <a:lstStyle/>
          <a:p>
            <a:pPr>
              <a:spcAft>
                <a:spcPts val="500"/>
              </a:spcAft>
              <a:defRPr sz="1200" b="1">
                <a:solidFill>
                  <a:srgbClr val="087F76"/>
                </a:solidFill>
                <a:latin typeface="DejaVu Sans"/>
              </a:defRPr>
            </a:pPr>
            <a:r>
              <a:t>SOURCE RECORD · C167</a:t>
            </a:r>
          </a:p>
        </p:txBody>
      </p:sp>
      <p:sp>
        <p:nvSpPr>
          <p:cNvPr id="9" name="TextBox 8"/>
          <p:cNvSpPr txBox="1"/>
          <p:nvPr/>
        </p:nvSpPr>
        <p:spPr>
          <a:xfrm>
            <a:off x="832104" y="3502152"/>
            <a:ext cx="3749039" cy="1719072"/>
          </a:xfrm>
          <a:prstGeom prst="rect">
            <a:avLst/>
          </a:prstGeom>
          <a:noFill/>
        </p:spPr>
        <p:txBody>
          <a:bodyPr wrap="square" lIns="0" rIns="0" tIns="0" bIns="0">
            <a:spAutoFit/>
          </a:bodyPr>
          <a:lstStyle/>
          <a:p>
            <a:pPr>
              <a:spcAft>
                <a:spcPts val="600"/>
              </a:spcAft>
              <a:defRPr sz="1600" b="0">
                <a:solidFill>
                  <a:srgbClr val="21394D"/>
                </a:solidFill>
                <a:latin typeface="DejaVu Sans"/>
              </a:defRPr>
            </a:pPr>
            <a:r>
              <a:t>Act + section number</a:t>
            </a:r>
          </a:p>
          <a:p>
            <a:pPr>
              <a:spcAft>
                <a:spcPts val="600"/>
              </a:spcAft>
              <a:defRPr sz="1600" b="0">
                <a:solidFill>
                  <a:srgbClr val="21394D"/>
                </a:solidFill>
                <a:latin typeface="DejaVu Sans"/>
              </a:defRPr>
            </a:pPr>
            <a:r>
              <a:t>Prepared summary text</a:t>
            </a:r>
          </a:p>
          <a:p>
            <a:pPr>
              <a:spcAft>
                <a:spcPts val="600"/>
              </a:spcAft>
              <a:defRPr sz="1600" b="0">
                <a:solidFill>
                  <a:srgbClr val="21394D"/>
                </a:solidFill>
                <a:latin typeface="DejaVu Sans"/>
              </a:defRPr>
            </a:pPr>
            <a:r>
              <a:t>Status + recorded judgment note</a:t>
            </a:r>
          </a:p>
          <a:p>
            <a:pPr>
              <a:spcAft>
                <a:spcPts val="600"/>
              </a:spcAft>
              <a:defRPr sz="1600" b="0">
                <a:solidFill>
                  <a:srgbClr val="21394D"/>
                </a:solidFill>
                <a:latin typeface="DejaVu Sans"/>
              </a:defRPr>
            </a:pPr>
          </a:p>
          <a:p>
            <a:pPr>
              <a:spcAft>
                <a:spcPts val="600"/>
              </a:spcAft>
              <a:defRPr sz="1600" b="0">
                <a:solidFill>
                  <a:srgbClr val="21394D"/>
                </a:solidFill>
                <a:latin typeface="DejaVu Sans"/>
              </a:defRPr>
            </a:pPr>
            <a:r>
              <a:t>10 labelled sample sources</a:t>
            </a:r>
          </a:p>
        </p:txBody>
      </p:sp>
      <p:sp>
        <p:nvSpPr>
          <p:cNvPr id="10" name="TextBox 9"/>
          <p:cNvSpPr txBox="1"/>
          <p:nvPr/>
        </p:nvSpPr>
        <p:spPr>
          <a:xfrm>
            <a:off x="4956048" y="3904487"/>
            <a:ext cx="530352" cy="365760"/>
          </a:xfrm>
          <a:prstGeom prst="rect">
            <a:avLst/>
          </a:prstGeom>
          <a:noFill/>
        </p:spPr>
        <p:txBody>
          <a:bodyPr wrap="square" lIns="0" rIns="0" tIns="0" bIns="0">
            <a:spAutoFit/>
          </a:bodyPr>
          <a:lstStyle/>
          <a:p>
            <a:pPr>
              <a:spcAft>
                <a:spcPts val="500"/>
              </a:spcAft>
              <a:defRPr sz="2400" b="1">
                <a:solidFill>
                  <a:srgbClr val="087F76"/>
                </a:solidFill>
                <a:latin typeface="DejaVu Sans"/>
              </a:defRPr>
            </a:pPr>
            <a:r>
              <a:t>→</a:t>
            </a:r>
          </a:p>
        </p:txBody>
      </p:sp>
      <p:sp>
        <p:nvSpPr>
          <p:cNvPr id="11" name="Rounded Rectangle 10"/>
          <p:cNvSpPr/>
          <p:nvPr/>
        </p:nvSpPr>
        <p:spPr>
          <a:xfrm>
            <a:off x="5623560" y="2706624"/>
            <a:ext cx="5971032" cy="2880360"/>
          </a:xfrm>
          <a:prstGeom prst="roundRect">
            <a:avLst>
              <a:gd name="adj" fmla="val 6000"/>
            </a:avLst>
          </a:prstGeom>
          <a:solidFill>
            <a:srgbClr val="E9F4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861304" y="2926080"/>
            <a:ext cx="5486400" cy="274320"/>
          </a:xfrm>
          <a:prstGeom prst="rect">
            <a:avLst/>
          </a:prstGeom>
          <a:noFill/>
        </p:spPr>
        <p:txBody>
          <a:bodyPr wrap="square" lIns="0" rIns="0" tIns="0" bIns="0">
            <a:spAutoFit/>
          </a:bodyPr>
          <a:lstStyle/>
          <a:p>
            <a:pPr>
              <a:spcAft>
                <a:spcPts val="500"/>
              </a:spcAft>
              <a:defRPr sz="1200" b="1">
                <a:solidFill>
                  <a:srgbClr val="087F76"/>
                </a:solidFill>
                <a:latin typeface="DejaVu Sans"/>
              </a:defRPr>
            </a:pPr>
            <a:r>
              <a:t>PARAGRAPH RULE · M5 RECORDS</a:t>
            </a:r>
          </a:p>
        </p:txBody>
      </p:sp>
      <p:sp>
        <p:nvSpPr>
          <p:cNvPr id="13" name="TextBox 12"/>
          <p:cNvSpPr txBox="1"/>
          <p:nvPr/>
        </p:nvSpPr>
        <p:spPr>
          <a:xfrm>
            <a:off x="5870448" y="3456432"/>
            <a:ext cx="1545336" cy="292608"/>
          </a:xfrm>
          <a:prstGeom prst="rect">
            <a:avLst/>
          </a:prstGeom>
          <a:noFill/>
        </p:spPr>
        <p:txBody>
          <a:bodyPr wrap="square" lIns="0" rIns="0" tIns="0" bIns="0">
            <a:spAutoFit/>
          </a:bodyPr>
          <a:lstStyle/>
          <a:p>
            <a:pPr>
              <a:spcAft>
                <a:spcPts val="500"/>
              </a:spcAft>
              <a:defRPr sz="1200" b="1">
                <a:solidFill>
                  <a:srgbClr val="62798A"/>
                </a:solidFill>
                <a:latin typeface="DejaVu Sans"/>
              </a:defRPr>
            </a:pPr>
            <a:r>
              <a:t>Condition</a:t>
            </a:r>
          </a:p>
        </p:txBody>
      </p:sp>
      <p:sp>
        <p:nvSpPr>
          <p:cNvPr id="14" name="TextBox 13"/>
          <p:cNvSpPr txBox="1"/>
          <p:nvPr/>
        </p:nvSpPr>
        <p:spPr>
          <a:xfrm>
            <a:off x="7653527" y="3442715"/>
            <a:ext cx="3657600" cy="356616"/>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Records available = True</a:t>
            </a:r>
          </a:p>
        </p:txBody>
      </p:sp>
      <p:sp>
        <p:nvSpPr>
          <p:cNvPr id="15" name="TextBox 14"/>
          <p:cNvSpPr txBox="1"/>
          <p:nvPr/>
        </p:nvSpPr>
        <p:spPr>
          <a:xfrm>
            <a:off x="5870448" y="3877056"/>
            <a:ext cx="1545336" cy="292608"/>
          </a:xfrm>
          <a:prstGeom prst="rect">
            <a:avLst/>
          </a:prstGeom>
          <a:noFill/>
        </p:spPr>
        <p:txBody>
          <a:bodyPr wrap="square" lIns="0" rIns="0" tIns="0" bIns="0">
            <a:spAutoFit/>
          </a:bodyPr>
          <a:lstStyle/>
          <a:p>
            <a:pPr>
              <a:spcAft>
                <a:spcPts val="500"/>
              </a:spcAft>
              <a:defRPr sz="1200" b="1">
                <a:solidFill>
                  <a:srgbClr val="62798A"/>
                </a:solidFill>
                <a:latin typeface="DejaVu Sans"/>
              </a:defRPr>
            </a:pPr>
            <a:r>
              <a:t>Dependency</a:t>
            </a:r>
          </a:p>
        </p:txBody>
      </p:sp>
      <p:sp>
        <p:nvSpPr>
          <p:cNvPr id="16" name="TextBox 15"/>
          <p:cNvSpPr txBox="1"/>
          <p:nvPr/>
        </p:nvSpPr>
        <p:spPr>
          <a:xfrm>
            <a:off x="7653527" y="3863340"/>
            <a:ext cx="3657600" cy="356616"/>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Procedural block M3 included</a:t>
            </a:r>
          </a:p>
        </p:txBody>
      </p:sp>
      <p:sp>
        <p:nvSpPr>
          <p:cNvPr id="17" name="TextBox 16"/>
          <p:cNvSpPr txBox="1"/>
          <p:nvPr/>
        </p:nvSpPr>
        <p:spPr>
          <a:xfrm>
            <a:off x="5870448" y="4297680"/>
            <a:ext cx="1545336" cy="292608"/>
          </a:xfrm>
          <a:prstGeom prst="rect">
            <a:avLst/>
          </a:prstGeom>
          <a:noFill/>
        </p:spPr>
        <p:txBody>
          <a:bodyPr wrap="square" lIns="0" rIns="0" tIns="0" bIns="0">
            <a:spAutoFit/>
          </a:bodyPr>
          <a:lstStyle/>
          <a:p>
            <a:pPr>
              <a:spcAft>
                <a:spcPts val="500"/>
              </a:spcAft>
              <a:defRPr sz="1200" b="1">
                <a:solidFill>
                  <a:srgbClr val="62798A"/>
                </a:solidFill>
                <a:latin typeface="DejaVu Sans"/>
              </a:defRPr>
            </a:pPr>
            <a:r>
              <a:t>Order / citation</a:t>
            </a:r>
          </a:p>
        </p:txBody>
      </p:sp>
      <p:sp>
        <p:nvSpPr>
          <p:cNvPr id="18" name="TextBox 17"/>
          <p:cNvSpPr txBox="1"/>
          <p:nvPr/>
        </p:nvSpPr>
        <p:spPr>
          <a:xfrm>
            <a:off x="7653527" y="4283964"/>
            <a:ext cx="3657600" cy="356616"/>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Position 50 / source C167</a:t>
            </a:r>
          </a:p>
        </p:txBody>
      </p:sp>
      <p:sp>
        <p:nvSpPr>
          <p:cNvPr id="19" name="TextBox 18"/>
          <p:cNvSpPr txBox="1"/>
          <p:nvPr/>
        </p:nvSpPr>
        <p:spPr>
          <a:xfrm>
            <a:off x="5870448" y="4718304"/>
            <a:ext cx="1545336" cy="292608"/>
          </a:xfrm>
          <a:prstGeom prst="rect">
            <a:avLst/>
          </a:prstGeom>
          <a:noFill/>
        </p:spPr>
        <p:txBody>
          <a:bodyPr wrap="square" lIns="0" rIns="0" tIns="0" bIns="0">
            <a:spAutoFit/>
          </a:bodyPr>
          <a:lstStyle/>
          <a:p>
            <a:pPr>
              <a:spcAft>
                <a:spcPts val="500"/>
              </a:spcAft>
              <a:defRPr sz="1200" b="1">
                <a:solidFill>
                  <a:srgbClr val="62798A"/>
                </a:solidFill>
                <a:latin typeface="DejaVu Sans"/>
              </a:defRPr>
            </a:pPr>
            <a:r>
              <a:t>Text</a:t>
            </a:r>
          </a:p>
        </p:txBody>
      </p:sp>
      <p:sp>
        <p:nvSpPr>
          <p:cNvPr id="20" name="TextBox 19"/>
          <p:cNvSpPr txBox="1"/>
          <p:nvPr/>
        </p:nvSpPr>
        <p:spPr>
          <a:xfrm>
            <a:off x="7653527" y="4704588"/>
            <a:ext cx="3657600" cy="356616"/>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A prepared records paragraph</a:t>
            </a:r>
          </a:p>
        </p:txBody>
      </p:sp>
      <p:sp>
        <p:nvSpPr>
          <p:cNvPr id="21" name="TextBox 20"/>
          <p:cNvSpPr txBox="1"/>
          <p:nvPr/>
        </p:nvSpPr>
        <p:spPr>
          <a:xfrm>
            <a:off x="594360" y="5916168"/>
            <a:ext cx="10972800" cy="320040"/>
          </a:xfrm>
          <a:prstGeom prst="rect">
            <a:avLst/>
          </a:prstGeom>
          <a:noFill/>
        </p:spPr>
        <p:txBody>
          <a:bodyPr wrap="square" lIns="0" rIns="0" tIns="0" bIns="0">
            <a:spAutoFit/>
          </a:bodyPr>
          <a:lstStyle/>
          <a:p>
            <a:pPr>
              <a:spcAft>
                <a:spcPts val="500"/>
              </a:spcAft>
              <a:defRPr sz="1400" b="1">
                <a:solidFill>
                  <a:srgbClr val="087F76"/>
                </a:solidFill>
                <a:latin typeface="DejaVu Sans"/>
              </a:defRPr>
            </a:pPr>
            <a:r>
              <a:t>Output: 10 source records + 7 module definitions, held in knowledge-base version 1.2.0.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087F76"/>
                </a:solidFill>
                <a:latin typeface="DejaVu Sans"/>
              </a:defRPr>
            </a:pPr>
            <a:r>
              <a:t>IMPLEMENTATION · CELL 3</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142C43"/>
                </a:solidFill>
                <a:latin typeface="DejaVu Sans"/>
              </a:defRPr>
            </a:pPr>
            <a:r>
              <a:t>Show exactly why each paragraph is selected</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62798A"/>
                </a:solidFill>
                <a:latin typeface="DejaVu Sans"/>
              </a:defRPr>
            </a:pPr>
            <a:r>
              <a:t>Validate facts → check conditions and dependencies → reject conflicts → fill templates.</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62798A"/>
                </a:solidFill>
                <a:latin typeface="DejaVu Sans"/>
              </a:defRPr>
            </a:pPr>
            <a:r>
              <a:t>Notebook cell 3: actual selected sequence for fictional SAMPLE_CASE; no generative model assembles this draft.</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62798A"/>
                </a:solidFill>
                <a:latin typeface="DejaVu Sans"/>
              </a:defRPr>
            </a:pPr>
            <a:r>
              <a:t>04 / 07</a:t>
            </a:r>
          </a:p>
        </p:txBody>
      </p:sp>
      <p:sp>
        <p:nvSpPr>
          <p:cNvPr id="7" name="Rounded Rectangle 6"/>
          <p:cNvSpPr/>
          <p:nvPr/>
        </p:nvSpPr>
        <p:spPr>
          <a:xfrm>
            <a:off x="594360" y="2697480"/>
            <a:ext cx="3108960" cy="2953512"/>
          </a:xfrm>
          <a:prstGeom prst="roundRect">
            <a:avLst>
              <a:gd name="adj" fmla="val 6000"/>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2926080"/>
            <a:ext cx="2651760" cy="265176"/>
          </a:xfrm>
          <a:prstGeom prst="rect">
            <a:avLst/>
          </a:prstGeom>
          <a:noFill/>
        </p:spPr>
        <p:txBody>
          <a:bodyPr wrap="square" lIns="0" rIns="0" tIns="0" bIns="0">
            <a:spAutoFit/>
          </a:bodyPr>
          <a:lstStyle/>
          <a:p>
            <a:pPr>
              <a:spcAft>
                <a:spcPts val="500"/>
              </a:spcAft>
              <a:defRPr sz="1200" b="1">
                <a:solidFill>
                  <a:srgbClr val="087F76"/>
                </a:solidFill>
                <a:latin typeface="DejaVu Sans"/>
              </a:defRPr>
            </a:pPr>
            <a:r>
              <a:t>SAMPLE INPUT</a:t>
            </a:r>
          </a:p>
        </p:txBody>
      </p:sp>
      <p:sp>
        <p:nvSpPr>
          <p:cNvPr id="9" name="TextBox 8"/>
          <p:cNvSpPr txBox="1"/>
          <p:nvPr/>
        </p:nvSpPr>
        <p:spPr>
          <a:xfrm>
            <a:off x="822960" y="3474720"/>
            <a:ext cx="2651760" cy="1901952"/>
          </a:xfrm>
          <a:prstGeom prst="rect">
            <a:avLst/>
          </a:prstGeom>
          <a:noFill/>
        </p:spPr>
        <p:txBody>
          <a:bodyPr wrap="square" lIns="0" rIns="0" tIns="0" bIns="0">
            <a:spAutoFit/>
          </a:bodyPr>
          <a:lstStyle/>
          <a:p>
            <a:pPr>
              <a:spcAft>
                <a:spcPts val="700"/>
              </a:spcAft>
              <a:defRPr sz="1400" b="0">
                <a:solidFill>
                  <a:srgbClr val="21394D"/>
                </a:solidFill>
                <a:latin typeface="DejaVu Sans"/>
              </a:defRPr>
            </a:pPr>
            <a:r>
              <a:t>Forum: magistrate</a:t>
            </a:r>
          </a:p>
          <a:p>
            <a:pPr>
              <a:spcAft>
                <a:spcPts val="700"/>
              </a:spcAft>
              <a:defRPr sz="1400" b="0">
                <a:solidFill>
                  <a:srgbClr val="21394D"/>
                </a:solidFill>
                <a:latin typeface="DejaVu Sans"/>
              </a:defRPr>
            </a:pPr>
            <a:r>
              <a:t>Facts: available</a:t>
            </a:r>
          </a:p>
          <a:p>
            <a:pPr>
              <a:spcAft>
                <a:spcPts val="700"/>
              </a:spcAft>
              <a:defRPr sz="1400" b="0">
                <a:solidFill>
                  <a:srgbClr val="21394D"/>
                </a:solidFill>
                <a:latin typeface="DejaVu Sans"/>
              </a:defRPr>
            </a:pPr>
            <a:r>
              <a:t>Procedure: requested</a:t>
            </a:r>
          </a:p>
          <a:p>
            <a:pPr>
              <a:spcAft>
                <a:spcPts val="700"/>
              </a:spcAft>
              <a:defRPr sz="1400" b="0">
                <a:solidFill>
                  <a:srgbClr val="21394D"/>
                </a:solidFill>
                <a:latin typeface="DejaVu Sans"/>
              </a:defRPr>
            </a:pPr>
            <a:r>
              <a:t>Records: available</a:t>
            </a:r>
          </a:p>
          <a:p>
            <a:pPr>
              <a:spcAft>
                <a:spcPts val="700"/>
              </a:spcAft>
              <a:defRPr sz="1400" b="0">
                <a:solidFill>
                  <a:srgbClr val="21394D"/>
                </a:solidFill>
                <a:latin typeface="DejaVu Sans"/>
              </a:defRPr>
            </a:pPr>
            <a:r>
              <a:t>Relief: requested</a:t>
            </a:r>
          </a:p>
          <a:p>
            <a:pPr>
              <a:spcAft>
                <a:spcPts val="700"/>
              </a:spcAft>
              <a:defRPr sz="1400" b="0">
                <a:solidFill>
                  <a:srgbClr val="21394D"/>
                </a:solidFill>
                <a:latin typeface="DejaVu Sans"/>
              </a:defRPr>
            </a:pPr>
            <a:r>
              <a:t>Other route flags: false</a:t>
            </a:r>
          </a:p>
        </p:txBody>
      </p:sp>
      <p:sp>
        <p:nvSpPr>
          <p:cNvPr id="10" name="Rectangle 9"/>
          <p:cNvSpPr/>
          <p:nvPr/>
        </p:nvSpPr>
        <p:spPr>
          <a:xfrm>
            <a:off x="4069080" y="2697480"/>
            <a:ext cx="7525512" cy="393192"/>
          </a:xfrm>
          <a:prstGeom prst="rect">
            <a:avLst/>
          </a:prstGeom>
          <a:solidFill>
            <a:srgbClr val="142C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233672" y="2788920"/>
            <a:ext cx="594360" cy="219456"/>
          </a:xfrm>
          <a:prstGeom prst="rect">
            <a:avLst/>
          </a:prstGeom>
          <a:noFill/>
        </p:spPr>
        <p:txBody>
          <a:bodyPr wrap="square" lIns="0" rIns="0" tIns="0" bIns="0">
            <a:spAutoFit/>
          </a:bodyPr>
          <a:lstStyle/>
          <a:p>
            <a:pPr>
              <a:spcAft>
                <a:spcPts val="500"/>
              </a:spcAft>
              <a:defRPr sz="1000" b="1">
                <a:solidFill>
                  <a:srgbClr val="FFFFFF"/>
                </a:solidFill>
                <a:latin typeface="DejaVu Sans"/>
              </a:defRPr>
            </a:pPr>
            <a:r>
              <a:t>BLOCK</a:t>
            </a:r>
          </a:p>
        </p:txBody>
      </p:sp>
      <p:sp>
        <p:nvSpPr>
          <p:cNvPr id="12" name="TextBox 11"/>
          <p:cNvSpPr txBox="1"/>
          <p:nvPr/>
        </p:nvSpPr>
        <p:spPr>
          <a:xfrm>
            <a:off x="5020056" y="2788920"/>
            <a:ext cx="1280160" cy="219456"/>
          </a:xfrm>
          <a:prstGeom prst="rect">
            <a:avLst/>
          </a:prstGeom>
          <a:noFill/>
        </p:spPr>
        <p:txBody>
          <a:bodyPr wrap="square" lIns="0" rIns="0" tIns="0" bIns="0">
            <a:spAutoFit/>
          </a:bodyPr>
          <a:lstStyle/>
          <a:p>
            <a:pPr>
              <a:spcAft>
                <a:spcPts val="500"/>
              </a:spcAft>
              <a:defRPr sz="1000" b="1">
                <a:solidFill>
                  <a:srgbClr val="FFFFFF"/>
                </a:solidFill>
                <a:latin typeface="DejaVu Sans"/>
              </a:defRPr>
            </a:pPr>
            <a:r>
              <a:t>DECISION</a:t>
            </a:r>
          </a:p>
        </p:txBody>
      </p:sp>
      <p:sp>
        <p:nvSpPr>
          <p:cNvPr id="13" name="TextBox 12"/>
          <p:cNvSpPr txBox="1"/>
          <p:nvPr/>
        </p:nvSpPr>
        <p:spPr>
          <a:xfrm>
            <a:off x="6483096" y="2788920"/>
            <a:ext cx="4864608" cy="219456"/>
          </a:xfrm>
          <a:prstGeom prst="rect">
            <a:avLst/>
          </a:prstGeom>
          <a:noFill/>
        </p:spPr>
        <p:txBody>
          <a:bodyPr wrap="square" lIns="0" rIns="0" tIns="0" bIns="0">
            <a:spAutoFit/>
          </a:bodyPr>
          <a:lstStyle/>
          <a:p>
            <a:pPr>
              <a:spcAft>
                <a:spcPts val="500"/>
              </a:spcAft>
              <a:defRPr sz="1000" b="1">
                <a:solidFill>
                  <a:srgbClr val="FFFFFF"/>
                </a:solidFill>
                <a:latin typeface="DejaVu Sans"/>
              </a:defRPr>
            </a:pPr>
            <a:r>
              <a:t>WHY</a:t>
            </a:r>
          </a:p>
        </p:txBody>
      </p:sp>
      <p:sp>
        <p:nvSpPr>
          <p:cNvPr id="14" name="Rectangle 13"/>
          <p:cNvSpPr/>
          <p:nvPr/>
        </p:nvSpPr>
        <p:spPr>
          <a:xfrm>
            <a:off x="4069080" y="3108960"/>
            <a:ext cx="7525512" cy="356616"/>
          </a:xfrm>
          <a:prstGeom prst="rect">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233672" y="317296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M1</a:t>
            </a:r>
          </a:p>
        </p:txBody>
      </p:sp>
      <p:sp>
        <p:nvSpPr>
          <p:cNvPr id="16" name="TextBox 15"/>
          <p:cNvSpPr txBox="1"/>
          <p:nvPr/>
        </p:nvSpPr>
        <p:spPr>
          <a:xfrm>
            <a:off x="5020056" y="3172968"/>
            <a:ext cx="1280160" cy="228600"/>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INCLUDED</a:t>
            </a:r>
          </a:p>
        </p:txBody>
      </p:sp>
      <p:sp>
        <p:nvSpPr>
          <p:cNvPr id="17" name="TextBox 16"/>
          <p:cNvSpPr txBox="1"/>
          <p:nvPr/>
        </p:nvSpPr>
        <p:spPr>
          <a:xfrm>
            <a:off x="6483096" y="317296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Forum matches</a:t>
            </a:r>
          </a:p>
        </p:txBody>
      </p:sp>
      <p:sp>
        <p:nvSpPr>
          <p:cNvPr id="18" name="TextBox 17"/>
          <p:cNvSpPr txBox="1"/>
          <p:nvPr/>
        </p:nvSpPr>
        <p:spPr>
          <a:xfrm>
            <a:off x="4233672" y="3538727"/>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M2</a:t>
            </a:r>
          </a:p>
        </p:txBody>
      </p:sp>
      <p:sp>
        <p:nvSpPr>
          <p:cNvPr id="19" name="TextBox 18"/>
          <p:cNvSpPr txBox="1"/>
          <p:nvPr/>
        </p:nvSpPr>
        <p:spPr>
          <a:xfrm>
            <a:off x="5020056" y="3538727"/>
            <a:ext cx="1280160" cy="228600"/>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INCLUDED</a:t>
            </a:r>
          </a:p>
        </p:txBody>
      </p:sp>
      <p:sp>
        <p:nvSpPr>
          <p:cNvPr id="20" name="TextBox 19"/>
          <p:cNvSpPr txBox="1"/>
          <p:nvPr/>
        </p:nvSpPr>
        <p:spPr>
          <a:xfrm>
            <a:off x="6483096" y="3538727"/>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Facts available + M1 included</a:t>
            </a:r>
          </a:p>
        </p:txBody>
      </p:sp>
      <p:sp>
        <p:nvSpPr>
          <p:cNvPr id="21" name="Rectangle 20"/>
          <p:cNvSpPr/>
          <p:nvPr/>
        </p:nvSpPr>
        <p:spPr>
          <a:xfrm>
            <a:off x="4069080" y="3840480"/>
            <a:ext cx="7525512" cy="356616"/>
          </a:xfrm>
          <a:prstGeom prst="rect">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233672" y="390448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M3</a:t>
            </a:r>
          </a:p>
        </p:txBody>
      </p:sp>
      <p:sp>
        <p:nvSpPr>
          <p:cNvPr id="23" name="TextBox 22"/>
          <p:cNvSpPr txBox="1"/>
          <p:nvPr/>
        </p:nvSpPr>
        <p:spPr>
          <a:xfrm>
            <a:off x="5020056" y="3904488"/>
            <a:ext cx="1280160" cy="228600"/>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INCLUDED</a:t>
            </a:r>
          </a:p>
        </p:txBody>
      </p:sp>
      <p:sp>
        <p:nvSpPr>
          <p:cNvPr id="24" name="TextBox 23"/>
          <p:cNvSpPr txBox="1"/>
          <p:nvPr/>
        </p:nvSpPr>
        <p:spPr>
          <a:xfrm>
            <a:off x="6483096" y="390448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Procedure requested + M2 included</a:t>
            </a:r>
          </a:p>
        </p:txBody>
      </p:sp>
      <p:sp>
        <p:nvSpPr>
          <p:cNvPr id="25" name="TextBox 24"/>
          <p:cNvSpPr txBox="1"/>
          <p:nvPr/>
        </p:nvSpPr>
        <p:spPr>
          <a:xfrm>
            <a:off x="4233672" y="427024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M4</a:t>
            </a:r>
          </a:p>
        </p:txBody>
      </p:sp>
      <p:sp>
        <p:nvSpPr>
          <p:cNvPr id="26" name="TextBox 25"/>
          <p:cNvSpPr txBox="1"/>
          <p:nvPr/>
        </p:nvSpPr>
        <p:spPr>
          <a:xfrm>
            <a:off x="5020056" y="4270248"/>
            <a:ext cx="1280160" cy="228600"/>
          </a:xfrm>
          <a:prstGeom prst="rect">
            <a:avLst/>
          </a:prstGeom>
          <a:noFill/>
        </p:spPr>
        <p:txBody>
          <a:bodyPr wrap="square" lIns="0" rIns="0" tIns="0" bIns="0">
            <a:spAutoFit/>
          </a:bodyPr>
          <a:lstStyle/>
          <a:p>
            <a:pPr>
              <a:spcAft>
                <a:spcPts val="500"/>
              </a:spcAft>
              <a:defRPr sz="1000" b="1">
                <a:solidFill>
                  <a:srgbClr val="62798A"/>
                </a:solidFill>
                <a:latin typeface="DejaVu Sans"/>
              </a:defRPr>
            </a:pPr>
            <a:r>
              <a:t>SKIPPED</a:t>
            </a:r>
          </a:p>
        </p:txBody>
      </p:sp>
      <p:sp>
        <p:nvSpPr>
          <p:cNvPr id="27" name="TextBox 26"/>
          <p:cNvSpPr txBox="1"/>
          <p:nvPr/>
        </p:nvSpPr>
        <p:spPr>
          <a:xfrm>
            <a:off x="6483096" y="427024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Substantive route flag is false</a:t>
            </a:r>
          </a:p>
        </p:txBody>
      </p:sp>
      <p:sp>
        <p:nvSpPr>
          <p:cNvPr id="28" name="Rectangle 27"/>
          <p:cNvSpPr/>
          <p:nvPr/>
        </p:nvSpPr>
        <p:spPr>
          <a:xfrm>
            <a:off x="4069080" y="4572000"/>
            <a:ext cx="7525512" cy="356616"/>
          </a:xfrm>
          <a:prstGeom prst="rect">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233672" y="463600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M5</a:t>
            </a:r>
          </a:p>
        </p:txBody>
      </p:sp>
      <p:sp>
        <p:nvSpPr>
          <p:cNvPr id="30" name="TextBox 29"/>
          <p:cNvSpPr txBox="1"/>
          <p:nvPr/>
        </p:nvSpPr>
        <p:spPr>
          <a:xfrm>
            <a:off x="5020056" y="4636008"/>
            <a:ext cx="1280160" cy="228600"/>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INCLUDED</a:t>
            </a:r>
          </a:p>
        </p:txBody>
      </p:sp>
      <p:sp>
        <p:nvSpPr>
          <p:cNvPr id="31" name="TextBox 30"/>
          <p:cNvSpPr txBox="1"/>
          <p:nvPr/>
        </p:nvSpPr>
        <p:spPr>
          <a:xfrm>
            <a:off x="6483096" y="463600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Records available + M3 included</a:t>
            </a:r>
          </a:p>
        </p:txBody>
      </p:sp>
      <p:sp>
        <p:nvSpPr>
          <p:cNvPr id="32" name="TextBox 31"/>
          <p:cNvSpPr txBox="1"/>
          <p:nvPr/>
        </p:nvSpPr>
        <p:spPr>
          <a:xfrm>
            <a:off x="4233672" y="500176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M6</a:t>
            </a:r>
          </a:p>
        </p:txBody>
      </p:sp>
      <p:sp>
        <p:nvSpPr>
          <p:cNvPr id="33" name="TextBox 32"/>
          <p:cNvSpPr txBox="1"/>
          <p:nvPr/>
        </p:nvSpPr>
        <p:spPr>
          <a:xfrm>
            <a:off x="5020056" y="5001768"/>
            <a:ext cx="1280160" cy="228600"/>
          </a:xfrm>
          <a:prstGeom prst="rect">
            <a:avLst/>
          </a:prstGeom>
          <a:noFill/>
        </p:spPr>
        <p:txBody>
          <a:bodyPr wrap="square" lIns="0" rIns="0" tIns="0" bIns="0">
            <a:spAutoFit/>
          </a:bodyPr>
          <a:lstStyle/>
          <a:p>
            <a:pPr>
              <a:spcAft>
                <a:spcPts val="500"/>
              </a:spcAft>
              <a:defRPr sz="1000" b="1">
                <a:solidFill>
                  <a:srgbClr val="62798A"/>
                </a:solidFill>
                <a:latin typeface="DejaVu Sans"/>
              </a:defRPr>
            </a:pPr>
            <a:r>
              <a:t>SKIPPED</a:t>
            </a:r>
          </a:p>
        </p:txBody>
      </p:sp>
      <p:sp>
        <p:nvSpPr>
          <p:cNvPr id="34" name="TextBox 33"/>
          <p:cNvSpPr txBox="1"/>
          <p:nvPr/>
        </p:nvSpPr>
        <p:spPr>
          <a:xfrm>
            <a:off x="6483096" y="500176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Bail flag is false</a:t>
            </a:r>
          </a:p>
        </p:txBody>
      </p:sp>
      <p:sp>
        <p:nvSpPr>
          <p:cNvPr id="35" name="Rectangle 34"/>
          <p:cNvSpPr/>
          <p:nvPr/>
        </p:nvSpPr>
        <p:spPr>
          <a:xfrm>
            <a:off x="4069080" y="5303520"/>
            <a:ext cx="7525512" cy="356616"/>
          </a:xfrm>
          <a:prstGeom prst="rect">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4233672" y="5367528"/>
            <a:ext cx="594360" cy="228600"/>
          </a:xfrm>
          <a:prstGeom prst="rect">
            <a:avLst/>
          </a:prstGeom>
          <a:noFill/>
        </p:spPr>
        <p:txBody>
          <a:bodyPr wrap="square" lIns="0" rIns="0" tIns="0" bIns="0">
            <a:spAutoFit/>
          </a:bodyPr>
          <a:lstStyle/>
          <a:p>
            <a:pPr>
              <a:spcAft>
                <a:spcPts val="500"/>
              </a:spcAft>
              <a:defRPr sz="1200" b="1">
                <a:solidFill>
                  <a:srgbClr val="21394D"/>
                </a:solidFill>
                <a:latin typeface="DejaVu Sans"/>
              </a:defRPr>
            </a:pPr>
            <a:r>
              <a:t>M7</a:t>
            </a:r>
          </a:p>
        </p:txBody>
      </p:sp>
      <p:sp>
        <p:nvSpPr>
          <p:cNvPr id="37" name="TextBox 36"/>
          <p:cNvSpPr txBox="1"/>
          <p:nvPr/>
        </p:nvSpPr>
        <p:spPr>
          <a:xfrm>
            <a:off x="5020056" y="5367528"/>
            <a:ext cx="1280160" cy="228600"/>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INCLUDED</a:t>
            </a:r>
          </a:p>
        </p:txBody>
      </p:sp>
      <p:sp>
        <p:nvSpPr>
          <p:cNvPr id="38" name="TextBox 37"/>
          <p:cNvSpPr txBox="1"/>
          <p:nvPr/>
        </p:nvSpPr>
        <p:spPr>
          <a:xfrm>
            <a:off x="6483096" y="5367528"/>
            <a:ext cx="4864608" cy="237744"/>
          </a:xfrm>
          <a:prstGeom prst="rect">
            <a:avLst/>
          </a:prstGeom>
          <a:noFill/>
        </p:spPr>
        <p:txBody>
          <a:bodyPr wrap="square" lIns="0" rIns="0" tIns="0" bIns="0">
            <a:spAutoFit/>
          </a:bodyPr>
          <a:lstStyle/>
          <a:p>
            <a:pPr>
              <a:spcAft>
                <a:spcPts val="500"/>
              </a:spcAft>
              <a:defRPr sz="1200" b="0">
                <a:solidFill>
                  <a:srgbClr val="21394D"/>
                </a:solidFill>
                <a:latin typeface="DejaVu Sans"/>
              </a:defRPr>
            </a:pPr>
            <a:r>
              <a:t>Relief requested + M2 included</a:t>
            </a:r>
          </a:p>
        </p:txBody>
      </p:sp>
      <p:sp>
        <p:nvSpPr>
          <p:cNvPr id="39" name="Rounded Rectangle 38"/>
          <p:cNvSpPr/>
          <p:nvPr/>
        </p:nvSpPr>
        <p:spPr>
          <a:xfrm>
            <a:off x="594360" y="5879592"/>
            <a:ext cx="11000232" cy="365760"/>
          </a:xfrm>
          <a:prstGeom prst="roundRect">
            <a:avLst>
              <a:gd name="adj" fmla="val 6000"/>
            </a:avLst>
          </a:prstGeom>
          <a:solidFill>
            <a:srgbClr val="E9F4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86384" y="5961888"/>
            <a:ext cx="10616184" cy="228600"/>
          </a:xfrm>
          <a:prstGeom prst="rect">
            <a:avLst/>
          </a:prstGeom>
          <a:noFill/>
        </p:spPr>
        <p:txBody>
          <a:bodyPr wrap="square" lIns="0" rIns="0" tIns="0" bIns="0">
            <a:spAutoFit/>
          </a:bodyPr>
          <a:lstStyle/>
          <a:p>
            <a:pPr>
              <a:spcAft>
                <a:spcPts val="500"/>
              </a:spcAft>
              <a:defRPr sz="1300" b="1">
                <a:solidFill>
                  <a:srgbClr val="21394D"/>
                </a:solidFill>
                <a:latin typeface="DejaVu Sans"/>
              </a:defRPr>
            </a:pPr>
            <a:r>
              <a:t>Output: Jurisdiction → Facts → Procedure → Records → Relief, plus this decision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087F76"/>
                </a:solidFill>
                <a:latin typeface="DejaVu Sans"/>
              </a:defRPr>
            </a:pPr>
            <a:r>
              <a:t>IMPLEMENTATION · CELL 4</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142C43"/>
                </a:solidFill>
                <a:latin typeface="DejaVu Sans"/>
              </a:defRPr>
            </a:pPr>
            <a:r>
              <a:t>How search and query decomposition happen</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62798A"/>
                </a:solidFill>
                <a:latin typeface="DejaVu Sans"/>
              </a:defRPr>
            </a:pPr>
            <a:r>
              <a:t>Controlled example input: C54 section text ; P420 section text. Threshold tau = 0.80.</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62798A"/>
                </a:solidFill>
                <a:latin typeface="DejaVu Sans"/>
              </a:defRPr>
            </a:pPr>
            <a:r>
              <a:t>Notebook cell 4: saved sample output. Notes are simulated; source applicability requires professional assessment.</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62798A"/>
                </a:solidFill>
                <a:latin typeface="DejaVu Sans"/>
              </a:defRPr>
            </a:pPr>
            <a:r>
              <a:t>05 / 07</a:t>
            </a:r>
          </a:p>
        </p:txBody>
      </p:sp>
      <p:sp>
        <p:nvSpPr>
          <p:cNvPr id="7" name="Rounded Rectangle 6"/>
          <p:cNvSpPr/>
          <p:nvPr/>
        </p:nvSpPr>
        <p:spPr>
          <a:xfrm>
            <a:off x="594360" y="2706624"/>
            <a:ext cx="2560320" cy="1691640"/>
          </a:xfrm>
          <a:prstGeom prst="roundRect">
            <a:avLst>
              <a:gd name="adj" fmla="val 6000"/>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58952" y="2926080"/>
            <a:ext cx="2231136" cy="448056"/>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1 · SEARCH WHOLE QUERY</a:t>
            </a:r>
          </a:p>
        </p:txBody>
      </p:sp>
      <p:sp>
        <p:nvSpPr>
          <p:cNvPr id="9" name="TextBox 8"/>
          <p:cNvSpPr txBox="1"/>
          <p:nvPr/>
        </p:nvSpPr>
        <p:spPr>
          <a:xfrm>
            <a:off x="758952" y="3547872"/>
            <a:ext cx="2231136" cy="685800"/>
          </a:xfrm>
          <a:prstGeom prst="rect">
            <a:avLst/>
          </a:prstGeom>
          <a:noFill/>
        </p:spPr>
        <p:txBody>
          <a:bodyPr wrap="square" lIns="0" rIns="0" tIns="0" bIns="0">
            <a:spAutoFit/>
          </a:bodyPr>
          <a:lstStyle/>
          <a:p>
            <a:pPr>
              <a:spcAft>
                <a:spcPts val="500"/>
              </a:spcAft>
              <a:defRPr sz="1300" b="0">
                <a:solidFill>
                  <a:srgbClr val="21394D"/>
                </a:solidFill>
                <a:latin typeface="DejaVu Sans"/>
              </a:defRPr>
            </a:pPr>
            <a:r>
              <a:t>Best score: 0.7879</a:t>
            </a:r>
          </a:p>
          <a:p>
            <a:pPr>
              <a:spcAft>
                <a:spcPts val="500"/>
              </a:spcAft>
              <a:defRPr sz="1300" b="0">
                <a:solidFill>
                  <a:srgbClr val="21394D"/>
                </a:solidFill>
                <a:latin typeface="DejaVu Sans"/>
              </a:defRPr>
            </a:pPr>
            <a:r>
              <a:t>Below 0.80 → no accepted hit</a:t>
            </a:r>
          </a:p>
        </p:txBody>
      </p:sp>
      <p:sp>
        <p:nvSpPr>
          <p:cNvPr id="10" name="TextBox 9"/>
          <p:cNvSpPr txBox="1"/>
          <p:nvPr/>
        </p:nvSpPr>
        <p:spPr>
          <a:xfrm>
            <a:off x="3200400" y="3374136"/>
            <a:ext cx="210312" cy="292608"/>
          </a:xfrm>
          <a:prstGeom prst="rect">
            <a:avLst/>
          </a:prstGeom>
          <a:noFill/>
        </p:spPr>
        <p:txBody>
          <a:bodyPr wrap="square" lIns="0" rIns="0" tIns="0" bIns="0">
            <a:spAutoFit/>
          </a:bodyPr>
          <a:lstStyle/>
          <a:p>
            <a:pPr>
              <a:spcAft>
                <a:spcPts val="500"/>
              </a:spcAft>
              <a:defRPr sz="1500" b="1">
                <a:solidFill>
                  <a:srgbClr val="087F76"/>
                </a:solidFill>
                <a:latin typeface="DejaVu Sans"/>
              </a:defRPr>
            </a:pPr>
            <a:r>
              <a:t>→</a:t>
            </a:r>
          </a:p>
        </p:txBody>
      </p:sp>
      <p:sp>
        <p:nvSpPr>
          <p:cNvPr id="11" name="Rounded Rectangle 10"/>
          <p:cNvSpPr/>
          <p:nvPr/>
        </p:nvSpPr>
        <p:spPr>
          <a:xfrm>
            <a:off x="3410712" y="2706624"/>
            <a:ext cx="2560320" cy="1691640"/>
          </a:xfrm>
          <a:prstGeom prst="roundRect">
            <a:avLst>
              <a:gd name="adj" fmla="val 6000"/>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575304" y="2926080"/>
            <a:ext cx="2231136" cy="448056"/>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2 · SPLIT THE ISSUES</a:t>
            </a:r>
          </a:p>
        </p:txBody>
      </p:sp>
      <p:sp>
        <p:nvSpPr>
          <p:cNvPr id="13" name="TextBox 12"/>
          <p:cNvSpPr txBox="1"/>
          <p:nvPr/>
        </p:nvSpPr>
        <p:spPr>
          <a:xfrm>
            <a:off x="3575304" y="3547872"/>
            <a:ext cx="2231136" cy="685800"/>
          </a:xfrm>
          <a:prstGeom prst="rect">
            <a:avLst/>
          </a:prstGeom>
          <a:noFill/>
        </p:spPr>
        <p:txBody>
          <a:bodyPr wrap="square" lIns="0" rIns="0" tIns="0" bIns="0">
            <a:spAutoFit/>
          </a:bodyPr>
          <a:lstStyle/>
          <a:p>
            <a:pPr>
              <a:spcAft>
                <a:spcPts val="500"/>
              </a:spcAft>
              <a:defRPr sz="1300" b="0">
                <a:solidFill>
                  <a:srgbClr val="21394D"/>
                </a:solidFill>
                <a:latin typeface="DejaVu Sans"/>
              </a:defRPr>
            </a:pPr>
            <a:r>
              <a:t>Split at the semicolon</a:t>
            </a:r>
          </a:p>
          <a:p>
            <a:pPr>
              <a:spcAft>
                <a:spcPts val="500"/>
              </a:spcAft>
              <a:defRPr sz="1300" b="0">
                <a:solidFill>
                  <a:srgbClr val="21394D"/>
                </a:solidFill>
                <a:latin typeface="DejaVu Sans"/>
              </a:defRPr>
            </a:pPr>
            <a:r>
              <a:t>C54 text / P420 text</a:t>
            </a:r>
          </a:p>
        </p:txBody>
      </p:sp>
      <p:sp>
        <p:nvSpPr>
          <p:cNvPr id="14" name="TextBox 13"/>
          <p:cNvSpPr txBox="1"/>
          <p:nvPr/>
        </p:nvSpPr>
        <p:spPr>
          <a:xfrm>
            <a:off x="6016752" y="3374136"/>
            <a:ext cx="210312" cy="292608"/>
          </a:xfrm>
          <a:prstGeom prst="rect">
            <a:avLst/>
          </a:prstGeom>
          <a:noFill/>
        </p:spPr>
        <p:txBody>
          <a:bodyPr wrap="square" lIns="0" rIns="0" tIns="0" bIns="0">
            <a:spAutoFit/>
          </a:bodyPr>
          <a:lstStyle/>
          <a:p>
            <a:pPr>
              <a:spcAft>
                <a:spcPts val="500"/>
              </a:spcAft>
              <a:defRPr sz="1500" b="1">
                <a:solidFill>
                  <a:srgbClr val="087F76"/>
                </a:solidFill>
                <a:latin typeface="DejaVu Sans"/>
              </a:defRPr>
            </a:pPr>
            <a:r>
              <a:t>→</a:t>
            </a:r>
          </a:p>
        </p:txBody>
      </p:sp>
      <p:sp>
        <p:nvSpPr>
          <p:cNvPr id="15" name="Rounded Rectangle 14"/>
          <p:cNvSpPr/>
          <p:nvPr/>
        </p:nvSpPr>
        <p:spPr>
          <a:xfrm>
            <a:off x="6227064" y="2706624"/>
            <a:ext cx="2560320" cy="1691640"/>
          </a:xfrm>
          <a:prstGeom prst="roundRect">
            <a:avLst>
              <a:gd name="adj" fmla="val 6000"/>
            </a:avLst>
          </a:prstGeom>
          <a:solidFill>
            <a:srgbClr val="F0F4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91656" y="2926080"/>
            <a:ext cx="2231136" cy="448056"/>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3 · SEARCH EACH PART</a:t>
            </a:r>
          </a:p>
        </p:txBody>
      </p:sp>
      <p:sp>
        <p:nvSpPr>
          <p:cNvPr id="17" name="TextBox 16"/>
          <p:cNvSpPr txBox="1"/>
          <p:nvPr/>
        </p:nvSpPr>
        <p:spPr>
          <a:xfrm>
            <a:off x="6391656" y="3547872"/>
            <a:ext cx="2231136" cy="685800"/>
          </a:xfrm>
          <a:prstGeom prst="rect">
            <a:avLst/>
          </a:prstGeom>
          <a:noFill/>
        </p:spPr>
        <p:txBody>
          <a:bodyPr wrap="square" lIns="0" rIns="0" tIns="0" bIns="0">
            <a:spAutoFit/>
          </a:bodyPr>
          <a:lstStyle/>
          <a:p>
            <a:pPr>
              <a:spcAft>
                <a:spcPts val="500"/>
              </a:spcAft>
              <a:defRPr sz="1300" b="0">
                <a:solidFill>
                  <a:srgbClr val="21394D"/>
                </a:solidFill>
                <a:latin typeface="DejaVu Sans"/>
              </a:defRPr>
            </a:pPr>
            <a:r>
              <a:t>Exact-text matches ≈ 1.0</a:t>
            </a:r>
          </a:p>
          <a:p>
            <a:pPr>
              <a:spcAft>
                <a:spcPts val="500"/>
              </a:spcAft>
              <a:defRPr sz="1300" b="0">
                <a:solidFill>
                  <a:srgbClr val="21394D"/>
                </a:solidFill>
                <a:latin typeface="DejaVu Sans"/>
              </a:defRPr>
            </a:pPr>
            <a:r>
              <a:t>Both pass the same gate</a:t>
            </a:r>
          </a:p>
        </p:txBody>
      </p:sp>
      <p:sp>
        <p:nvSpPr>
          <p:cNvPr id="18" name="TextBox 17"/>
          <p:cNvSpPr txBox="1"/>
          <p:nvPr/>
        </p:nvSpPr>
        <p:spPr>
          <a:xfrm>
            <a:off x="8833104" y="3374136"/>
            <a:ext cx="210312" cy="292608"/>
          </a:xfrm>
          <a:prstGeom prst="rect">
            <a:avLst/>
          </a:prstGeom>
          <a:noFill/>
        </p:spPr>
        <p:txBody>
          <a:bodyPr wrap="square" lIns="0" rIns="0" tIns="0" bIns="0">
            <a:spAutoFit/>
          </a:bodyPr>
          <a:lstStyle/>
          <a:p>
            <a:pPr>
              <a:spcAft>
                <a:spcPts val="500"/>
              </a:spcAft>
              <a:defRPr sz="1500" b="1">
                <a:solidFill>
                  <a:srgbClr val="087F76"/>
                </a:solidFill>
                <a:latin typeface="DejaVu Sans"/>
              </a:defRPr>
            </a:pPr>
            <a:r>
              <a:t>→</a:t>
            </a:r>
          </a:p>
        </p:txBody>
      </p:sp>
      <p:sp>
        <p:nvSpPr>
          <p:cNvPr id="19" name="Rounded Rectangle 18"/>
          <p:cNvSpPr/>
          <p:nvPr/>
        </p:nvSpPr>
        <p:spPr>
          <a:xfrm>
            <a:off x="9043416" y="2706624"/>
            <a:ext cx="2560320" cy="1691640"/>
          </a:xfrm>
          <a:prstGeom prst="roundRect">
            <a:avLst>
              <a:gd name="adj" fmla="val 6000"/>
            </a:avLst>
          </a:prstGeom>
          <a:solidFill>
            <a:srgbClr val="E9F4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08008" y="2926080"/>
            <a:ext cx="2231136" cy="448056"/>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4 · MERGE RESULTS</a:t>
            </a:r>
          </a:p>
        </p:txBody>
      </p:sp>
      <p:sp>
        <p:nvSpPr>
          <p:cNvPr id="21" name="TextBox 20"/>
          <p:cNvSpPr txBox="1"/>
          <p:nvPr/>
        </p:nvSpPr>
        <p:spPr>
          <a:xfrm>
            <a:off x="9208008" y="3547872"/>
            <a:ext cx="2231136" cy="685800"/>
          </a:xfrm>
          <a:prstGeom prst="rect">
            <a:avLst/>
          </a:prstGeom>
          <a:noFill/>
        </p:spPr>
        <p:txBody>
          <a:bodyPr wrap="square" lIns="0" rIns="0" tIns="0" bIns="0">
            <a:spAutoFit/>
          </a:bodyPr>
          <a:lstStyle/>
          <a:p>
            <a:pPr>
              <a:spcAft>
                <a:spcPts val="500"/>
              </a:spcAft>
              <a:defRPr sz="1300" b="0">
                <a:solidFill>
                  <a:srgbClr val="21394D"/>
                </a:solidFill>
                <a:latin typeface="DejaVu Sans"/>
              </a:defRPr>
            </a:pPr>
            <a:r>
              <a:t>Return C54 + P420</a:t>
            </a:r>
          </a:p>
          <a:p>
            <a:pPr>
              <a:spcAft>
                <a:spcPts val="500"/>
              </a:spcAft>
              <a:defRPr sz="1300" b="0">
                <a:solidFill>
                  <a:srgbClr val="21394D"/>
                </a:solidFill>
                <a:latin typeface="DejaVu Sans"/>
              </a:defRPr>
            </a:pPr>
            <a:r>
              <a:t>Remove duplicate sources</a:t>
            </a:r>
          </a:p>
        </p:txBody>
      </p:sp>
      <p:sp>
        <p:nvSpPr>
          <p:cNvPr id="22" name="Rounded Rectangle 21"/>
          <p:cNvSpPr/>
          <p:nvPr/>
        </p:nvSpPr>
        <p:spPr>
          <a:xfrm>
            <a:off x="594360" y="4681728"/>
            <a:ext cx="11000232" cy="1005840"/>
          </a:xfrm>
          <a:prstGeom prst="roundRect">
            <a:avLst>
              <a:gd name="adj" fmla="val 6000"/>
            </a:avLst>
          </a:prstGeom>
          <a:solidFill>
            <a:srgbClr val="142C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2104" y="4864608"/>
            <a:ext cx="10515600" cy="256032"/>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SEPARATE DRAFT REVIEW</a:t>
            </a:r>
          </a:p>
        </p:txBody>
      </p:sp>
      <p:sp>
        <p:nvSpPr>
          <p:cNvPr id="24" name="TextBox 23"/>
          <p:cNvSpPr txBox="1"/>
          <p:nvPr/>
        </p:nvSpPr>
        <p:spPr>
          <a:xfrm>
            <a:off x="832104" y="5285232"/>
            <a:ext cx="10515600" cy="274320"/>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Citation markers + recorded dates → M3/C54, M3/C167 and M5/C167 receive update warnings.</a:t>
            </a:r>
          </a:p>
        </p:txBody>
      </p:sp>
      <p:sp>
        <p:nvSpPr>
          <p:cNvPr id="25" name="TextBox 24"/>
          <p:cNvSpPr txBox="1"/>
          <p:nvPr/>
        </p:nvSpPr>
        <p:spPr>
          <a:xfrm>
            <a:off x="594360" y="5943600"/>
            <a:ext cx="10972800" cy="310896"/>
          </a:xfrm>
          <a:prstGeom prst="rect">
            <a:avLst/>
          </a:prstGeom>
          <a:noFill/>
        </p:spPr>
        <p:txBody>
          <a:bodyPr wrap="square" lIns="0" rIns="0" tIns="0" bIns="0">
            <a:spAutoFit/>
          </a:bodyPr>
          <a:lstStyle/>
          <a:p>
            <a:pPr>
              <a:spcAft>
                <a:spcPts val="500"/>
              </a:spcAft>
              <a:defRPr sz="1200" b="0">
                <a:solidFill>
                  <a:srgbClr val="62798A"/>
                </a:solidFill>
                <a:latin typeface="DejaVu Sans"/>
              </a:defRPr>
            </a:pPr>
            <a:r>
              <a:t>The ordinary case summary has no accepted sources. Exact-text success is not a retrieval-quality benchmark.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C43"/>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8DD9C9"/>
                </a:solidFill>
                <a:latin typeface="DejaVu Sans"/>
              </a:defRPr>
            </a:pPr>
            <a:r>
              <a:t>IMPLEMENTATION · CELL 5</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FFFFFF"/>
                </a:solidFill>
                <a:latin typeface="DejaVu Sans"/>
              </a:defRPr>
            </a:pPr>
            <a:r>
              <a:t>What each regression test is trying to catch</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C5D7E1"/>
                </a:solidFill>
                <a:latin typeface="DejaVu Sans"/>
              </a:defRPr>
            </a:pPr>
            <a:r>
              <a:t>Each test starts with an input or change, then checks a written expectation.</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A8BFCD"/>
                </a:solidFill>
                <a:latin typeface="DejaVu Sans"/>
              </a:defRPr>
            </a:pPr>
            <a:r>
              <a:t>Notebook cell 5: four test groups passed; fixtures are synthetic, not genuinely lawyer-approved historical files.</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A8BFCD"/>
                </a:solidFill>
                <a:latin typeface="DejaVu Sans"/>
              </a:defRPr>
            </a:pPr>
            <a:r>
              <a:t>06 / 07</a:t>
            </a:r>
          </a:p>
        </p:txBody>
      </p:sp>
      <p:sp>
        <p:nvSpPr>
          <p:cNvPr id="7" name="Rectangle 6"/>
          <p:cNvSpPr/>
          <p:nvPr/>
        </p:nvSpPr>
        <p:spPr>
          <a:xfrm>
            <a:off x="594360" y="2724912"/>
            <a:ext cx="11000232" cy="402336"/>
          </a:xfrm>
          <a:prstGeom prst="rect">
            <a:avLst/>
          </a:prstGeom>
          <a:solidFill>
            <a:srgbClr val="36556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04672" y="2834640"/>
            <a:ext cx="2322576" cy="210312"/>
          </a:xfrm>
          <a:prstGeom prst="rect">
            <a:avLst/>
          </a:prstGeom>
          <a:noFill/>
        </p:spPr>
        <p:txBody>
          <a:bodyPr wrap="square" lIns="0" rIns="0" tIns="0" bIns="0">
            <a:spAutoFit/>
          </a:bodyPr>
          <a:lstStyle/>
          <a:p>
            <a:pPr>
              <a:spcAft>
                <a:spcPts val="500"/>
              </a:spcAft>
              <a:defRPr sz="1000" b="1">
                <a:solidFill>
                  <a:srgbClr val="8DD9C9"/>
                </a:solidFill>
                <a:latin typeface="DejaVu Sans"/>
              </a:defRPr>
            </a:pPr>
            <a:r>
              <a:t>TEST</a:t>
            </a:r>
          </a:p>
        </p:txBody>
      </p:sp>
      <p:sp>
        <p:nvSpPr>
          <p:cNvPr id="9" name="TextBox 8"/>
          <p:cNvSpPr txBox="1"/>
          <p:nvPr/>
        </p:nvSpPr>
        <p:spPr>
          <a:xfrm>
            <a:off x="3273552" y="2834640"/>
            <a:ext cx="3419856" cy="210312"/>
          </a:xfrm>
          <a:prstGeom prst="rect">
            <a:avLst/>
          </a:prstGeom>
          <a:noFill/>
        </p:spPr>
        <p:txBody>
          <a:bodyPr wrap="square" lIns="0" rIns="0" tIns="0" bIns="0">
            <a:spAutoFit/>
          </a:bodyPr>
          <a:lstStyle/>
          <a:p>
            <a:pPr>
              <a:spcAft>
                <a:spcPts val="500"/>
              </a:spcAft>
              <a:defRPr sz="1000" b="1">
                <a:solidFill>
                  <a:srgbClr val="8DD9C9"/>
                </a:solidFill>
                <a:latin typeface="DejaVu Sans"/>
              </a:defRPr>
            </a:pPr>
            <a:r>
              <a:t>INPUT / CHANGE</a:t>
            </a:r>
          </a:p>
        </p:txBody>
      </p:sp>
      <p:sp>
        <p:nvSpPr>
          <p:cNvPr id="10" name="TextBox 9"/>
          <p:cNvSpPr txBox="1"/>
          <p:nvPr/>
        </p:nvSpPr>
        <p:spPr>
          <a:xfrm>
            <a:off x="6949440" y="2834640"/>
            <a:ext cx="4389120" cy="210312"/>
          </a:xfrm>
          <a:prstGeom prst="rect">
            <a:avLst/>
          </a:prstGeom>
          <a:noFill/>
        </p:spPr>
        <p:txBody>
          <a:bodyPr wrap="square" lIns="0" rIns="0" tIns="0" bIns="0">
            <a:spAutoFit/>
          </a:bodyPr>
          <a:lstStyle/>
          <a:p>
            <a:pPr>
              <a:spcAft>
                <a:spcPts val="500"/>
              </a:spcAft>
              <a:defRPr sz="1000" b="1">
                <a:solidFill>
                  <a:srgbClr val="8DD9C9"/>
                </a:solidFill>
                <a:latin typeface="DejaVu Sans"/>
              </a:defRPr>
            </a:pPr>
            <a:r>
              <a:t>WHAT WE EXPECT</a:t>
            </a:r>
          </a:p>
        </p:txBody>
      </p:sp>
      <p:sp>
        <p:nvSpPr>
          <p:cNvPr id="11" name="Rectangle 10"/>
          <p:cNvSpPr/>
          <p:nvPr/>
        </p:nvSpPr>
        <p:spPr>
          <a:xfrm>
            <a:off x="594360" y="3145536"/>
            <a:ext cx="11000232" cy="612648"/>
          </a:xfrm>
          <a:prstGeom prst="rect">
            <a:avLst/>
          </a:prstGeom>
          <a:solidFill>
            <a:srgbClr val="203F5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04672" y="3291840"/>
            <a:ext cx="2322576" cy="393192"/>
          </a:xfrm>
          <a:prstGeom prst="rect">
            <a:avLst/>
          </a:prstGeom>
          <a:noFill/>
        </p:spPr>
        <p:txBody>
          <a:bodyPr wrap="square" lIns="0" rIns="0" tIns="0" bIns="0">
            <a:spAutoFit/>
          </a:bodyPr>
          <a:lstStyle/>
          <a:p>
            <a:pPr>
              <a:spcAft>
                <a:spcPts val="500"/>
              </a:spcAft>
              <a:defRPr sz="1400" b="1">
                <a:solidFill>
                  <a:srgbClr val="FFFFFF"/>
                </a:solidFill>
                <a:latin typeface="DejaVu Sans"/>
              </a:defRPr>
            </a:pPr>
            <a:r>
              <a:t>Repeatability</a:t>
            </a:r>
          </a:p>
        </p:txBody>
      </p:sp>
      <p:sp>
        <p:nvSpPr>
          <p:cNvPr id="13" name="TextBox 12"/>
          <p:cNvSpPr txBox="1"/>
          <p:nvPr/>
        </p:nvSpPr>
        <p:spPr>
          <a:xfrm>
            <a:off x="3273552" y="3291840"/>
            <a:ext cx="3419856"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Same case run 25 times</a:t>
            </a:r>
          </a:p>
        </p:txBody>
      </p:sp>
      <p:sp>
        <p:nvSpPr>
          <p:cNvPr id="14" name="TextBox 13"/>
          <p:cNvSpPr txBox="1"/>
          <p:nvPr/>
        </p:nvSpPr>
        <p:spPr>
          <a:xfrm>
            <a:off x="6949440" y="3291840"/>
            <a:ext cx="4389120"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No drift in text or full result</a:t>
            </a:r>
          </a:p>
        </p:txBody>
      </p:sp>
      <p:sp>
        <p:nvSpPr>
          <p:cNvPr id="15" name="Rectangle 14"/>
          <p:cNvSpPr/>
          <p:nvPr/>
        </p:nvSpPr>
        <p:spPr>
          <a:xfrm>
            <a:off x="594360" y="3785615"/>
            <a:ext cx="11000232" cy="612648"/>
          </a:xfrm>
          <a:prstGeom prst="rect">
            <a:avLst/>
          </a:prstGeom>
          <a:solidFill>
            <a:srgbClr val="142C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04672" y="3931920"/>
            <a:ext cx="2322576" cy="393192"/>
          </a:xfrm>
          <a:prstGeom prst="rect">
            <a:avLst/>
          </a:prstGeom>
          <a:noFill/>
        </p:spPr>
        <p:txBody>
          <a:bodyPr wrap="square" lIns="0" rIns="0" tIns="0" bIns="0">
            <a:spAutoFit/>
          </a:bodyPr>
          <a:lstStyle/>
          <a:p>
            <a:pPr>
              <a:spcAft>
                <a:spcPts val="500"/>
              </a:spcAft>
              <a:defRPr sz="1400" b="1">
                <a:solidFill>
                  <a:srgbClr val="FFFFFF"/>
                </a:solidFill>
                <a:latin typeface="DejaVu Sans"/>
              </a:defRPr>
            </a:pPr>
            <a:r>
              <a:t>Reference-case parity</a:t>
            </a:r>
          </a:p>
        </p:txBody>
      </p:sp>
      <p:sp>
        <p:nvSpPr>
          <p:cNvPr id="17" name="TextBox 16"/>
          <p:cNvSpPr txBox="1"/>
          <p:nvPr/>
        </p:nvSpPr>
        <p:spPr>
          <a:xfrm>
            <a:off x="3273552" y="3931920"/>
            <a:ext cx="3419856"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Four fixed synthetic cases</a:t>
            </a:r>
          </a:p>
        </p:txBody>
      </p:sp>
      <p:sp>
        <p:nvSpPr>
          <p:cNvPr id="18" name="TextBox 17"/>
          <p:cNvSpPr txBox="1"/>
          <p:nvPr/>
        </p:nvSpPr>
        <p:spPr>
          <a:xfrm>
            <a:off x="6949440" y="3931920"/>
            <a:ext cx="4389120"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Expected blocks, order and citations</a:t>
            </a:r>
          </a:p>
        </p:txBody>
      </p:sp>
      <p:sp>
        <p:nvSpPr>
          <p:cNvPr id="19" name="Rectangle 18"/>
          <p:cNvSpPr/>
          <p:nvPr/>
        </p:nvSpPr>
        <p:spPr>
          <a:xfrm>
            <a:off x="594360" y="4425696"/>
            <a:ext cx="11000232" cy="612648"/>
          </a:xfrm>
          <a:prstGeom prst="rect">
            <a:avLst/>
          </a:prstGeom>
          <a:solidFill>
            <a:srgbClr val="203F5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04672" y="4572000"/>
            <a:ext cx="2322576" cy="393192"/>
          </a:xfrm>
          <a:prstGeom prst="rect">
            <a:avLst/>
          </a:prstGeom>
          <a:noFill/>
        </p:spPr>
        <p:txBody>
          <a:bodyPr wrap="square" lIns="0" rIns="0" tIns="0" bIns="0">
            <a:spAutoFit/>
          </a:bodyPr>
          <a:lstStyle/>
          <a:p>
            <a:pPr>
              <a:spcAft>
                <a:spcPts val="500"/>
              </a:spcAft>
              <a:defRPr sz="1400" b="1">
                <a:solidFill>
                  <a:srgbClr val="FFFFFF"/>
                </a:solidFill>
                <a:latin typeface="DejaVu Sans"/>
              </a:defRPr>
            </a:pPr>
            <a:r>
              <a:t>Conflict guard</a:t>
            </a:r>
          </a:p>
        </p:txBody>
      </p:sp>
      <p:sp>
        <p:nvSpPr>
          <p:cNvPr id="21" name="TextBox 20"/>
          <p:cNvSpPr txBox="1"/>
          <p:nvPr/>
        </p:nvSpPr>
        <p:spPr>
          <a:xfrm>
            <a:off x="3273552" y="4572000"/>
            <a:ext cx="3419856"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Turn both exclusive routes on</a:t>
            </a:r>
          </a:p>
        </p:txBody>
      </p:sp>
      <p:sp>
        <p:nvSpPr>
          <p:cNvPr id="22" name="TextBox 21"/>
          <p:cNvSpPr txBox="1"/>
          <p:nvPr/>
        </p:nvSpPr>
        <p:spPr>
          <a:xfrm>
            <a:off x="6949440" y="4572000"/>
            <a:ext cx="4389120"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Reject them with a consistent error</a:t>
            </a:r>
          </a:p>
        </p:txBody>
      </p:sp>
      <p:sp>
        <p:nvSpPr>
          <p:cNvPr id="23" name="Rectangle 22"/>
          <p:cNvSpPr/>
          <p:nvPr/>
        </p:nvSpPr>
        <p:spPr>
          <a:xfrm>
            <a:off x="594360" y="5065775"/>
            <a:ext cx="11000232" cy="612648"/>
          </a:xfrm>
          <a:prstGeom prst="rect">
            <a:avLst/>
          </a:prstGeom>
          <a:solidFill>
            <a:srgbClr val="142C4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04672" y="5212079"/>
            <a:ext cx="2322576" cy="393192"/>
          </a:xfrm>
          <a:prstGeom prst="rect">
            <a:avLst/>
          </a:prstGeom>
          <a:noFill/>
        </p:spPr>
        <p:txBody>
          <a:bodyPr wrap="square" lIns="0" rIns="0" tIns="0" bIns="0">
            <a:spAutoFit/>
          </a:bodyPr>
          <a:lstStyle/>
          <a:p>
            <a:pPr>
              <a:spcAft>
                <a:spcPts val="500"/>
              </a:spcAft>
              <a:defRPr sz="1400" b="1">
                <a:solidFill>
                  <a:srgbClr val="FFFFFF"/>
                </a:solidFill>
                <a:latin typeface="DejaVu Sans"/>
              </a:defRPr>
            </a:pPr>
            <a:r>
              <a:t>Update alerting</a:t>
            </a:r>
          </a:p>
        </p:txBody>
      </p:sp>
      <p:sp>
        <p:nvSpPr>
          <p:cNvPr id="25" name="TextBox 24"/>
          <p:cNvSpPr txBox="1"/>
          <p:nvPr/>
        </p:nvSpPr>
        <p:spPr>
          <a:xfrm>
            <a:off x="3273552" y="5212079"/>
            <a:ext cx="3419856"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Add a simulated C167 judgment note</a:t>
            </a:r>
          </a:p>
        </p:txBody>
      </p:sp>
      <p:sp>
        <p:nvSpPr>
          <p:cNvPr id="26" name="TextBox 25"/>
          <p:cNvSpPr txBox="1"/>
          <p:nvPr/>
        </p:nvSpPr>
        <p:spPr>
          <a:xfrm>
            <a:off x="6949440" y="5212079"/>
            <a:ext cx="4389120" cy="393192"/>
          </a:xfrm>
          <a:prstGeom prst="rect">
            <a:avLst/>
          </a:prstGeom>
          <a:noFill/>
        </p:spPr>
        <p:txBody>
          <a:bodyPr wrap="square" lIns="0" rIns="0" tIns="0" bIns="0">
            <a:spAutoFit/>
          </a:bodyPr>
          <a:lstStyle/>
          <a:p>
            <a:pPr>
              <a:spcAft>
                <a:spcPts val="500"/>
              </a:spcAft>
              <a:defRPr sz="1300" b="0">
                <a:solidFill>
                  <a:srgbClr val="FFFFFF"/>
                </a:solidFill>
                <a:latin typeface="DejaVu Sans"/>
              </a:defRPr>
            </a:pPr>
            <a:r>
              <a:t>Flag M3 and M5 as needing review</a:t>
            </a:r>
          </a:p>
        </p:txBody>
      </p:sp>
      <p:sp>
        <p:nvSpPr>
          <p:cNvPr id="27" name="TextBox 26"/>
          <p:cNvSpPr txBox="1"/>
          <p:nvPr/>
        </p:nvSpPr>
        <p:spPr>
          <a:xfrm>
            <a:off x="658368" y="5916168"/>
            <a:ext cx="10881360" cy="320040"/>
          </a:xfrm>
          <a:prstGeom prst="rect">
            <a:avLst/>
          </a:prstGeom>
          <a:noFill/>
        </p:spPr>
        <p:txBody>
          <a:bodyPr wrap="square" lIns="0" rIns="0" tIns="0" bIns="0">
            <a:spAutoFit/>
          </a:bodyPr>
          <a:lstStyle/>
          <a:p>
            <a:pPr>
              <a:spcAft>
                <a:spcPts val="500"/>
              </a:spcAft>
              <a:defRPr sz="1300" b="1">
                <a:solidFill>
                  <a:srgbClr val="8DD9C9"/>
                </a:solidFill>
                <a:latin typeface="DejaVu Sans"/>
              </a:defRPr>
            </a:pPr>
            <a:r>
              <a:t>All four groups PASS. Extra assertions check missing/unknown citations and retrieval paths.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10058400" cy="274320"/>
          </a:xfrm>
          <a:prstGeom prst="rect">
            <a:avLst/>
          </a:prstGeom>
          <a:noFill/>
        </p:spPr>
        <p:txBody>
          <a:bodyPr wrap="square" lIns="0" rIns="0" tIns="0" bIns="0">
            <a:spAutoFit/>
          </a:bodyPr>
          <a:lstStyle/>
          <a:p>
            <a:pPr>
              <a:spcAft>
                <a:spcPts val="500"/>
              </a:spcAft>
              <a:defRPr sz="1100" b="1">
                <a:solidFill>
                  <a:srgbClr val="087F76"/>
                </a:solidFill>
                <a:latin typeface="DejaVu Sans"/>
              </a:defRPr>
            </a:pPr>
            <a:r>
              <a:t>PROPOSED NEXT STEPS</a:t>
            </a:r>
          </a:p>
        </p:txBody>
      </p:sp>
      <p:sp>
        <p:nvSpPr>
          <p:cNvPr id="3" name="TextBox 2"/>
          <p:cNvSpPr txBox="1"/>
          <p:nvPr/>
        </p:nvSpPr>
        <p:spPr>
          <a:xfrm>
            <a:off x="594360" y="950976"/>
            <a:ext cx="10972800" cy="960120"/>
          </a:xfrm>
          <a:prstGeom prst="rect">
            <a:avLst/>
          </a:prstGeom>
          <a:noFill/>
        </p:spPr>
        <p:txBody>
          <a:bodyPr wrap="square" lIns="0" rIns="0" tIns="0" bIns="0">
            <a:spAutoFit/>
          </a:bodyPr>
          <a:lstStyle/>
          <a:p>
            <a:pPr>
              <a:spcAft>
                <a:spcPts val="500"/>
              </a:spcAft>
              <a:defRPr sz="3000" b="1">
                <a:solidFill>
                  <a:srgbClr val="142C43"/>
                </a:solidFill>
                <a:latin typeface="DejaVu Sans"/>
              </a:defRPr>
            </a:pPr>
            <a:r>
              <a:t>How I would keep it reliable in real use</a:t>
            </a:r>
          </a:p>
        </p:txBody>
      </p:sp>
      <p:sp>
        <p:nvSpPr>
          <p:cNvPr id="4" name="TextBox 3"/>
          <p:cNvSpPr txBox="1"/>
          <p:nvPr/>
        </p:nvSpPr>
        <p:spPr>
          <a:xfrm>
            <a:off x="594360" y="1938528"/>
            <a:ext cx="10972800" cy="548640"/>
          </a:xfrm>
          <a:prstGeom prst="rect">
            <a:avLst/>
          </a:prstGeom>
          <a:noFill/>
        </p:spPr>
        <p:txBody>
          <a:bodyPr wrap="square" lIns="0" rIns="0" tIns="0" bIns="0">
            <a:spAutoFit/>
          </a:bodyPr>
          <a:lstStyle/>
          <a:p>
            <a:pPr>
              <a:spcAft>
                <a:spcPts val="500"/>
              </a:spcAft>
              <a:defRPr sz="1500" b="0">
                <a:solidFill>
                  <a:srgbClr val="62798A"/>
                </a:solidFill>
                <a:latin typeface="DejaVu Sans"/>
              </a:defRPr>
            </a:pPr>
            <a:r>
              <a:t>Start with one approved workflow, then expand only after review.</a:t>
            </a:r>
          </a:p>
        </p:txBody>
      </p:sp>
      <p:sp>
        <p:nvSpPr>
          <p:cNvPr id="5" name="TextBox 4"/>
          <p:cNvSpPr txBox="1"/>
          <p:nvPr/>
        </p:nvSpPr>
        <p:spPr>
          <a:xfrm>
            <a:off x="594360" y="6519672"/>
            <a:ext cx="9966960" cy="182880"/>
          </a:xfrm>
          <a:prstGeom prst="rect">
            <a:avLst/>
          </a:prstGeom>
          <a:noFill/>
        </p:spPr>
        <p:txBody>
          <a:bodyPr wrap="square" lIns="0" rIns="0" tIns="0" bIns="0">
            <a:spAutoFit/>
          </a:bodyPr>
          <a:lstStyle/>
          <a:p>
            <a:pPr>
              <a:spcAft>
                <a:spcPts val="500"/>
              </a:spcAft>
              <a:defRPr sz="800" b="0">
                <a:solidFill>
                  <a:srgbClr val="62798A"/>
                </a:solidFill>
                <a:latin typeface="DejaVu Sans"/>
              </a:defRPr>
            </a:pPr>
            <a:r>
              <a:t>Proposed improvements based on the brief and demo limitations, not verified shortcomings in the existing company system.</a:t>
            </a:r>
          </a:p>
        </p:txBody>
      </p:sp>
      <p:sp>
        <p:nvSpPr>
          <p:cNvPr id="6" name="TextBox 5"/>
          <p:cNvSpPr txBox="1"/>
          <p:nvPr/>
        </p:nvSpPr>
        <p:spPr>
          <a:xfrm>
            <a:off x="10835640" y="6446520"/>
            <a:ext cx="731520" cy="274320"/>
          </a:xfrm>
          <a:prstGeom prst="rect">
            <a:avLst/>
          </a:prstGeom>
          <a:noFill/>
        </p:spPr>
        <p:txBody>
          <a:bodyPr wrap="square" lIns="0" rIns="0" tIns="0" bIns="0">
            <a:spAutoFit/>
          </a:bodyPr>
          <a:lstStyle/>
          <a:p>
            <a:pPr>
              <a:spcAft>
                <a:spcPts val="500"/>
              </a:spcAft>
              <a:defRPr sz="1000" b="0">
                <a:solidFill>
                  <a:srgbClr val="62798A"/>
                </a:solidFill>
                <a:latin typeface="DejaVu Sans"/>
              </a:defRPr>
            </a:pPr>
            <a:r>
              <a:t>07 / 07</a:t>
            </a:r>
          </a:p>
        </p:txBody>
      </p:sp>
      <p:sp>
        <p:nvSpPr>
          <p:cNvPr id="7" name="TextBox 6"/>
          <p:cNvSpPr txBox="1"/>
          <p:nvPr/>
        </p:nvSpPr>
        <p:spPr>
          <a:xfrm>
            <a:off x="667512" y="2761488"/>
            <a:ext cx="2011680" cy="256032"/>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BEFORE THE PILOT</a:t>
            </a:r>
          </a:p>
        </p:txBody>
      </p:sp>
      <p:sp>
        <p:nvSpPr>
          <p:cNvPr id="8" name="Rectangle 7"/>
          <p:cNvSpPr/>
          <p:nvPr/>
        </p:nvSpPr>
        <p:spPr>
          <a:xfrm>
            <a:off x="2880360" y="2688336"/>
            <a:ext cx="32004" cy="731520"/>
          </a:xfrm>
          <a:prstGeom prst="rect">
            <a:avLst/>
          </a:prstGeom>
          <a:solidFill>
            <a:srgbClr val="D8E3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3163824" y="2688336"/>
            <a:ext cx="3602736" cy="365760"/>
          </a:xfrm>
          <a:prstGeom prst="rect">
            <a:avLst/>
          </a:prstGeom>
          <a:noFill/>
        </p:spPr>
        <p:txBody>
          <a:bodyPr wrap="square" lIns="0" rIns="0" tIns="0" bIns="0">
            <a:spAutoFit/>
          </a:bodyPr>
          <a:lstStyle/>
          <a:p>
            <a:pPr>
              <a:spcAft>
                <a:spcPts val="500"/>
              </a:spcAft>
              <a:defRPr sz="1800" b="1">
                <a:solidFill>
                  <a:srgbClr val="142C43"/>
                </a:solidFill>
                <a:latin typeface="DejaVu Sans"/>
              </a:defRPr>
            </a:pPr>
            <a:r>
              <a:t>Use approved material</a:t>
            </a:r>
          </a:p>
        </p:txBody>
      </p:sp>
      <p:sp>
        <p:nvSpPr>
          <p:cNvPr id="10" name="TextBox 9"/>
          <p:cNvSpPr txBox="1"/>
          <p:nvPr/>
        </p:nvSpPr>
        <p:spPr>
          <a:xfrm>
            <a:off x="7040880" y="2697479"/>
            <a:ext cx="4389120" cy="640080"/>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Verified full sources, agreed rules and authorised example cases.</a:t>
            </a:r>
          </a:p>
        </p:txBody>
      </p:sp>
      <p:sp>
        <p:nvSpPr>
          <p:cNvPr id="11" name="TextBox 10"/>
          <p:cNvSpPr txBox="1"/>
          <p:nvPr/>
        </p:nvSpPr>
        <p:spPr>
          <a:xfrm>
            <a:off x="667512" y="3703320"/>
            <a:ext cx="2011680" cy="256032"/>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WITH EACH CHANGE</a:t>
            </a:r>
          </a:p>
        </p:txBody>
      </p:sp>
      <p:sp>
        <p:nvSpPr>
          <p:cNvPr id="12" name="Rectangle 11"/>
          <p:cNvSpPr/>
          <p:nvPr/>
        </p:nvSpPr>
        <p:spPr>
          <a:xfrm>
            <a:off x="2880360" y="3630168"/>
            <a:ext cx="32004" cy="731520"/>
          </a:xfrm>
          <a:prstGeom prst="rect">
            <a:avLst/>
          </a:prstGeom>
          <a:solidFill>
            <a:srgbClr val="D8E3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163824" y="3630168"/>
            <a:ext cx="3602736" cy="365760"/>
          </a:xfrm>
          <a:prstGeom prst="rect">
            <a:avLst/>
          </a:prstGeom>
          <a:noFill/>
        </p:spPr>
        <p:txBody>
          <a:bodyPr wrap="square" lIns="0" rIns="0" tIns="0" bIns="0">
            <a:spAutoFit/>
          </a:bodyPr>
          <a:lstStyle/>
          <a:p>
            <a:pPr>
              <a:spcAft>
                <a:spcPts val="500"/>
              </a:spcAft>
              <a:defRPr sz="1800" b="1">
                <a:solidFill>
                  <a:srgbClr val="142C43"/>
                </a:solidFill>
                <a:latin typeface="DejaVu Sans"/>
              </a:defRPr>
            </a:pPr>
            <a:r>
              <a:t>Version, test and review</a:t>
            </a:r>
          </a:p>
        </p:txBody>
      </p:sp>
      <p:sp>
        <p:nvSpPr>
          <p:cNvPr id="14" name="TextBox 13"/>
          <p:cNvSpPr txBox="1"/>
          <p:nvPr/>
        </p:nvSpPr>
        <p:spPr>
          <a:xfrm>
            <a:off x="7040880" y="3639311"/>
            <a:ext cx="4389120" cy="640080"/>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Rerun agreed cases; explain intended and unexpected differences.</a:t>
            </a:r>
          </a:p>
        </p:txBody>
      </p:sp>
      <p:sp>
        <p:nvSpPr>
          <p:cNvPr id="15" name="TextBox 14"/>
          <p:cNvSpPr txBox="1"/>
          <p:nvPr/>
        </p:nvSpPr>
        <p:spPr>
          <a:xfrm>
            <a:off x="667512" y="4645152"/>
            <a:ext cx="2011680" cy="256032"/>
          </a:xfrm>
          <a:prstGeom prst="rect">
            <a:avLst/>
          </a:prstGeom>
          <a:noFill/>
        </p:spPr>
        <p:txBody>
          <a:bodyPr wrap="square" lIns="0" rIns="0" tIns="0" bIns="0">
            <a:spAutoFit/>
          </a:bodyPr>
          <a:lstStyle/>
          <a:p>
            <a:pPr>
              <a:spcAft>
                <a:spcPts val="500"/>
              </a:spcAft>
              <a:defRPr sz="1000" b="1">
                <a:solidFill>
                  <a:srgbClr val="087F76"/>
                </a:solidFill>
                <a:latin typeface="DejaVu Sans"/>
              </a:defRPr>
            </a:pPr>
            <a:r>
              <a:t>BEFORE EXPANDING</a:t>
            </a:r>
          </a:p>
        </p:txBody>
      </p:sp>
      <p:sp>
        <p:nvSpPr>
          <p:cNvPr id="16" name="Rectangle 15"/>
          <p:cNvSpPr/>
          <p:nvPr/>
        </p:nvSpPr>
        <p:spPr>
          <a:xfrm>
            <a:off x="2880360" y="4572000"/>
            <a:ext cx="32004" cy="731520"/>
          </a:xfrm>
          <a:prstGeom prst="rect">
            <a:avLst/>
          </a:prstGeom>
          <a:solidFill>
            <a:srgbClr val="D8E3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163824" y="4572000"/>
            <a:ext cx="3602736" cy="365760"/>
          </a:xfrm>
          <a:prstGeom prst="rect">
            <a:avLst/>
          </a:prstGeom>
          <a:noFill/>
        </p:spPr>
        <p:txBody>
          <a:bodyPr wrap="square" lIns="0" rIns="0" tIns="0" bIns="0">
            <a:spAutoFit/>
          </a:bodyPr>
          <a:lstStyle/>
          <a:p>
            <a:pPr>
              <a:spcAft>
                <a:spcPts val="500"/>
              </a:spcAft>
              <a:defRPr sz="1800" b="1">
                <a:solidFill>
                  <a:srgbClr val="142C43"/>
                </a:solidFill>
                <a:latin typeface="DejaVu Sans"/>
              </a:defRPr>
            </a:pPr>
            <a:r>
              <a:t>Evaluate the weak points</a:t>
            </a:r>
          </a:p>
        </p:txBody>
      </p:sp>
      <p:sp>
        <p:nvSpPr>
          <p:cNvPr id="18" name="TextBox 17"/>
          <p:cNvSpPr txBox="1"/>
          <p:nvPr/>
        </p:nvSpPr>
        <p:spPr>
          <a:xfrm>
            <a:off x="7040880" y="4581144"/>
            <a:ext cx="4389120" cy="640080"/>
          </a:xfrm>
          <a:prstGeom prst="rect">
            <a:avLst/>
          </a:prstGeom>
          <a:noFill/>
        </p:spPr>
        <p:txBody>
          <a:bodyPr wrap="square" lIns="0" rIns="0" tIns="0" bIns="0">
            <a:spAutoFit/>
          </a:bodyPr>
          <a:lstStyle/>
          <a:p>
            <a:pPr>
              <a:spcAft>
                <a:spcPts val="500"/>
              </a:spcAft>
              <a:defRPr sz="1400" b="0">
                <a:solidFill>
                  <a:srgbClr val="21394D"/>
                </a:solidFill>
                <a:latin typeface="DejaVu Sans"/>
              </a:defRPr>
            </a:pPr>
            <a:r>
              <a:t>Measure retrieval and citation support; keep legal decisions with reviewers.</a:t>
            </a:r>
          </a:p>
        </p:txBody>
      </p:sp>
      <p:sp>
        <p:nvSpPr>
          <p:cNvPr id="19" name="Rounded Rectangle 18"/>
          <p:cNvSpPr/>
          <p:nvPr/>
        </p:nvSpPr>
        <p:spPr>
          <a:xfrm>
            <a:off x="594360" y="5769864"/>
            <a:ext cx="11000232" cy="502920"/>
          </a:xfrm>
          <a:prstGeom prst="roundRect">
            <a:avLst>
              <a:gd name="adj" fmla="val 6000"/>
            </a:avLst>
          </a:prstGeom>
          <a:solidFill>
            <a:srgbClr val="E9F4F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2104" y="5916168"/>
            <a:ext cx="10515600" cy="274320"/>
          </a:xfrm>
          <a:prstGeom prst="rect">
            <a:avLst/>
          </a:prstGeom>
          <a:noFill/>
        </p:spPr>
        <p:txBody>
          <a:bodyPr wrap="square" lIns="0" rIns="0" tIns="0" bIns="0">
            <a:spAutoFit/>
          </a:bodyPr>
          <a:lstStyle/>
          <a:p>
            <a:pPr>
              <a:spcAft>
                <a:spcPts val="500"/>
              </a:spcAft>
              <a:defRPr sz="1400" b="1">
                <a:solidFill>
                  <a:srgbClr val="21394D"/>
                </a:solidFill>
                <a:latin typeface="DejaVu Sans"/>
              </a:defRPr>
            </a:pPr>
            <a:r>
              <a:t>Which workflow would be the most useful starting point for this internship?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Docitalis Interview — Role, Experience and UkilRAG</dc:title>
  <dc:subject>Role, experience, source and rule definitions, assembly, retrieval/review, tests and reliability</dc:subject>
  <dc:creator>Nafis Ismam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