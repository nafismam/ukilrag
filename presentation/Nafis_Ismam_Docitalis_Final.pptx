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35–40 seconds. “I understand this internship as turning lawyers’ knowledge into explicit software rules. I would start by learning the workflow, recording the conditions and exceptions, then helping build and test the approved process. Rules control document assembly; AI supports review, while legal decisions remain with lawyers.” The brief names Docitalis and services connected with Aprigliano. This slide does not claim to describe their existing architecture. Public context: https://docitalis.com/.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40–45 seconds. “In the earlier research, my contribution was literature review, problem identification and initial design. A practical concern was confusing Bangladeshi and Indian legal provisions. I helped explore section-level organisation and retaining parent Act metadata so evidence could be traced to its source. We also considered passages related to a question but insufficient to answer it fully. I then moved to LLM inference work while a sub-team continued the legal project.” Distinguish personally completed work from group work. Do not imply ownership of the complete published pipeline. Act names alone are not sufficient jurisdiction metadata; full official sources and versions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seconds. “Cell 1 stores labelled source records: Act, section, text and any recorded judgment note. Cell 2 stores prepared paragraphs and the conditions for including them. The shared source ID connects the two.” For example, the records paragraph M5 requires available records AND selected procedural block M3; it links to C167. The output of these cells is a source table and a module-rule table, not an assembled document. There are ten educational source summaries and seven blocks in knowledge base 1.2.0. The date and version are manually assigned. Two simulated source updates exist for testing. The terms and exclusive routes are teaching examples, not verified legal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seconds. “This is the main drafting step. The engine checks the case facts, evaluates paragraph conditions, checks prerequisites and rejects active configured conflicts. It fills the selected templates and returns both the draft and an explanation.” The sample output is M1 jurisdiction, M2 facts, M3 procedure, M5 records and M7 relief. M4 substantive and M6 bail are skipped because their flags default to False. M5 is included because has_records=True and M3 was included. The trace records expected/actual facts, missing prerequisites, decisions, version and fingerprints. The method returns the final document text, module IDs, required sources and trace. No LLM chooses paragraphs. The legacy limitation_defense flag is a supplied request for this procedural example, not an automated conclusion about a legal deadline.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seconds. “Cell 4 retrieves source summaries and performs structured checks on the draft. The controlled two-part search finds C54 and P420 after decomposition. In the sample draft, newer recorded notes flag M3-C54, M3-C167 and M5-C167: three module-source links. There are no missing-citation warnings in this unmodified draft. Searching the ordinary case summary accepts no source at the 0.80 gate; both split parts remain unresolved.” The threshold is uncalibrated, TF-IDF is word-based, decomposition uses separators, and no generative reviewer runs. Judgment warnings compare manually entered dates; they do not assess applicability. “Cell 5 checks 25-run reproducibility, four synthetic reference cases, rejection of conflicting routes and warning propagation after a simulated source update. All four groups pass; additional assertions exercise citation and retrieval paths.” Expected examples are synthetic, not actual lawyer-approved files. Close: “With the team I would start from one approved workflow and agreed examples. Which would be the most useful starting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afismam/UkilRAG" TargetMode="External"/><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NAFIS ISMAM · MY UNDERSTANDING OF THE ROLE</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Turn approved legal knowledge into reliable software</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Learn the legal workflow before deciding what to automate.</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Basis: supplied internship posting. This is my understanding, not an assessment of the existing system.</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01 / 05</a:t>
            </a:r>
          </a:p>
        </p:txBody>
      </p:sp>
      <p:sp>
        <p:nvSpPr>
          <p:cNvPr id="9" name="Rounded Rectangle 8"/>
          <p:cNvSpPr/>
          <p:nvPr/>
        </p:nvSpPr>
        <p:spPr>
          <a:xfrm>
            <a:off x="59436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LEARN</a:t>
            </a:r>
          </a:p>
        </p:txBody>
      </p:sp>
      <p:sp>
        <p:nvSpPr>
          <p:cNvPr id="11" name="TextBox 10"/>
          <p:cNvSpPr txBox="1"/>
          <p:nvPr/>
        </p:nvSpPr>
        <p:spPr>
          <a:xfrm>
            <a:off x="850392"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Ask why each</a:t>
            </a:r>
          </a:p>
          <a:p>
            <a:pPr>
              <a:spcAft>
                <a:spcPts val="1000"/>
              </a:spcAft>
              <a:defRPr sz="2000" b="1">
                <a:solidFill>
                  <a:srgbClr val="172F46"/>
                </a:solidFill>
                <a:latin typeface="DejaVu Sans"/>
              </a:defRPr>
            </a:pPr>
            <a:r>
              <a:t>paragraph is used.</a:t>
            </a:r>
          </a:p>
        </p:txBody>
      </p:sp>
      <p:sp>
        <p:nvSpPr>
          <p:cNvPr id="12" name="Rounded Rectangle 11"/>
          <p:cNvSpPr/>
          <p:nvPr/>
        </p:nvSpPr>
        <p:spPr>
          <a:xfrm>
            <a:off x="434340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599432"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STRUCTURE</a:t>
            </a:r>
          </a:p>
        </p:txBody>
      </p:sp>
      <p:sp>
        <p:nvSpPr>
          <p:cNvPr id="14" name="TextBox 13"/>
          <p:cNvSpPr txBox="1"/>
          <p:nvPr/>
        </p:nvSpPr>
        <p:spPr>
          <a:xfrm>
            <a:off x="4599432"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Record conditions,</a:t>
            </a:r>
          </a:p>
          <a:p>
            <a:pPr>
              <a:spcAft>
                <a:spcPts val="1000"/>
              </a:spcAft>
              <a:defRPr sz="2000" b="1">
                <a:solidFill>
                  <a:srgbClr val="172F46"/>
                </a:solidFill>
                <a:latin typeface="DejaVu Sans"/>
              </a:defRPr>
            </a:pPr>
            <a:r>
              <a:t>exceptions and sources.</a:t>
            </a:r>
          </a:p>
        </p:txBody>
      </p:sp>
      <p:sp>
        <p:nvSpPr>
          <p:cNvPr id="15" name="Rounded Rectangle 14"/>
          <p:cNvSpPr/>
          <p:nvPr/>
        </p:nvSpPr>
        <p:spPr>
          <a:xfrm>
            <a:off x="8092440" y="2852928"/>
            <a:ext cx="3493008" cy="2203704"/>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348471" y="3081528"/>
            <a:ext cx="2980944"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CHECK</a:t>
            </a:r>
          </a:p>
        </p:txBody>
      </p:sp>
      <p:sp>
        <p:nvSpPr>
          <p:cNvPr id="17" name="TextBox 16"/>
          <p:cNvSpPr txBox="1"/>
          <p:nvPr/>
        </p:nvSpPr>
        <p:spPr>
          <a:xfrm>
            <a:off x="8348471" y="3685032"/>
            <a:ext cx="2980944" cy="1271016"/>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Explain decisions</a:t>
            </a:r>
          </a:p>
          <a:p>
            <a:pPr>
              <a:spcAft>
                <a:spcPts val="1000"/>
              </a:spcAft>
              <a:defRPr sz="2000" b="1">
                <a:solidFill>
                  <a:srgbClr val="172F46"/>
                </a:solidFill>
                <a:latin typeface="DejaVu Sans"/>
              </a:defRPr>
            </a:pPr>
            <a:r>
              <a:t>and test changes.</a:t>
            </a:r>
          </a:p>
        </p:txBody>
      </p:sp>
      <p:sp>
        <p:nvSpPr>
          <p:cNvPr id="18" name="Rectangle 17"/>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Lawyers approve the reasoning. Rules assemble. AI supports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MY PREVIOUS EXPERIENCE</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Earlier research: problem finding and initial design</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Bangladeshi legal question answering at North South University.</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Earlier contribution based on my account. Recent demo is separate from the published research implementation.</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02 / 05</a:t>
            </a:r>
          </a:p>
        </p:txBody>
      </p:sp>
      <p:sp>
        <p:nvSpPr>
          <p:cNvPr id="9" name="Rounded Rectangle 8"/>
          <p:cNvSpPr/>
          <p:nvPr/>
        </p:nvSpPr>
        <p:spPr>
          <a:xfrm>
            <a:off x="594360" y="2834640"/>
            <a:ext cx="5193792" cy="2286000"/>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63240"/>
            <a:ext cx="4681727"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MY CONTRIBUTION</a:t>
            </a:r>
          </a:p>
        </p:txBody>
      </p:sp>
      <p:sp>
        <p:nvSpPr>
          <p:cNvPr id="11" name="TextBox 10"/>
          <p:cNvSpPr txBox="1"/>
          <p:nvPr/>
        </p:nvSpPr>
        <p:spPr>
          <a:xfrm>
            <a:off x="850392" y="3666744"/>
            <a:ext cx="4681727" cy="1353312"/>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Literature review</a:t>
            </a:r>
          </a:p>
          <a:p>
            <a:pPr>
              <a:spcAft>
                <a:spcPts val="1000"/>
              </a:spcAft>
              <a:defRPr sz="2000" b="1">
                <a:solidFill>
                  <a:srgbClr val="172F46"/>
                </a:solidFill>
                <a:latin typeface="DejaVu Sans"/>
              </a:defRPr>
            </a:pPr>
            <a:r>
              <a:t>Problem identification</a:t>
            </a:r>
          </a:p>
          <a:p>
            <a:pPr>
              <a:spcAft>
                <a:spcPts val="1000"/>
              </a:spcAft>
              <a:defRPr sz="2000" b="1">
                <a:solidFill>
                  <a:srgbClr val="172F46"/>
                </a:solidFill>
                <a:latin typeface="DejaVu Sans"/>
              </a:defRPr>
            </a:pPr>
            <a:r>
              <a:t>Initial design</a:t>
            </a:r>
          </a:p>
        </p:txBody>
      </p:sp>
      <p:sp>
        <p:nvSpPr>
          <p:cNvPr id="12" name="Rounded Rectangle 11"/>
          <p:cNvSpPr/>
          <p:nvPr/>
        </p:nvSpPr>
        <p:spPr>
          <a:xfrm>
            <a:off x="6391656" y="2834640"/>
            <a:ext cx="5202936" cy="2286000"/>
          </a:xfrm>
          <a:prstGeom prst="roundRect">
            <a:avLst>
              <a:gd name="adj" fmla="val 8000"/>
            </a:avLst>
          </a:prstGeom>
          <a:solidFill>
            <a:srgbClr val="E8F3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647688" y="3063240"/>
            <a:ext cx="4690872"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WHAT I LEARNED</a:t>
            </a:r>
          </a:p>
        </p:txBody>
      </p:sp>
      <p:sp>
        <p:nvSpPr>
          <p:cNvPr id="14" name="TextBox 13"/>
          <p:cNvSpPr txBox="1"/>
          <p:nvPr/>
        </p:nvSpPr>
        <p:spPr>
          <a:xfrm>
            <a:off x="6647688" y="3666744"/>
            <a:ext cx="4690872" cy="1353312"/>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Keep sections together</a:t>
            </a:r>
          </a:p>
          <a:p>
            <a:pPr>
              <a:spcAft>
                <a:spcPts val="1000"/>
              </a:spcAft>
              <a:defRPr sz="2000" b="1">
                <a:solidFill>
                  <a:srgbClr val="172F46"/>
                </a:solidFill>
                <a:latin typeface="DejaVu Sans"/>
              </a:defRPr>
            </a:pPr>
            <a:r>
              <a:t>Retain the Act name</a:t>
            </a:r>
          </a:p>
          <a:p>
            <a:pPr>
              <a:spcAft>
                <a:spcPts val="1000"/>
              </a:spcAft>
              <a:defRPr sz="2000" b="1">
                <a:solidFill>
                  <a:srgbClr val="172F46"/>
                </a:solidFill>
                <a:latin typeface="DejaVu Sans"/>
              </a:defRPr>
            </a:pPr>
            <a:r>
              <a:t>Check evidence coverage</a:t>
            </a:r>
          </a:p>
        </p:txBody>
      </p:sp>
      <p:sp>
        <p:nvSpPr>
          <p:cNvPr id="15" name="Rectangle 14"/>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I later moved to LLM inference work; another sub-team continued the legal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IMPLEMENTATION · CELLS 1 + 2</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Store the sources. Define the paragraph rules.</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10 sample legal sources and 7 reusable document blocks, connected by source IDs.</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Cells 1–2: educational legal summaries and teaching rules; no complete official text or real judgment update.</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03 / 05</a:t>
            </a:r>
          </a:p>
        </p:txBody>
      </p:sp>
      <p:sp>
        <p:nvSpPr>
          <p:cNvPr id="9" name="Rounded Rectangle 8"/>
          <p:cNvSpPr/>
          <p:nvPr/>
        </p:nvSpPr>
        <p:spPr>
          <a:xfrm>
            <a:off x="594360" y="2834640"/>
            <a:ext cx="5193792" cy="2286000"/>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63240"/>
            <a:ext cx="4681727"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CELL 1 · A SOURCE RECORD</a:t>
            </a:r>
          </a:p>
        </p:txBody>
      </p:sp>
      <p:sp>
        <p:nvSpPr>
          <p:cNvPr id="11" name="TextBox 10"/>
          <p:cNvSpPr txBox="1"/>
          <p:nvPr/>
        </p:nvSpPr>
        <p:spPr>
          <a:xfrm>
            <a:off x="850392" y="3666744"/>
            <a:ext cx="4681727" cy="1353312"/>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ID: C167</a:t>
            </a:r>
          </a:p>
          <a:p>
            <a:pPr>
              <a:spcAft>
                <a:spcPts val="1000"/>
              </a:spcAft>
              <a:defRPr sz="2000" b="1">
                <a:solidFill>
                  <a:srgbClr val="172F46"/>
                </a:solidFill>
                <a:latin typeface="DejaVu Sans"/>
              </a:defRPr>
            </a:pPr>
            <a:r>
              <a:t>Section: 167</a:t>
            </a:r>
          </a:p>
          <a:p>
            <a:pPr>
              <a:spcAft>
                <a:spcPts val="1000"/>
              </a:spcAft>
              <a:defRPr sz="2000" b="1">
                <a:solidFill>
                  <a:srgbClr val="172F46"/>
                </a:solidFill>
                <a:latin typeface="DejaVu Sans"/>
              </a:defRPr>
            </a:pPr>
            <a:r>
              <a:t>Act: Criminal Procedure, 1898</a:t>
            </a:r>
          </a:p>
        </p:txBody>
      </p:sp>
      <p:sp>
        <p:nvSpPr>
          <p:cNvPr id="12" name="Rounded Rectangle 11"/>
          <p:cNvSpPr/>
          <p:nvPr/>
        </p:nvSpPr>
        <p:spPr>
          <a:xfrm>
            <a:off x="6391656" y="2834640"/>
            <a:ext cx="5202936" cy="2286000"/>
          </a:xfrm>
          <a:prstGeom prst="roundRect">
            <a:avLst>
              <a:gd name="adj" fmla="val 8000"/>
            </a:avLst>
          </a:prstGeom>
          <a:solidFill>
            <a:srgbClr val="E8F3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647688" y="3063240"/>
            <a:ext cx="4690872"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CELL 2 · A PARAGRAPH RULE</a:t>
            </a:r>
          </a:p>
        </p:txBody>
      </p:sp>
      <p:sp>
        <p:nvSpPr>
          <p:cNvPr id="14" name="TextBox 13"/>
          <p:cNvSpPr txBox="1"/>
          <p:nvPr/>
        </p:nvSpPr>
        <p:spPr>
          <a:xfrm>
            <a:off x="6647688" y="3666744"/>
            <a:ext cx="4690872" cy="1335024"/>
          </a:xfrm>
          <a:prstGeom prst="rect">
            <a:avLst/>
          </a:prstGeom>
          <a:noFill/>
        </p:spPr>
        <p:txBody>
          <a:bodyPr wrap="square" tIns="0" bIns="0" lIns="0" rIns="0">
            <a:spAutoFit/>
          </a:bodyPr>
          <a:lstStyle/>
          <a:p>
            <a:pPr>
              <a:spcAft>
                <a:spcPts val="1000"/>
              </a:spcAft>
              <a:defRPr sz="1700" b="1">
                <a:solidFill>
                  <a:srgbClr val="172F46"/>
                </a:solidFill>
                <a:latin typeface="DejaVu Sans"/>
              </a:defRPr>
            </a:pPr>
            <a:r>
              <a:t>Records available + M3 selected</a:t>
            </a:r>
          </a:p>
          <a:p>
            <a:pPr>
              <a:spcAft>
                <a:spcPts val="1000"/>
              </a:spcAft>
              <a:defRPr sz="1700" b="1">
                <a:solidFill>
                  <a:srgbClr val="172F46"/>
                </a:solidFill>
                <a:latin typeface="DejaVu Sans"/>
              </a:defRPr>
            </a:pPr>
            <a:r>
              <a:t>→ include the records paragraph</a:t>
            </a:r>
          </a:p>
          <a:p>
            <a:pPr>
              <a:spcAft>
                <a:spcPts val="1000"/>
              </a:spcAft>
              <a:defRPr sz="1700" b="1">
                <a:solidFill>
                  <a:srgbClr val="172F46"/>
                </a:solidFill>
                <a:latin typeface="DejaVu Sans"/>
              </a:defRPr>
            </a:pPr>
            <a:r>
              <a:t>→ cite C167</a:t>
            </a:r>
          </a:p>
        </p:txBody>
      </p:sp>
      <p:sp>
        <p:nvSpPr>
          <p:cNvPr id="15" name="Rectangle 14"/>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The source ID links a paragraph to the legal information used in its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IMPLEMENTATION · CELL 3</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Apply the rules and explain the selection</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Same facts and rule version → the same prepared draft.</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Cell 3: actual selected sequence from fictional SAMPLE_CASE. Prepared templates, not generated legal arguments.</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04 / 05</a:t>
            </a:r>
          </a:p>
        </p:txBody>
      </p:sp>
      <p:sp>
        <p:nvSpPr>
          <p:cNvPr id="9" name="Rounded Rectangle 8"/>
          <p:cNvSpPr/>
          <p:nvPr/>
        </p:nvSpPr>
        <p:spPr>
          <a:xfrm>
            <a:off x="594360" y="2743200"/>
            <a:ext cx="3529584" cy="2487168"/>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2971800"/>
            <a:ext cx="3017520"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INPUT FACTS</a:t>
            </a:r>
          </a:p>
        </p:txBody>
      </p:sp>
      <p:sp>
        <p:nvSpPr>
          <p:cNvPr id="11" name="TextBox 10"/>
          <p:cNvSpPr txBox="1"/>
          <p:nvPr/>
        </p:nvSpPr>
        <p:spPr>
          <a:xfrm>
            <a:off x="850392" y="3575304"/>
            <a:ext cx="3017520" cy="1554480"/>
          </a:xfrm>
          <a:prstGeom prst="rect">
            <a:avLst/>
          </a:prstGeom>
          <a:noFill/>
        </p:spPr>
        <p:txBody>
          <a:bodyPr wrap="square" tIns="0" bIns="0" lIns="0" rIns="0">
            <a:spAutoFit/>
          </a:bodyPr>
          <a:lstStyle/>
          <a:p>
            <a:pPr>
              <a:spcAft>
                <a:spcPts val="1000"/>
              </a:spcAft>
              <a:defRPr sz="2000" b="1">
                <a:solidFill>
                  <a:srgbClr val="172F46"/>
                </a:solidFill>
                <a:latin typeface="DejaVu Sans"/>
              </a:defRPr>
            </a:pPr>
            <a:r>
              <a:t>Procedure: yes</a:t>
            </a:r>
          </a:p>
          <a:p>
            <a:pPr>
              <a:spcAft>
                <a:spcPts val="1000"/>
              </a:spcAft>
              <a:defRPr sz="2000" b="1">
                <a:solidFill>
                  <a:srgbClr val="172F46"/>
                </a:solidFill>
                <a:latin typeface="DejaVu Sans"/>
              </a:defRPr>
            </a:pPr>
            <a:r>
              <a:t>Records: yes</a:t>
            </a:r>
          </a:p>
          <a:p>
            <a:pPr>
              <a:spcAft>
                <a:spcPts val="1000"/>
              </a:spcAft>
              <a:defRPr sz="2000" b="1">
                <a:solidFill>
                  <a:srgbClr val="172F46"/>
                </a:solidFill>
                <a:latin typeface="DejaVu Sans"/>
              </a:defRPr>
            </a:pPr>
            <a:r>
              <a:t>Relief: yes</a:t>
            </a:r>
          </a:p>
        </p:txBody>
      </p:sp>
      <p:sp>
        <p:nvSpPr>
          <p:cNvPr id="12" name="TextBox 11"/>
          <p:cNvSpPr txBox="1"/>
          <p:nvPr/>
        </p:nvSpPr>
        <p:spPr>
          <a:xfrm>
            <a:off x="4215384" y="3767328"/>
            <a:ext cx="320040" cy="411480"/>
          </a:xfrm>
          <a:prstGeom prst="rect">
            <a:avLst/>
          </a:prstGeom>
          <a:noFill/>
        </p:spPr>
        <p:txBody>
          <a:bodyPr wrap="square" tIns="0" bIns="0" lIns="0" rIns="0">
            <a:spAutoFit/>
          </a:bodyPr>
          <a:lstStyle/>
          <a:p>
            <a:pPr>
              <a:spcAft>
                <a:spcPts val="1000"/>
              </a:spcAft>
              <a:defRPr sz="2400" b="1">
                <a:solidFill>
                  <a:srgbClr val="117970"/>
                </a:solidFill>
                <a:latin typeface="DejaVu Sans"/>
              </a:defRPr>
            </a:pPr>
            <a:r>
              <a:t>→</a:t>
            </a:r>
          </a:p>
        </p:txBody>
      </p:sp>
      <p:sp>
        <p:nvSpPr>
          <p:cNvPr id="13" name="Rounded Rectangle 12"/>
          <p:cNvSpPr/>
          <p:nvPr/>
        </p:nvSpPr>
        <p:spPr>
          <a:xfrm>
            <a:off x="4663440" y="2743200"/>
            <a:ext cx="6931152" cy="2487168"/>
          </a:xfrm>
          <a:prstGeom prst="roundRect">
            <a:avLst>
              <a:gd name="adj" fmla="val 8000"/>
            </a:avLst>
          </a:prstGeom>
          <a:solidFill>
            <a:srgbClr val="E8F3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919472" y="2971800"/>
            <a:ext cx="6419088"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BASIC OUTPUT · SELECTED PARAGRAPHS</a:t>
            </a:r>
          </a:p>
        </p:txBody>
      </p:sp>
      <p:sp>
        <p:nvSpPr>
          <p:cNvPr id="15" name="TextBox 14"/>
          <p:cNvSpPr txBox="1"/>
          <p:nvPr/>
        </p:nvSpPr>
        <p:spPr>
          <a:xfrm>
            <a:off x="4919472" y="3575304"/>
            <a:ext cx="6419088" cy="795528"/>
          </a:xfrm>
          <a:prstGeom prst="rect">
            <a:avLst/>
          </a:prstGeom>
          <a:noFill/>
        </p:spPr>
        <p:txBody>
          <a:bodyPr wrap="square" tIns="0" bIns="0" lIns="0" rIns="0">
            <a:spAutoFit/>
          </a:bodyPr>
          <a:lstStyle/>
          <a:p>
            <a:pPr>
              <a:spcAft>
                <a:spcPts val="1000"/>
              </a:spcAft>
              <a:defRPr sz="1900" b="1">
                <a:solidFill>
                  <a:srgbClr val="172F46"/>
                </a:solidFill>
                <a:latin typeface="DejaVu Sans"/>
              </a:defRPr>
            </a:pPr>
            <a:r>
              <a:t>Jurisdiction → Facts → Procedure</a:t>
            </a:r>
          </a:p>
          <a:p>
            <a:pPr>
              <a:spcAft>
                <a:spcPts val="1000"/>
              </a:spcAft>
              <a:defRPr sz="1900" b="1">
                <a:solidFill>
                  <a:srgbClr val="172F46"/>
                </a:solidFill>
                <a:latin typeface="DejaVu Sans"/>
              </a:defRPr>
            </a:pPr>
            <a:r>
              <a:t>→ Records → Relief</a:t>
            </a:r>
          </a:p>
        </p:txBody>
      </p:sp>
      <p:sp>
        <p:nvSpPr>
          <p:cNvPr id="16" name="TextBox 15"/>
          <p:cNvSpPr txBox="1"/>
          <p:nvPr/>
        </p:nvSpPr>
        <p:spPr>
          <a:xfrm>
            <a:off x="4919472" y="4581144"/>
            <a:ext cx="6419088" cy="512064"/>
          </a:xfrm>
          <a:prstGeom prst="rect">
            <a:avLst/>
          </a:prstGeom>
          <a:noFill/>
        </p:spPr>
        <p:txBody>
          <a:bodyPr wrap="square" tIns="0" bIns="0" lIns="0" rIns="0">
            <a:spAutoFit/>
          </a:bodyPr>
          <a:lstStyle/>
          <a:p>
            <a:pPr>
              <a:spcAft>
                <a:spcPts val="1000"/>
              </a:spcAft>
              <a:defRPr sz="1300" b="0">
                <a:solidFill>
                  <a:srgbClr val="263B4B"/>
                </a:solidFill>
                <a:latin typeface="DejaVu Sans"/>
              </a:defRPr>
            </a:pPr>
            <a:r>
              <a:t>Decision record: M5 INCLUDED — records are available and M3 is selected.</a:t>
            </a:r>
          </a:p>
        </p:txBody>
      </p:sp>
      <p:sp>
        <p:nvSpPr>
          <p:cNvPr id="17" name="Rectangle 16"/>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Other blocks are skipped when their conditions fail; conflicting choices stop assembly.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1797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594360" y="365760"/>
            <a:ext cx="10972800" cy="320040"/>
          </a:xfrm>
          <a:prstGeom prst="rect">
            <a:avLst/>
          </a:prstGeom>
          <a:noFill/>
        </p:spPr>
        <p:txBody>
          <a:bodyPr wrap="square" tIns="0" bIns="0" lIns="0" rIns="0">
            <a:spAutoFit/>
          </a:bodyPr>
          <a:lstStyle/>
          <a:p>
            <a:pPr>
              <a:spcAft>
                <a:spcPts val="1000"/>
              </a:spcAft>
              <a:defRPr sz="1100" b="1">
                <a:solidFill>
                  <a:srgbClr val="117970"/>
                </a:solidFill>
                <a:latin typeface="DejaVu Sans"/>
              </a:defRPr>
            </a:pPr>
            <a:r>
              <a:t>IMPLEMENTATION · CELLS 4 + 5</a:t>
            </a:r>
          </a:p>
        </p:txBody>
      </p:sp>
      <p:sp>
        <p:nvSpPr>
          <p:cNvPr id="4" name="TextBox 3"/>
          <p:cNvSpPr txBox="1"/>
          <p:nvPr/>
        </p:nvSpPr>
        <p:spPr>
          <a:xfrm>
            <a:off x="594360" y="960120"/>
            <a:ext cx="10972800" cy="960120"/>
          </a:xfrm>
          <a:prstGeom prst="rect">
            <a:avLst/>
          </a:prstGeom>
          <a:noFill/>
        </p:spPr>
        <p:txBody>
          <a:bodyPr wrap="square" tIns="0" bIns="0" lIns="0" rIns="0">
            <a:spAutoFit/>
          </a:bodyPr>
          <a:lstStyle/>
          <a:p>
            <a:pPr>
              <a:spcAft>
                <a:spcPts val="1000"/>
              </a:spcAft>
              <a:defRPr sz="3100" b="1">
                <a:solidFill>
                  <a:srgbClr val="172F46"/>
                </a:solidFill>
                <a:latin typeface="DejaVu Sans"/>
              </a:defRPr>
            </a:pPr>
            <a:r>
              <a:t>Review the draft. Test the behaviour.</a:t>
            </a:r>
          </a:p>
        </p:txBody>
      </p:sp>
      <p:sp>
        <p:nvSpPr>
          <p:cNvPr id="5" name="TextBox 4"/>
          <p:cNvSpPr txBox="1"/>
          <p:nvPr/>
        </p:nvSpPr>
        <p:spPr>
          <a:xfrm>
            <a:off x="594360" y="1956816"/>
            <a:ext cx="10972800" cy="530352"/>
          </a:xfrm>
          <a:prstGeom prst="rect">
            <a:avLst/>
          </a:prstGeom>
          <a:noFill/>
        </p:spPr>
        <p:txBody>
          <a:bodyPr wrap="square" tIns="0" bIns="0" lIns="0" rIns="0">
            <a:spAutoFit/>
          </a:bodyPr>
          <a:lstStyle/>
          <a:p>
            <a:pPr>
              <a:spcAft>
                <a:spcPts val="1000"/>
              </a:spcAft>
              <a:defRPr sz="1600" b="0">
                <a:solidFill>
                  <a:srgbClr val="607482"/>
                </a:solidFill>
                <a:latin typeface="DejaVu Sans"/>
              </a:defRPr>
            </a:pPr>
            <a:r>
              <a:t>Check references and recorded updates, then rerun known examples after changes.</a:t>
            </a:r>
          </a:p>
        </p:txBody>
      </p:sp>
      <p:sp>
        <p:nvSpPr>
          <p:cNvPr id="6" name="Rectangle 5"/>
          <p:cNvSpPr/>
          <p:nvPr/>
        </p:nvSpPr>
        <p:spPr>
          <a:xfrm>
            <a:off x="594360" y="6409944"/>
            <a:ext cx="11000232" cy="10972"/>
          </a:xfrm>
          <a:prstGeom prst="rect">
            <a:avLst/>
          </a:prstGeom>
          <a:solidFill>
            <a:srgbClr val="DCE5E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94360" y="6537960"/>
            <a:ext cx="9875520" cy="210312"/>
          </a:xfrm>
          <a:prstGeom prst="rect">
            <a:avLst/>
          </a:prstGeom>
          <a:noFill/>
        </p:spPr>
        <p:txBody>
          <a:bodyPr wrap="square" tIns="0" bIns="0" lIns="0" rIns="0">
            <a:spAutoFit/>
          </a:bodyPr>
          <a:lstStyle/>
          <a:p>
            <a:pPr>
              <a:spcAft>
                <a:spcPts val="1000"/>
              </a:spcAft>
              <a:defRPr sz="850" b="0">
                <a:solidFill>
                  <a:srgbClr val="607482"/>
                </a:solidFill>
                <a:latin typeface="DejaVu Sans"/>
              </a:defRPr>
            </a:pPr>
            <a:r>
              <a:t>Cells 4–5: saved notebook outputs. Judgment notes and reference cases are synthetic; warnings need human assessment.</a:t>
            </a:r>
          </a:p>
        </p:txBody>
      </p:sp>
      <p:sp>
        <p:nvSpPr>
          <p:cNvPr id="8" name="TextBox 7"/>
          <p:cNvSpPr txBox="1"/>
          <p:nvPr/>
        </p:nvSpPr>
        <p:spPr>
          <a:xfrm>
            <a:off x="10881360" y="6501384"/>
            <a:ext cx="731520" cy="274320"/>
          </a:xfrm>
          <a:prstGeom prst="rect">
            <a:avLst/>
          </a:prstGeom>
          <a:noFill/>
        </p:spPr>
        <p:txBody>
          <a:bodyPr wrap="square" tIns="0" bIns="0" lIns="0" rIns="0">
            <a:spAutoFit/>
          </a:bodyPr>
          <a:lstStyle/>
          <a:p>
            <a:pPr>
              <a:spcAft>
                <a:spcPts val="1000"/>
              </a:spcAft>
              <a:defRPr sz="1000" b="0">
                <a:solidFill>
                  <a:srgbClr val="607482"/>
                </a:solidFill>
                <a:latin typeface="DejaVu Sans"/>
              </a:defRPr>
            </a:pPr>
            <a:r>
              <a:t>05 / 05</a:t>
            </a:r>
          </a:p>
        </p:txBody>
      </p:sp>
      <p:sp>
        <p:nvSpPr>
          <p:cNvPr id="9" name="Rounded Rectangle 8"/>
          <p:cNvSpPr/>
          <p:nvPr/>
        </p:nvSpPr>
        <p:spPr>
          <a:xfrm>
            <a:off x="594360" y="2834640"/>
            <a:ext cx="5193792" cy="2286000"/>
          </a:xfrm>
          <a:prstGeom prst="roundRect">
            <a:avLst>
              <a:gd name="adj" fmla="val 8000"/>
            </a:avLst>
          </a:prstGeom>
          <a:solidFill>
            <a:srgbClr val="F1F5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0392" y="3063240"/>
            <a:ext cx="4681728"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CELL 4 · EXAMPLE REVIEW OUTPUT</a:t>
            </a:r>
          </a:p>
        </p:txBody>
      </p:sp>
      <p:sp>
        <p:nvSpPr>
          <p:cNvPr id="11" name="TextBox 10"/>
          <p:cNvSpPr txBox="1"/>
          <p:nvPr/>
        </p:nvSpPr>
        <p:spPr>
          <a:xfrm>
            <a:off x="850392" y="3666744"/>
            <a:ext cx="4681728" cy="1335024"/>
          </a:xfrm>
          <a:prstGeom prst="rect">
            <a:avLst/>
          </a:prstGeom>
          <a:noFill/>
        </p:spPr>
        <p:txBody>
          <a:bodyPr wrap="square" tIns="0" bIns="0" lIns="0" rIns="0">
            <a:spAutoFit/>
          </a:bodyPr>
          <a:lstStyle/>
          <a:p>
            <a:pPr>
              <a:spcAft>
                <a:spcPts val="1000"/>
              </a:spcAft>
              <a:defRPr sz="1700" b="1">
                <a:solidFill>
                  <a:srgbClr val="172F46"/>
                </a:solidFill>
                <a:latin typeface="DejaVu Sans"/>
              </a:defRPr>
            </a:pPr>
            <a:r>
              <a:t>Search demo: C54 + P420 found</a:t>
            </a:r>
          </a:p>
          <a:p>
            <a:pPr>
              <a:spcAft>
                <a:spcPts val="1000"/>
              </a:spcAft>
              <a:defRPr sz="1700" b="1">
                <a:solidFill>
                  <a:srgbClr val="172F46"/>
                </a:solidFill>
                <a:latin typeface="DejaVu Sans"/>
              </a:defRPr>
            </a:pPr>
            <a:r>
              <a:t>Draft review: 3 update warnings</a:t>
            </a:r>
          </a:p>
          <a:p>
            <a:pPr>
              <a:spcAft>
                <a:spcPts val="1000"/>
              </a:spcAft>
              <a:defRPr sz="1700" b="1">
                <a:solidFill>
                  <a:srgbClr val="172F46"/>
                </a:solidFill>
                <a:latin typeface="DejaVu Sans"/>
              </a:defRPr>
            </a:pPr>
            <a:r>
              <a:t>Case summary: no accepted sources</a:t>
            </a:r>
          </a:p>
        </p:txBody>
      </p:sp>
      <p:sp>
        <p:nvSpPr>
          <p:cNvPr id="12" name="Rounded Rectangle 11"/>
          <p:cNvSpPr/>
          <p:nvPr/>
        </p:nvSpPr>
        <p:spPr>
          <a:xfrm>
            <a:off x="6391656" y="2834640"/>
            <a:ext cx="5202936" cy="2286000"/>
          </a:xfrm>
          <a:prstGeom prst="roundRect">
            <a:avLst>
              <a:gd name="adj" fmla="val 8000"/>
            </a:avLst>
          </a:prstGeom>
          <a:solidFill>
            <a:srgbClr val="E8F3F0"/>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6647688" y="3063240"/>
            <a:ext cx="4690872" cy="329184"/>
          </a:xfrm>
          <a:prstGeom prst="rect">
            <a:avLst/>
          </a:prstGeom>
          <a:noFill/>
        </p:spPr>
        <p:txBody>
          <a:bodyPr wrap="square" tIns="0" bIns="0" lIns="0" rIns="0">
            <a:spAutoFit/>
          </a:bodyPr>
          <a:lstStyle/>
          <a:p>
            <a:pPr>
              <a:spcAft>
                <a:spcPts val="1000"/>
              </a:spcAft>
              <a:defRPr sz="1200" b="1">
                <a:solidFill>
                  <a:srgbClr val="117970"/>
                </a:solidFill>
                <a:latin typeface="DejaVu Sans"/>
              </a:defRPr>
            </a:pPr>
            <a:r>
              <a:t>CELL 5 · FOUR TEST GROUPS PASS</a:t>
            </a:r>
          </a:p>
        </p:txBody>
      </p:sp>
      <p:sp>
        <p:nvSpPr>
          <p:cNvPr id="14" name="TextBox 13"/>
          <p:cNvSpPr txBox="1"/>
          <p:nvPr/>
        </p:nvSpPr>
        <p:spPr>
          <a:xfrm>
            <a:off x="6647688" y="3666744"/>
            <a:ext cx="4690872" cy="1335024"/>
          </a:xfrm>
          <a:prstGeom prst="rect">
            <a:avLst/>
          </a:prstGeom>
          <a:noFill/>
        </p:spPr>
        <p:txBody>
          <a:bodyPr wrap="square" tIns="0" bIns="0" lIns="0" rIns="0">
            <a:spAutoFit/>
          </a:bodyPr>
          <a:lstStyle/>
          <a:p>
            <a:pPr>
              <a:spcAft>
                <a:spcPts val="1000"/>
              </a:spcAft>
              <a:defRPr sz="1700" b="1">
                <a:solidFill>
                  <a:srgbClr val="172F46"/>
                </a:solidFill>
                <a:latin typeface="DejaVu Sans"/>
              </a:defRPr>
            </a:pPr>
            <a:r>
              <a:t>25 runs give matching results</a:t>
            </a:r>
          </a:p>
          <a:p>
            <a:pPr>
              <a:spcAft>
                <a:spcPts val="1000"/>
              </a:spcAft>
              <a:defRPr sz="1700" b="1">
                <a:solidFill>
                  <a:srgbClr val="172F46"/>
                </a:solidFill>
                <a:latin typeface="DejaVu Sans"/>
              </a:defRPr>
            </a:pPr>
            <a:r>
              <a:t>4 cases match their expectations</a:t>
            </a:r>
          </a:p>
          <a:p>
            <a:pPr>
              <a:spcAft>
                <a:spcPts val="1000"/>
              </a:spcAft>
              <a:defRPr sz="1700" b="1">
                <a:solidFill>
                  <a:srgbClr val="172F46"/>
                </a:solidFill>
                <a:latin typeface="DejaVu Sans"/>
              </a:defRPr>
            </a:pPr>
            <a:r>
              <a:t>Conflicts rejected; updates flagged</a:t>
            </a:r>
          </a:p>
        </p:txBody>
      </p:sp>
      <p:sp>
        <p:nvSpPr>
          <p:cNvPr id="15" name="Rectangle 14"/>
          <p:cNvSpPr/>
          <p:nvPr/>
        </p:nvSpPr>
        <p:spPr>
          <a:xfrm>
            <a:off x="594360" y="5559552"/>
            <a:ext cx="11000232" cy="594360"/>
          </a:xfrm>
          <a:prstGeom prst="rect">
            <a:avLst/>
          </a:prstGeom>
          <a:solidFill>
            <a:srgbClr val="172F46"/>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50392" y="5742432"/>
            <a:ext cx="10469880" cy="292608"/>
          </a:xfrm>
          <a:prstGeom prst="rect">
            <a:avLst/>
          </a:prstGeom>
          <a:noFill/>
        </p:spPr>
        <p:txBody>
          <a:bodyPr wrap="square" tIns="0" bIns="0" lIns="0" rIns="0">
            <a:spAutoFit/>
          </a:bodyPr>
          <a:lstStyle/>
          <a:p>
            <a:pPr>
              <a:spcAft>
                <a:spcPts val="1000"/>
              </a:spcAft>
              <a:defRPr sz="1600" b="1">
                <a:solidFill>
                  <a:srgbClr val="FFFFFF"/>
                </a:solidFill>
                <a:latin typeface="DejaVu Sans"/>
              </a:defRPr>
            </a:pPr>
            <a:r>
              <a:t>A warning prompts review. Passing tests is not a guarantee of legal accuracy.</a:t>
            </a:r>
          </a:p>
        </p:txBody>
      </p:sp>
      <p:sp>
        <p:nvSpPr>
          <p:cNvPr id="17" name="TextBox 16"/>
          <p:cNvSpPr txBox="1"/>
          <p:nvPr/>
        </p:nvSpPr>
        <p:spPr>
          <a:xfrm>
            <a:off x="594360" y="6227064"/>
            <a:ext cx="10058400" cy="182880"/>
          </a:xfrm>
          <a:prstGeom prst="rect">
            <a:avLst/>
          </a:prstGeom>
          <a:noFill/>
        </p:spPr>
        <p:txBody>
          <a:bodyPr wrap="square" tIns="0" bIns="0" lIns="0" rIns="0">
            <a:spAutoFit/>
          </a:bodyPr>
          <a:lstStyle/>
          <a:p>
            <a:pPr>
              <a:spcAft>
                <a:spcPts val="1000"/>
              </a:spcAft>
              <a:defRPr sz="900" b="0">
                <a:solidFill>
                  <a:srgbClr val="117970"/>
                </a:solidFill>
                <a:latin typeface="DejaVu Sans"/>
              </a:defRPr>
            </a:pPr>
            <a:r>
              <a:rPr>
                <a:hlinkClick r:id="rId2"/>
              </a:rPr>
              <a:t>Code and executed notebook: github.com/nafismam/UkilRAG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Docitalis Interview — Role, Experience and UkilRAG Walkthrough</dc:title>
  <dc:subject>Five slides: role, research contribution, cells 1–2, cell 3, cells 4–5</dc:subject>
  <dc:creator>Nafis Ismam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