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seconds. “I understand the role as learning how lawyers make decisions and representing approved reasoning as explicit rules. The system then prepares a consistent draft and explains its choices. AI can support review, but legal strategy and applicability remain with lawyers.” This is based on the supplied posting, not access to the internal system. Public context: https://docitalis.com/.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“My role covered literature review, problem identification and initial design. I helped explore section-level organisation and parent Act metadata so retrieved passages could be traced to their sources. I later moved to an LLM inference project while a sub-team continued the legal work.” Do not claim implementation of the final research pipeline. A lawyer discussion motivated the Bangladesh/India confusion concern. Act names alone cannot settle jurisdiction; verified source, jurisdiction and version metadata are needed. The recent demo is a separate implementation; explain assistance and personal work accurately when discussing ownership.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“Cell 1 creates the Legal Sources Matrix. Cell 2 defines seven prepared document blocks and their rules in version 1.2.0. The source ID connects each paragraph to the legal records it references.” Example: M5 requires records and selected M3, and links to C167. Show these are definitions, not a completed draft. The source texts are summaries rather than verified full provisions. Two judgment notes are simulated. Versions and dates are manually assigned. The legacy limitation_defense flag is a supplied request for the procedural example, not a calculation of a breached legal deadline. Exclusive routes are teaching configuration, not universal legal rules.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“The sample requests the procedural route, has records and requests relief. The engine validates fields, checks conditions and prerequisites, records every inclusion or skip, checks active conflicts and fills selected templates in order.” The sample selects M1, M2, M3, M5 and M7. M4 and M6 are skipped because their flags default to False. Defaulting unknown facts to False would need careful agreement in a real workflow. The returned trace includes rules, missing dependencies, source links, version and fingerprints. Hashes help compare outputs; they do not make them legally correct. No LLM invents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“Retrieval uses TF-IDF word matching and cosine similarity with an uncalibrated 0.80 gate. If direct retrieval accepts nothing, explicit separators can split the query. The controlled two-source text example retrieves C54 and P420 after splitting.” That is not proof of paraphrase accuracy. “Separately, the review derives required citations from module definitions, checks markers in the actual text and compares stored judgment-note dates.” The unchanged draft has three newer-note warnings: M3-C54, M3-C167 and M5-C167. It has no missing-citation alerts. The ordinary case summary and both split parts accept no sources. Explicit source-link warnings do not depend on search success. No new judgments are discovered automatically, no generative reviewer runs, and marker presence does not establish semantic citation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“These checks target the prototype’s promises: repeatable outputs, expected module order and citations, conflict rejection and recorded update alerts. All four groups pass.” Twenty-five repetitions were specified for the demo and are not a mathematically special number. Expected fixture lists are written separately. The conflict test passes when the intended error is raised. The update test removes notes, inserts a new simulated C167 note and checks M3 and M5; it also deliberately damages citations and checks retrieval paths. These are not approved real historical cases. A reviewed legal change may intentionally change expected outputs, so failures require investigation rather than blindly forcing old results.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“The demo uses summaries, fictional cases and simple checks. With your team, I would start from one approved workflow and reviewed reference set, implement a bounded task, then inspect results with lawyers and engineers.” Production work needs jurisdiction/version/source metadata, approved test cases, access controls and technical review. Evaluate thresholds on labeled queries rather than assume 0.80 transfers to another corpus. Assess claim-to-source support rather than just marker presence. The prototype lacks production storage, a generative legal reviewer and an appeals workflow. Keep these as development scope, not completed features. Close with the slide’s question. Ask about technical supervision and legal approval if not 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12064" y="384048"/>
            <a:ext cx="91440" cy="329184"/>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58952" y="420624"/>
            <a:ext cx="10058400" cy="237744"/>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NAFIS ISMAM · ROLE UNDERSTANDING</a:t>
            </a:r>
          </a:p>
        </p:txBody>
      </p:sp>
      <p:sp>
        <p:nvSpPr>
          <p:cNvPr id="4" name="TextBox 3"/>
          <p:cNvSpPr txBox="1"/>
          <p:nvPr/>
        </p:nvSpPr>
        <p:spPr>
          <a:xfrm>
            <a:off x="594360" y="941832"/>
            <a:ext cx="10972800" cy="914400"/>
          </a:xfrm>
          <a:prstGeom prst="rect">
            <a:avLst/>
          </a:prstGeom>
          <a:noFill/>
        </p:spPr>
        <p:txBody>
          <a:bodyPr wrap="square" lIns="0" rIns="0" tIns="0" bIns="0">
            <a:spAutoFit/>
          </a:bodyPr>
          <a:lstStyle/>
          <a:p>
            <a:pPr>
              <a:spcAft>
                <a:spcPts val="700"/>
              </a:spcAft>
              <a:defRPr sz="3000" b="1">
                <a:solidFill>
                  <a:srgbClr val="172F46"/>
                </a:solidFill>
                <a:latin typeface="DejaVu Sans"/>
              </a:defRPr>
            </a:pPr>
            <a:r>
              <a:t>My understanding of the role</a:t>
            </a:r>
          </a:p>
        </p:txBody>
      </p:sp>
      <p:sp>
        <p:nvSpPr>
          <p:cNvPr id="5" name="TextBox 4"/>
          <p:cNvSpPr txBox="1"/>
          <p:nvPr/>
        </p:nvSpPr>
        <p:spPr>
          <a:xfrm>
            <a:off x="594360" y="1856231"/>
            <a:ext cx="10972800" cy="548640"/>
          </a:xfrm>
          <a:prstGeom prst="rect">
            <a:avLst/>
          </a:prstGeom>
          <a:noFill/>
        </p:spPr>
        <p:txBody>
          <a:bodyPr wrap="square" lIns="0" rIns="0" tIns="0" bIns="0">
            <a:spAutoFit/>
          </a:bodyPr>
          <a:lstStyle/>
          <a:p>
            <a:pPr>
              <a:spcAft>
                <a:spcPts val="700"/>
              </a:spcAft>
              <a:defRPr sz="1600" b="0">
                <a:solidFill>
                  <a:srgbClr val="617786"/>
                </a:solidFill>
                <a:latin typeface="DejaVu Sans"/>
              </a:defRPr>
            </a:pPr>
            <a:r>
              <a:t>Help turn lawyers’ reasoning into reusable rules, drafts and review checks.</a:t>
            </a:r>
          </a:p>
        </p:txBody>
      </p:sp>
      <p:sp>
        <p:nvSpPr>
          <p:cNvPr id="6" name="TextBox 5"/>
          <p:cNvSpPr txBox="1"/>
          <p:nvPr/>
        </p:nvSpPr>
        <p:spPr>
          <a:xfrm>
            <a:off x="594360" y="6510528"/>
            <a:ext cx="10058400" cy="219456"/>
          </a:xfrm>
          <a:prstGeom prst="rect">
            <a:avLst/>
          </a:prstGeom>
          <a:noFill/>
        </p:spPr>
        <p:txBody>
          <a:bodyPr wrap="square" lIns="0" rIns="0" tIns="0" bIns="0">
            <a:spAutoFit/>
          </a:bodyPr>
          <a:lstStyle/>
          <a:p>
            <a:pPr>
              <a:spcAft>
                <a:spcPts val="700"/>
              </a:spcAft>
              <a:defRPr sz="800" b="0">
                <a:solidFill>
                  <a:srgbClr val="617786"/>
                </a:solidFill>
                <a:latin typeface="DejaVu Sans"/>
              </a:defRPr>
            </a:pPr>
            <a:r>
              <a:t>Basis: original internship posting supplied by the candidate. Proposed understanding, not an internal-system assessment.</a:t>
            </a:r>
          </a:p>
        </p:txBody>
      </p:sp>
      <p:sp>
        <p:nvSpPr>
          <p:cNvPr id="7" name="TextBox 6"/>
          <p:cNvSpPr txBox="1"/>
          <p:nvPr/>
        </p:nvSpPr>
        <p:spPr>
          <a:xfrm>
            <a:off x="10817352" y="6446520"/>
            <a:ext cx="731520" cy="274320"/>
          </a:xfrm>
          <a:prstGeom prst="rect">
            <a:avLst/>
          </a:prstGeom>
          <a:noFill/>
        </p:spPr>
        <p:txBody>
          <a:bodyPr wrap="square" lIns="0" rIns="0" tIns="0" bIns="0">
            <a:spAutoFit/>
          </a:bodyPr>
          <a:lstStyle/>
          <a:p>
            <a:pPr>
              <a:spcAft>
                <a:spcPts val="700"/>
              </a:spcAft>
              <a:defRPr sz="1000" b="0">
                <a:solidFill>
                  <a:srgbClr val="617786"/>
                </a:solidFill>
                <a:latin typeface="DejaVu Sans"/>
              </a:defRPr>
            </a:pPr>
            <a:r>
              <a:t>01 / 07</a:t>
            </a:r>
          </a:p>
        </p:txBody>
      </p:sp>
      <p:sp>
        <p:nvSpPr>
          <p:cNvPr id="8" name="Rounded Rectangle 7"/>
          <p:cNvSpPr/>
          <p:nvPr/>
        </p:nvSpPr>
        <p:spPr>
          <a:xfrm>
            <a:off x="594360" y="266090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85800" y="273862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1</a:t>
            </a:r>
          </a:p>
        </p:txBody>
      </p:sp>
      <p:sp>
        <p:nvSpPr>
          <p:cNvPr id="10" name="TextBox 9"/>
          <p:cNvSpPr txBox="1"/>
          <p:nvPr/>
        </p:nvSpPr>
        <p:spPr>
          <a:xfrm>
            <a:off x="1225296" y="266090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Learn the decisions</a:t>
            </a:r>
          </a:p>
        </p:txBody>
      </p:sp>
      <p:sp>
        <p:nvSpPr>
          <p:cNvPr id="11" name="TextBox 10"/>
          <p:cNvSpPr txBox="1"/>
          <p:nvPr/>
        </p:nvSpPr>
        <p:spPr>
          <a:xfrm>
            <a:off x="1225296" y="312724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Ask when a paragraph applies—and what exceptions stop it.</a:t>
            </a:r>
          </a:p>
        </p:txBody>
      </p:sp>
      <p:sp>
        <p:nvSpPr>
          <p:cNvPr id="12" name="Rounded Rectangle 11"/>
          <p:cNvSpPr/>
          <p:nvPr/>
        </p:nvSpPr>
        <p:spPr>
          <a:xfrm>
            <a:off x="594360" y="375818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5800" y="383590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2</a:t>
            </a:r>
          </a:p>
        </p:txBody>
      </p:sp>
      <p:sp>
        <p:nvSpPr>
          <p:cNvPr id="14" name="TextBox 13"/>
          <p:cNvSpPr txBox="1"/>
          <p:nvPr/>
        </p:nvSpPr>
        <p:spPr>
          <a:xfrm>
            <a:off x="1225296" y="375818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Make the instructions explicit</a:t>
            </a:r>
          </a:p>
        </p:txBody>
      </p:sp>
      <p:sp>
        <p:nvSpPr>
          <p:cNvPr id="15" name="TextBox 14"/>
          <p:cNvSpPr txBox="1"/>
          <p:nvPr/>
        </p:nvSpPr>
        <p:spPr>
          <a:xfrm>
            <a:off x="1225296" y="422452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Record the facts, conditions, dependencies and source links.</a:t>
            </a:r>
          </a:p>
        </p:txBody>
      </p:sp>
      <p:sp>
        <p:nvSpPr>
          <p:cNvPr id="16" name="Rounded Rectangle 15"/>
          <p:cNvSpPr/>
          <p:nvPr/>
        </p:nvSpPr>
        <p:spPr>
          <a:xfrm>
            <a:off x="594360" y="485546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493318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3</a:t>
            </a:r>
          </a:p>
        </p:txBody>
      </p:sp>
      <p:sp>
        <p:nvSpPr>
          <p:cNvPr id="18" name="TextBox 17"/>
          <p:cNvSpPr txBox="1"/>
          <p:nvPr/>
        </p:nvSpPr>
        <p:spPr>
          <a:xfrm>
            <a:off x="1225296" y="485546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Check the result with the team</a:t>
            </a:r>
          </a:p>
        </p:txBody>
      </p:sp>
      <p:sp>
        <p:nvSpPr>
          <p:cNvPr id="19" name="TextBox 18"/>
          <p:cNvSpPr txBox="1"/>
          <p:nvPr/>
        </p:nvSpPr>
        <p:spPr>
          <a:xfrm>
            <a:off x="1225296" y="5321807"/>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Explain selections and test changes before wider use.</a:t>
            </a:r>
          </a:p>
        </p:txBody>
      </p:sp>
      <p:sp>
        <p:nvSpPr>
          <p:cNvPr id="20" name="Rounded Rectangle 19"/>
          <p:cNvSpPr/>
          <p:nvPr/>
        </p:nvSpPr>
        <p:spPr>
          <a:xfrm>
            <a:off x="6428232" y="2587752"/>
            <a:ext cx="5166360" cy="3264408"/>
          </a:xfrm>
          <a:prstGeom prst="roundRect">
            <a:avLst>
              <a:gd name="adj" fmla="val 6000"/>
            </a:avLst>
          </a:prstGeom>
          <a:solidFill>
            <a:srgbClr val="E7F3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702552" y="2862072"/>
            <a:ext cx="4617720" cy="301752"/>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THE BOUNDARY</a:t>
            </a:r>
          </a:p>
        </p:txBody>
      </p:sp>
      <p:sp>
        <p:nvSpPr>
          <p:cNvPr id="22" name="TextBox 21"/>
          <p:cNvSpPr txBox="1"/>
          <p:nvPr/>
        </p:nvSpPr>
        <p:spPr>
          <a:xfrm>
            <a:off x="6702552" y="3465576"/>
            <a:ext cx="4617720" cy="2148840"/>
          </a:xfrm>
          <a:prstGeom prst="rect">
            <a:avLst/>
          </a:prstGeom>
          <a:noFill/>
        </p:spPr>
        <p:txBody>
          <a:bodyPr wrap="square" lIns="0" rIns="0" tIns="0" bIns="0">
            <a:spAutoFit/>
          </a:bodyPr>
          <a:lstStyle/>
          <a:p>
            <a:pPr>
              <a:spcAft>
                <a:spcPts val="700"/>
              </a:spcAft>
              <a:defRPr sz="1900" b="0">
                <a:solidFill>
                  <a:srgbClr val="172F46"/>
                </a:solidFill>
                <a:latin typeface="DejaVu Sans"/>
              </a:defRPr>
            </a:pPr>
            <a:r>
              <a:t>Lawyers approve the reasoning.</a:t>
            </a:r>
          </a:p>
          <a:p>
            <a:pPr>
              <a:spcAft>
                <a:spcPts val="700"/>
              </a:spcAft>
              <a:defRPr sz="1900" b="0">
                <a:solidFill>
                  <a:srgbClr val="172F46"/>
                </a:solidFill>
                <a:latin typeface="DejaVu Sans"/>
              </a:defRPr>
            </a:pPr>
          </a:p>
          <a:p>
            <a:pPr>
              <a:spcAft>
                <a:spcPts val="700"/>
              </a:spcAft>
              <a:defRPr sz="1900" b="0">
                <a:solidFill>
                  <a:srgbClr val="172F46"/>
                </a:solidFill>
                <a:latin typeface="DejaVu Sans"/>
              </a:defRPr>
            </a:pPr>
            <a:r>
              <a:t>Rules assemble the draft.</a:t>
            </a:r>
          </a:p>
          <a:p>
            <a:pPr>
              <a:spcAft>
                <a:spcPts val="700"/>
              </a:spcAft>
              <a:defRPr sz="1900" b="0">
                <a:solidFill>
                  <a:srgbClr val="172F46"/>
                </a:solidFill>
                <a:latin typeface="DejaVu Sans"/>
              </a:defRPr>
            </a:pPr>
          </a:p>
          <a:p>
            <a:pPr>
              <a:spcAft>
                <a:spcPts val="700"/>
              </a:spcAft>
              <a:defRPr sz="1900" b="0">
                <a:solidFill>
                  <a:srgbClr val="172F46"/>
                </a:solidFill>
                <a:latin typeface="DejaVu Sans"/>
              </a:defRPr>
            </a:pPr>
            <a:r>
              <a:t>AI can suggest review points.</a:t>
            </a:r>
          </a:p>
        </p:txBody>
      </p:sp>
      <p:sp>
        <p:nvSpPr>
          <p:cNvPr id="23" name="Rounded Rectangle 22"/>
          <p:cNvSpPr/>
          <p:nvPr/>
        </p:nvSpPr>
        <p:spPr>
          <a:xfrm>
            <a:off x="594360" y="6007608"/>
            <a:ext cx="11000232" cy="320040"/>
          </a:xfrm>
          <a:prstGeom prst="roundRect">
            <a:avLst>
              <a:gd name="adj" fmla="val 6000"/>
            </a:avLst>
          </a:prstGeom>
          <a:solidFill>
            <a:srgbClr val="EF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58952" y="6053328"/>
            <a:ext cx="10671048" cy="210312"/>
          </a:xfrm>
          <a:prstGeom prst="rect">
            <a:avLst/>
          </a:prstGeom>
          <a:noFill/>
        </p:spPr>
        <p:txBody>
          <a:bodyPr wrap="square" lIns="0" rIns="0" tIns="0" bIns="0">
            <a:spAutoFit/>
          </a:bodyPr>
          <a:lstStyle/>
          <a:p>
            <a:pPr>
              <a:spcAft>
                <a:spcPts val="700"/>
              </a:spcAft>
              <a:defRPr sz="1100" b="1">
                <a:solidFill>
                  <a:srgbClr val="172F46"/>
                </a:solidFill>
                <a:latin typeface="DejaVu Sans"/>
              </a:defRPr>
            </a:pPr>
            <a:r>
              <a:t>The engineer makes the approved process clear and testable; the lawyer decides legal applicability.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12064" y="384048"/>
            <a:ext cx="91440" cy="329184"/>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58952" y="420624"/>
            <a:ext cx="10058400" cy="237744"/>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PREVIOUS EXPERIENCE</a:t>
            </a:r>
          </a:p>
        </p:txBody>
      </p:sp>
      <p:sp>
        <p:nvSpPr>
          <p:cNvPr id="4" name="TextBox 3"/>
          <p:cNvSpPr txBox="1"/>
          <p:nvPr/>
        </p:nvSpPr>
        <p:spPr>
          <a:xfrm>
            <a:off x="594360" y="941832"/>
            <a:ext cx="10972800" cy="914400"/>
          </a:xfrm>
          <a:prstGeom prst="rect">
            <a:avLst/>
          </a:prstGeom>
          <a:noFill/>
        </p:spPr>
        <p:txBody>
          <a:bodyPr wrap="square" lIns="0" rIns="0" tIns="0" bIns="0">
            <a:spAutoFit/>
          </a:bodyPr>
          <a:lstStyle/>
          <a:p>
            <a:pPr>
              <a:spcAft>
                <a:spcPts val="700"/>
              </a:spcAft>
              <a:defRPr sz="3000" b="1">
                <a:solidFill>
                  <a:srgbClr val="172F46"/>
                </a:solidFill>
                <a:latin typeface="DejaVu Sans"/>
              </a:defRPr>
            </a:pPr>
            <a:r>
              <a:t>My earlier work in legal question answering</a:t>
            </a:r>
          </a:p>
        </p:txBody>
      </p:sp>
      <p:sp>
        <p:nvSpPr>
          <p:cNvPr id="5" name="TextBox 4"/>
          <p:cNvSpPr txBox="1"/>
          <p:nvPr/>
        </p:nvSpPr>
        <p:spPr>
          <a:xfrm>
            <a:off x="594360" y="1856231"/>
            <a:ext cx="10972800" cy="548640"/>
          </a:xfrm>
          <a:prstGeom prst="rect">
            <a:avLst/>
          </a:prstGeom>
          <a:noFill/>
        </p:spPr>
        <p:txBody>
          <a:bodyPr wrap="square" lIns="0" rIns="0" tIns="0" bIns="0">
            <a:spAutoFit/>
          </a:bodyPr>
          <a:lstStyle/>
          <a:p>
            <a:pPr>
              <a:spcAft>
                <a:spcPts val="700"/>
              </a:spcAft>
              <a:defRPr sz="1600" b="0">
                <a:solidFill>
                  <a:srgbClr val="617786"/>
                </a:solidFill>
                <a:latin typeface="DejaVu Sans"/>
              </a:defRPr>
            </a:pPr>
            <a:r>
              <a:t>North South University · Bangladeshi statutes · early research contribution</a:t>
            </a:r>
          </a:p>
        </p:txBody>
      </p:sp>
      <p:sp>
        <p:nvSpPr>
          <p:cNvPr id="6" name="TextBox 5"/>
          <p:cNvSpPr txBox="1"/>
          <p:nvPr/>
        </p:nvSpPr>
        <p:spPr>
          <a:xfrm>
            <a:off x="594360" y="6510528"/>
            <a:ext cx="10058400" cy="219456"/>
          </a:xfrm>
          <a:prstGeom prst="rect">
            <a:avLst/>
          </a:prstGeom>
          <a:noFill/>
        </p:spPr>
        <p:txBody>
          <a:bodyPr wrap="square" lIns="0" rIns="0" tIns="0" bIns="0">
            <a:spAutoFit/>
          </a:bodyPr>
          <a:lstStyle/>
          <a:p>
            <a:pPr>
              <a:spcAft>
                <a:spcPts val="700"/>
              </a:spcAft>
              <a:defRPr sz="800" b="0">
                <a:solidFill>
                  <a:srgbClr val="617786"/>
                </a:solidFill>
                <a:latin typeface="DejaVu Sans"/>
              </a:defRPr>
            </a:pPr>
            <a:r>
              <a:t>Earlier responsibilities based on candidate account. The recent prototype is separate from the published implementation.</a:t>
            </a:r>
          </a:p>
        </p:txBody>
      </p:sp>
      <p:sp>
        <p:nvSpPr>
          <p:cNvPr id="7" name="TextBox 6"/>
          <p:cNvSpPr txBox="1"/>
          <p:nvPr/>
        </p:nvSpPr>
        <p:spPr>
          <a:xfrm>
            <a:off x="10817352" y="6446520"/>
            <a:ext cx="731520" cy="274320"/>
          </a:xfrm>
          <a:prstGeom prst="rect">
            <a:avLst/>
          </a:prstGeom>
          <a:noFill/>
        </p:spPr>
        <p:txBody>
          <a:bodyPr wrap="square" lIns="0" rIns="0" tIns="0" bIns="0">
            <a:spAutoFit/>
          </a:bodyPr>
          <a:lstStyle/>
          <a:p>
            <a:pPr>
              <a:spcAft>
                <a:spcPts val="700"/>
              </a:spcAft>
              <a:defRPr sz="1000" b="0">
                <a:solidFill>
                  <a:srgbClr val="617786"/>
                </a:solidFill>
                <a:latin typeface="DejaVu Sans"/>
              </a:defRPr>
            </a:pPr>
            <a:r>
              <a:t>02 / 07</a:t>
            </a:r>
          </a:p>
        </p:txBody>
      </p:sp>
      <p:sp>
        <p:nvSpPr>
          <p:cNvPr id="8" name="Rounded Rectangle 7"/>
          <p:cNvSpPr/>
          <p:nvPr/>
        </p:nvSpPr>
        <p:spPr>
          <a:xfrm>
            <a:off x="594360" y="266090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85800" y="273862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1</a:t>
            </a:r>
          </a:p>
        </p:txBody>
      </p:sp>
      <p:sp>
        <p:nvSpPr>
          <p:cNvPr id="10" name="TextBox 9"/>
          <p:cNvSpPr txBox="1"/>
          <p:nvPr/>
        </p:nvSpPr>
        <p:spPr>
          <a:xfrm>
            <a:off x="1225296" y="266090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Review the problem</a:t>
            </a:r>
          </a:p>
        </p:txBody>
      </p:sp>
      <p:sp>
        <p:nvSpPr>
          <p:cNvPr id="11" name="TextBox 10"/>
          <p:cNvSpPr txBox="1"/>
          <p:nvPr/>
        </p:nvSpPr>
        <p:spPr>
          <a:xfrm>
            <a:off x="1225296" y="312724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Explore unreliable answers and confusion between legal sources.</a:t>
            </a:r>
          </a:p>
        </p:txBody>
      </p:sp>
      <p:sp>
        <p:nvSpPr>
          <p:cNvPr id="12" name="Rounded Rectangle 11"/>
          <p:cNvSpPr/>
          <p:nvPr/>
        </p:nvSpPr>
        <p:spPr>
          <a:xfrm>
            <a:off x="594360" y="375818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5800" y="383590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2</a:t>
            </a:r>
          </a:p>
        </p:txBody>
      </p:sp>
      <p:sp>
        <p:nvSpPr>
          <p:cNvPr id="14" name="TextBox 13"/>
          <p:cNvSpPr txBox="1"/>
          <p:nvPr/>
        </p:nvSpPr>
        <p:spPr>
          <a:xfrm>
            <a:off x="1225296" y="375818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Organise the legal sources</a:t>
            </a:r>
          </a:p>
        </p:txBody>
      </p:sp>
      <p:sp>
        <p:nvSpPr>
          <p:cNvPr id="15" name="TextBox 14"/>
          <p:cNvSpPr txBox="1"/>
          <p:nvPr/>
        </p:nvSpPr>
        <p:spPr>
          <a:xfrm>
            <a:off x="1225296" y="422452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Keep statutory sections together and retain their Act names.</a:t>
            </a:r>
          </a:p>
        </p:txBody>
      </p:sp>
      <p:sp>
        <p:nvSpPr>
          <p:cNvPr id="16" name="Rounded Rectangle 15"/>
          <p:cNvSpPr/>
          <p:nvPr/>
        </p:nvSpPr>
        <p:spPr>
          <a:xfrm>
            <a:off x="594360" y="485546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493318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3</a:t>
            </a:r>
          </a:p>
        </p:txBody>
      </p:sp>
      <p:sp>
        <p:nvSpPr>
          <p:cNvPr id="18" name="TextBox 17"/>
          <p:cNvSpPr txBox="1"/>
          <p:nvPr/>
        </p:nvSpPr>
        <p:spPr>
          <a:xfrm>
            <a:off x="1225296" y="485546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Move to LLM inference work</a:t>
            </a:r>
          </a:p>
        </p:txBody>
      </p:sp>
      <p:sp>
        <p:nvSpPr>
          <p:cNvPr id="19" name="TextBox 18"/>
          <p:cNvSpPr txBox="1"/>
          <p:nvPr/>
        </p:nvSpPr>
        <p:spPr>
          <a:xfrm>
            <a:off x="1225296" y="5321807"/>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Another sub-team continued the legal research.</a:t>
            </a:r>
          </a:p>
        </p:txBody>
      </p:sp>
      <p:sp>
        <p:nvSpPr>
          <p:cNvPr id="20" name="Rounded Rectangle 19"/>
          <p:cNvSpPr/>
          <p:nvPr/>
        </p:nvSpPr>
        <p:spPr>
          <a:xfrm>
            <a:off x="6428232" y="2587752"/>
            <a:ext cx="5166360" cy="3264408"/>
          </a:xfrm>
          <a:prstGeom prst="roundRect">
            <a:avLst>
              <a:gd name="adj" fmla="val 6000"/>
            </a:avLst>
          </a:prstGeom>
          <a:solidFill>
            <a:srgbClr val="E7F3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702552" y="2862072"/>
            <a:ext cx="4617720" cy="301752"/>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THE CONNECTION TO THIS DEMO</a:t>
            </a:r>
          </a:p>
        </p:txBody>
      </p:sp>
      <p:sp>
        <p:nvSpPr>
          <p:cNvPr id="22" name="TextBox 21"/>
          <p:cNvSpPr txBox="1"/>
          <p:nvPr/>
        </p:nvSpPr>
        <p:spPr>
          <a:xfrm>
            <a:off x="6702552" y="3465576"/>
            <a:ext cx="4617720" cy="2148840"/>
          </a:xfrm>
          <a:prstGeom prst="rect">
            <a:avLst/>
          </a:prstGeom>
          <a:noFill/>
        </p:spPr>
        <p:txBody>
          <a:bodyPr wrap="square" lIns="0" rIns="0" tIns="0" bIns="0">
            <a:spAutoFit/>
          </a:bodyPr>
          <a:lstStyle/>
          <a:p>
            <a:pPr>
              <a:spcAft>
                <a:spcPts val="700"/>
              </a:spcAft>
              <a:defRPr sz="1800" b="0">
                <a:solidFill>
                  <a:srgbClr val="172F46"/>
                </a:solidFill>
                <a:latin typeface="DejaVu Sans"/>
              </a:defRPr>
            </a:pPr>
            <a:r>
              <a:t>Earlier question:</a:t>
            </a:r>
          </a:p>
          <a:p>
            <a:pPr>
              <a:spcAft>
                <a:spcPts val="700"/>
              </a:spcAft>
              <a:defRPr sz="1800" b="0">
                <a:solidFill>
                  <a:srgbClr val="172F46"/>
                </a:solidFill>
                <a:latin typeface="DejaVu Sans"/>
              </a:defRPr>
            </a:pPr>
            <a:r>
              <a:t>“Where did this legal passage come from?”</a:t>
            </a:r>
          </a:p>
          <a:p>
            <a:pPr>
              <a:spcAft>
                <a:spcPts val="700"/>
              </a:spcAft>
              <a:defRPr sz="1800" b="0">
                <a:solidFill>
                  <a:srgbClr val="172F46"/>
                </a:solidFill>
                <a:latin typeface="DejaVu Sans"/>
              </a:defRPr>
            </a:pPr>
          </a:p>
          <a:p>
            <a:pPr>
              <a:spcAft>
                <a:spcPts val="700"/>
              </a:spcAft>
              <a:defRPr sz="1800" b="0">
                <a:solidFill>
                  <a:srgbClr val="172F46"/>
                </a:solidFill>
                <a:latin typeface="DejaVu Sans"/>
              </a:defRPr>
            </a:pPr>
            <a:r>
              <a:t>Recent prototype:</a:t>
            </a:r>
          </a:p>
          <a:p>
            <a:pPr>
              <a:spcAft>
                <a:spcPts val="700"/>
              </a:spcAft>
              <a:defRPr sz="1800" b="0">
                <a:solidFill>
                  <a:srgbClr val="172F46"/>
                </a:solidFill>
                <a:latin typeface="DejaVu Sans"/>
              </a:defRPr>
            </a:pPr>
            <a:r>
              <a:t>“When should this paragraph be used?”</a:t>
            </a:r>
          </a:p>
        </p:txBody>
      </p:sp>
      <p:sp>
        <p:nvSpPr>
          <p:cNvPr id="23" name="Rounded Rectangle 22"/>
          <p:cNvSpPr/>
          <p:nvPr/>
        </p:nvSpPr>
        <p:spPr>
          <a:xfrm>
            <a:off x="594360" y="6007608"/>
            <a:ext cx="11000232" cy="320040"/>
          </a:xfrm>
          <a:prstGeom prst="roundRect">
            <a:avLst>
              <a:gd name="adj" fmla="val 6000"/>
            </a:avLst>
          </a:prstGeom>
          <a:solidFill>
            <a:srgbClr val="EF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58952" y="6053328"/>
            <a:ext cx="10671048" cy="210312"/>
          </a:xfrm>
          <a:prstGeom prst="rect">
            <a:avLst/>
          </a:prstGeom>
          <a:noFill/>
        </p:spPr>
        <p:txBody>
          <a:bodyPr wrap="square" lIns="0" rIns="0" tIns="0" bIns="0">
            <a:spAutoFit/>
          </a:bodyPr>
          <a:lstStyle/>
          <a:p>
            <a:pPr>
              <a:spcAft>
                <a:spcPts val="700"/>
              </a:spcAft>
              <a:defRPr sz="1100" b="1">
                <a:solidFill>
                  <a:srgbClr val="172F46"/>
                </a:solidFill>
                <a:latin typeface="DejaVu Sans"/>
              </a:defRPr>
            </a:pPr>
            <a:r>
              <a:t>UkilRAG is a recent demonstration of my understanding of the internship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12064" y="384048"/>
            <a:ext cx="91440" cy="329184"/>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58952" y="420624"/>
            <a:ext cx="10058400" cy="237744"/>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IMPLEMENTATION · CELLS 1 AND 2</a:t>
            </a:r>
          </a:p>
        </p:txBody>
      </p:sp>
      <p:sp>
        <p:nvSpPr>
          <p:cNvPr id="4" name="TextBox 3"/>
          <p:cNvSpPr txBox="1"/>
          <p:nvPr/>
        </p:nvSpPr>
        <p:spPr>
          <a:xfrm>
            <a:off x="594360" y="941832"/>
            <a:ext cx="10972800" cy="914400"/>
          </a:xfrm>
          <a:prstGeom prst="rect">
            <a:avLst/>
          </a:prstGeom>
          <a:noFill/>
        </p:spPr>
        <p:txBody>
          <a:bodyPr wrap="square" lIns="0" rIns="0" tIns="0" bIns="0">
            <a:spAutoFit/>
          </a:bodyPr>
          <a:lstStyle/>
          <a:p>
            <a:pPr>
              <a:spcAft>
                <a:spcPts val="700"/>
              </a:spcAft>
              <a:defRPr sz="3000" b="1">
                <a:solidFill>
                  <a:srgbClr val="172F46"/>
                </a:solidFill>
                <a:latin typeface="DejaVu Sans"/>
              </a:defRPr>
            </a:pPr>
            <a:r>
              <a:t>Prepare the legal sources and paragraph rules</a:t>
            </a:r>
          </a:p>
        </p:txBody>
      </p:sp>
      <p:sp>
        <p:nvSpPr>
          <p:cNvPr id="5" name="TextBox 4"/>
          <p:cNvSpPr txBox="1"/>
          <p:nvPr/>
        </p:nvSpPr>
        <p:spPr>
          <a:xfrm>
            <a:off x="594360" y="1856231"/>
            <a:ext cx="10972800" cy="548640"/>
          </a:xfrm>
          <a:prstGeom prst="rect">
            <a:avLst/>
          </a:prstGeom>
          <a:noFill/>
        </p:spPr>
        <p:txBody>
          <a:bodyPr wrap="square" lIns="0" rIns="0" tIns="0" bIns="0">
            <a:spAutoFit/>
          </a:bodyPr>
          <a:lstStyle/>
          <a:p>
            <a:pPr>
              <a:spcAft>
                <a:spcPts val="700"/>
              </a:spcAft>
              <a:defRPr sz="1600" b="0">
                <a:solidFill>
                  <a:srgbClr val="617786"/>
                </a:solidFill>
                <a:latin typeface="DejaVu Sans"/>
              </a:defRPr>
            </a:pPr>
            <a:r>
              <a:t>These cells define the ingredients. They do not write the draft yet.</a:t>
            </a:r>
          </a:p>
        </p:txBody>
      </p:sp>
      <p:sp>
        <p:nvSpPr>
          <p:cNvPr id="6" name="TextBox 5"/>
          <p:cNvSpPr txBox="1"/>
          <p:nvPr/>
        </p:nvSpPr>
        <p:spPr>
          <a:xfrm>
            <a:off x="594360" y="6510528"/>
            <a:ext cx="10058400" cy="219456"/>
          </a:xfrm>
          <a:prstGeom prst="rect">
            <a:avLst/>
          </a:prstGeom>
          <a:noFill/>
        </p:spPr>
        <p:txBody>
          <a:bodyPr wrap="square" lIns="0" rIns="0" tIns="0" bIns="0">
            <a:spAutoFit/>
          </a:bodyPr>
          <a:lstStyle/>
          <a:p>
            <a:pPr>
              <a:spcAft>
                <a:spcPts val="700"/>
              </a:spcAft>
              <a:defRPr sz="800" b="0">
                <a:solidFill>
                  <a:srgbClr val="617786"/>
                </a:solidFill>
                <a:latin typeface="DejaVu Sans"/>
              </a:defRPr>
            </a:pPr>
            <a:r>
              <a:t>Notebook cells 1–2: 10 educational source summaries; 7 modules; fictional judgment updates and teaching rules.</a:t>
            </a:r>
          </a:p>
        </p:txBody>
      </p:sp>
      <p:sp>
        <p:nvSpPr>
          <p:cNvPr id="7" name="TextBox 6"/>
          <p:cNvSpPr txBox="1"/>
          <p:nvPr/>
        </p:nvSpPr>
        <p:spPr>
          <a:xfrm>
            <a:off x="10817352" y="6446520"/>
            <a:ext cx="731520" cy="274320"/>
          </a:xfrm>
          <a:prstGeom prst="rect">
            <a:avLst/>
          </a:prstGeom>
          <a:noFill/>
        </p:spPr>
        <p:txBody>
          <a:bodyPr wrap="square" lIns="0" rIns="0" tIns="0" bIns="0">
            <a:spAutoFit/>
          </a:bodyPr>
          <a:lstStyle/>
          <a:p>
            <a:pPr>
              <a:spcAft>
                <a:spcPts val="700"/>
              </a:spcAft>
              <a:defRPr sz="1000" b="0">
                <a:solidFill>
                  <a:srgbClr val="617786"/>
                </a:solidFill>
                <a:latin typeface="DejaVu Sans"/>
              </a:defRPr>
            </a:pPr>
            <a:r>
              <a:t>03 / 07</a:t>
            </a:r>
          </a:p>
        </p:txBody>
      </p:sp>
      <p:sp>
        <p:nvSpPr>
          <p:cNvPr id="8" name="Rounded Rectangle 7"/>
          <p:cNvSpPr/>
          <p:nvPr/>
        </p:nvSpPr>
        <p:spPr>
          <a:xfrm>
            <a:off x="594360" y="266090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85800" y="273862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1</a:t>
            </a:r>
          </a:p>
        </p:txBody>
      </p:sp>
      <p:sp>
        <p:nvSpPr>
          <p:cNvPr id="10" name="TextBox 9"/>
          <p:cNvSpPr txBox="1"/>
          <p:nvPr/>
        </p:nvSpPr>
        <p:spPr>
          <a:xfrm>
            <a:off x="1225296" y="266090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Label the legal sources</a:t>
            </a:r>
          </a:p>
        </p:txBody>
      </p:sp>
      <p:sp>
        <p:nvSpPr>
          <p:cNvPr id="11" name="TextBox 10"/>
          <p:cNvSpPr txBox="1"/>
          <p:nvPr/>
        </p:nvSpPr>
        <p:spPr>
          <a:xfrm>
            <a:off x="1225296" y="312724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Keep its ID, Act, section, summary and recorded update note.</a:t>
            </a:r>
          </a:p>
        </p:txBody>
      </p:sp>
      <p:sp>
        <p:nvSpPr>
          <p:cNvPr id="12" name="Rounded Rectangle 11"/>
          <p:cNvSpPr/>
          <p:nvPr/>
        </p:nvSpPr>
        <p:spPr>
          <a:xfrm>
            <a:off x="594360" y="375818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5800" y="383590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2</a:t>
            </a:r>
          </a:p>
        </p:txBody>
      </p:sp>
      <p:sp>
        <p:nvSpPr>
          <p:cNvPr id="14" name="TextBox 13"/>
          <p:cNvSpPr txBox="1"/>
          <p:nvPr/>
        </p:nvSpPr>
        <p:spPr>
          <a:xfrm>
            <a:off x="1225296" y="375818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Define each paragraph’s rules</a:t>
            </a:r>
          </a:p>
        </p:txBody>
      </p:sp>
      <p:sp>
        <p:nvSpPr>
          <p:cNvPr id="15" name="TextBox 14"/>
          <p:cNvSpPr txBox="1"/>
          <p:nvPr/>
        </p:nvSpPr>
        <p:spPr>
          <a:xfrm>
            <a:off x="1225296" y="422452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Record when to include it, what must come first and what conflicts.</a:t>
            </a:r>
          </a:p>
        </p:txBody>
      </p:sp>
      <p:sp>
        <p:nvSpPr>
          <p:cNvPr id="16" name="Rounded Rectangle 15"/>
          <p:cNvSpPr/>
          <p:nvPr/>
        </p:nvSpPr>
        <p:spPr>
          <a:xfrm>
            <a:off x="594360" y="485546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493318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3</a:t>
            </a:r>
          </a:p>
        </p:txBody>
      </p:sp>
      <p:sp>
        <p:nvSpPr>
          <p:cNvPr id="18" name="TextBox 17"/>
          <p:cNvSpPr txBox="1"/>
          <p:nvPr/>
        </p:nvSpPr>
        <p:spPr>
          <a:xfrm>
            <a:off x="1225296" y="485546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Link the paragraph to its sources</a:t>
            </a:r>
          </a:p>
        </p:txBody>
      </p:sp>
      <p:sp>
        <p:nvSpPr>
          <p:cNvPr id="19" name="TextBox 18"/>
          <p:cNvSpPr txBox="1"/>
          <p:nvPr/>
        </p:nvSpPr>
        <p:spPr>
          <a:xfrm>
            <a:off x="1225296" y="5321807"/>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The same source ID connects the two records.</a:t>
            </a:r>
          </a:p>
        </p:txBody>
      </p:sp>
      <p:sp>
        <p:nvSpPr>
          <p:cNvPr id="20" name="Rounded Rectangle 19"/>
          <p:cNvSpPr/>
          <p:nvPr/>
        </p:nvSpPr>
        <p:spPr>
          <a:xfrm>
            <a:off x="6428232" y="2587752"/>
            <a:ext cx="5166360" cy="3264408"/>
          </a:xfrm>
          <a:prstGeom prst="roundRect">
            <a:avLst>
              <a:gd name="adj" fmla="val 6000"/>
            </a:avLst>
          </a:prstGeom>
          <a:solidFill>
            <a:srgbClr val="E7F3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702552" y="2862072"/>
            <a:ext cx="4617720" cy="301752"/>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SMALL EXAMPLE</a:t>
            </a:r>
          </a:p>
        </p:txBody>
      </p:sp>
      <p:sp>
        <p:nvSpPr>
          <p:cNvPr id="22" name="TextBox 21"/>
          <p:cNvSpPr txBox="1"/>
          <p:nvPr/>
        </p:nvSpPr>
        <p:spPr>
          <a:xfrm>
            <a:off x="6702552" y="3465576"/>
            <a:ext cx="4617720" cy="2148840"/>
          </a:xfrm>
          <a:prstGeom prst="rect">
            <a:avLst/>
          </a:prstGeom>
          <a:noFill/>
        </p:spPr>
        <p:txBody>
          <a:bodyPr wrap="square" lIns="0" rIns="0" tIns="0" bIns="0">
            <a:spAutoFit/>
          </a:bodyPr>
          <a:lstStyle/>
          <a:p>
            <a:pPr>
              <a:spcAft>
                <a:spcPts val="700"/>
              </a:spcAft>
              <a:defRPr sz="1700" b="0">
                <a:solidFill>
                  <a:srgbClr val="172F46"/>
                </a:solidFill>
                <a:latin typeface="DejaVu Sans"/>
              </a:defRPr>
            </a:pPr>
            <a:r>
              <a:t>Source: C167</a:t>
            </a:r>
          </a:p>
          <a:p>
            <a:pPr>
              <a:spcAft>
                <a:spcPts val="700"/>
              </a:spcAft>
              <a:defRPr sz="1700" b="0">
                <a:solidFill>
                  <a:srgbClr val="172F46"/>
                </a:solidFill>
                <a:latin typeface="DejaVu Sans"/>
              </a:defRPr>
            </a:pPr>
            <a:r>
              <a:t>Criminal Procedure, section 167</a:t>
            </a:r>
          </a:p>
          <a:p>
            <a:pPr>
              <a:spcAft>
                <a:spcPts val="700"/>
              </a:spcAft>
              <a:defRPr sz="1700" b="0">
                <a:solidFill>
                  <a:srgbClr val="172F46"/>
                </a:solidFill>
                <a:latin typeface="DejaVu Sans"/>
              </a:defRPr>
            </a:pPr>
          </a:p>
          <a:p>
            <a:pPr>
              <a:spcAft>
                <a:spcPts val="700"/>
              </a:spcAft>
              <a:defRPr sz="1700" b="0">
                <a:solidFill>
                  <a:srgbClr val="172F46"/>
                </a:solidFill>
                <a:latin typeface="DejaVu Sans"/>
              </a:defRPr>
            </a:pPr>
            <a:r>
              <a:t>Records paragraph (M5):</a:t>
            </a:r>
          </a:p>
          <a:p>
            <a:pPr>
              <a:spcAft>
                <a:spcPts val="700"/>
              </a:spcAft>
              <a:defRPr sz="1700" b="0">
                <a:solidFill>
                  <a:srgbClr val="172F46"/>
                </a:solidFill>
                <a:latin typeface="DejaVu Sans"/>
              </a:defRPr>
            </a:pPr>
            <a:r>
              <a:t>Needs records AND selected M3.</a:t>
            </a:r>
          </a:p>
          <a:p>
            <a:pPr>
              <a:spcAft>
                <a:spcPts val="700"/>
              </a:spcAft>
              <a:defRPr sz="1700" b="0">
                <a:solidFill>
                  <a:srgbClr val="172F46"/>
                </a:solidFill>
                <a:latin typeface="DejaVu Sans"/>
              </a:defRPr>
            </a:pPr>
            <a:r>
              <a:t>Must cite C167.</a:t>
            </a:r>
          </a:p>
        </p:txBody>
      </p:sp>
      <p:sp>
        <p:nvSpPr>
          <p:cNvPr id="23" name="Rounded Rectangle 22"/>
          <p:cNvSpPr/>
          <p:nvPr/>
        </p:nvSpPr>
        <p:spPr>
          <a:xfrm>
            <a:off x="594360" y="6007608"/>
            <a:ext cx="11000232" cy="320040"/>
          </a:xfrm>
          <a:prstGeom prst="roundRect">
            <a:avLst>
              <a:gd name="adj" fmla="val 6000"/>
            </a:avLst>
          </a:prstGeom>
          <a:solidFill>
            <a:srgbClr val="EF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58952" y="6053328"/>
            <a:ext cx="10671048" cy="210312"/>
          </a:xfrm>
          <a:prstGeom prst="rect">
            <a:avLst/>
          </a:prstGeom>
          <a:noFill/>
        </p:spPr>
        <p:txBody>
          <a:bodyPr wrap="square" lIns="0" rIns="0" tIns="0" bIns="0">
            <a:spAutoFit/>
          </a:bodyPr>
          <a:lstStyle/>
          <a:p>
            <a:pPr>
              <a:spcAft>
                <a:spcPts val="700"/>
              </a:spcAft>
              <a:defRPr sz="1100" b="1">
                <a:solidFill>
                  <a:srgbClr val="172F46"/>
                </a:solidFill>
                <a:latin typeface="DejaVu Sans"/>
              </a:defRPr>
            </a:pPr>
            <a:r>
              <a:t>Output: a source table and a versioned list of paragraphs with their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12064" y="384048"/>
            <a:ext cx="91440" cy="329184"/>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58952" y="420624"/>
            <a:ext cx="10058400" cy="237744"/>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IMPLEMENTATION · CELL 3</a:t>
            </a:r>
          </a:p>
        </p:txBody>
      </p:sp>
      <p:sp>
        <p:nvSpPr>
          <p:cNvPr id="4" name="TextBox 3"/>
          <p:cNvSpPr txBox="1"/>
          <p:nvPr/>
        </p:nvSpPr>
        <p:spPr>
          <a:xfrm>
            <a:off x="594360" y="941832"/>
            <a:ext cx="10972800" cy="914400"/>
          </a:xfrm>
          <a:prstGeom prst="rect">
            <a:avLst/>
          </a:prstGeom>
          <a:noFill/>
        </p:spPr>
        <p:txBody>
          <a:bodyPr wrap="square" lIns="0" rIns="0" tIns="0" bIns="0">
            <a:spAutoFit/>
          </a:bodyPr>
          <a:lstStyle/>
          <a:p>
            <a:pPr>
              <a:spcAft>
                <a:spcPts val="700"/>
              </a:spcAft>
              <a:defRPr sz="3000" b="1">
                <a:solidFill>
                  <a:srgbClr val="172F46"/>
                </a:solidFill>
                <a:latin typeface="DejaVu Sans"/>
              </a:defRPr>
            </a:pPr>
            <a:r>
              <a:t>Use the facts to build and explain the draft</a:t>
            </a:r>
          </a:p>
        </p:txBody>
      </p:sp>
      <p:sp>
        <p:nvSpPr>
          <p:cNvPr id="5" name="TextBox 4"/>
          <p:cNvSpPr txBox="1"/>
          <p:nvPr/>
        </p:nvSpPr>
        <p:spPr>
          <a:xfrm>
            <a:off x="594360" y="1856231"/>
            <a:ext cx="10972800" cy="548640"/>
          </a:xfrm>
          <a:prstGeom prst="rect">
            <a:avLst/>
          </a:prstGeom>
          <a:noFill/>
        </p:spPr>
        <p:txBody>
          <a:bodyPr wrap="square" lIns="0" rIns="0" tIns="0" bIns="0">
            <a:spAutoFit/>
          </a:bodyPr>
          <a:lstStyle/>
          <a:p>
            <a:pPr>
              <a:spcAft>
                <a:spcPts val="700"/>
              </a:spcAft>
              <a:defRPr sz="1600" b="0">
                <a:solidFill>
                  <a:srgbClr val="617786"/>
                </a:solidFill>
                <a:latin typeface="DejaVu Sans"/>
              </a:defRPr>
            </a:pPr>
            <a:r>
              <a:t>The same facts and rule version produce the same prepared output.</a:t>
            </a:r>
          </a:p>
        </p:txBody>
      </p:sp>
      <p:sp>
        <p:nvSpPr>
          <p:cNvPr id="6" name="TextBox 5"/>
          <p:cNvSpPr txBox="1"/>
          <p:nvPr/>
        </p:nvSpPr>
        <p:spPr>
          <a:xfrm>
            <a:off x="594360" y="6510528"/>
            <a:ext cx="10058400" cy="219456"/>
          </a:xfrm>
          <a:prstGeom prst="rect">
            <a:avLst/>
          </a:prstGeom>
          <a:noFill/>
        </p:spPr>
        <p:txBody>
          <a:bodyPr wrap="square" lIns="0" rIns="0" tIns="0" bIns="0">
            <a:spAutoFit/>
          </a:bodyPr>
          <a:lstStyle/>
          <a:p>
            <a:pPr>
              <a:spcAft>
                <a:spcPts val="700"/>
              </a:spcAft>
              <a:defRPr sz="800" b="0">
                <a:solidFill>
                  <a:srgbClr val="617786"/>
                </a:solidFill>
                <a:latin typeface="DejaVu Sans"/>
              </a:defRPr>
            </a:pPr>
            <a:r>
              <a:t>Notebook cell 3: actual selected sequence for fictional SAMPLE_CASE; no generative model assembles this draft.</a:t>
            </a:r>
          </a:p>
        </p:txBody>
      </p:sp>
      <p:sp>
        <p:nvSpPr>
          <p:cNvPr id="7" name="TextBox 6"/>
          <p:cNvSpPr txBox="1"/>
          <p:nvPr/>
        </p:nvSpPr>
        <p:spPr>
          <a:xfrm>
            <a:off x="10817352" y="6446520"/>
            <a:ext cx="731520" cy="274320"/>
          </a:xfrm>
          <a:prstGeom prst="rect">
            <a:avLst/>
          </a:prstGeom>
          <a:noFill/>
        </p:spPr>
        <p:txBody>
          <a:bodyPr wrap="square" lIns="0" rIns="0" tIns="0" bIns="0">
            <a:spAutoFit/>
          </a:bodyPr>
          <a:lstStyle/>
          <a:p>
            <a:pPr>
              <a:spcAft>
                <a:spcPts val="700"/>
              </a:spcAft>
              <a:defRPr sz="1000" b="0">
                <a:solidFill>
                  <a:srgbClr val="617786"/>
                </a:solidFill>
                <a:latin typeface="DejaVu Sans"/>
              </a:defRPr>
            </a:pPr>
            <a:r>
              <a:t>04 / 07</a:t>
            </a:r>
          </a:p>
        </p:txBody>
      </p:sp>
      <p:sp>
        <p:nvSpPr>
          <p:cNvPr id="8" name="Rounded Rectangle 7"/>
          <p:cNvSpPr/>
          <p:nvPr/>
        </p:nvSpPr>
        <p:spPr>
          <a:xfrm>
            <a:off x="594360" y="266090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85800" y="273862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1</a:t>
            </a:r>
          </a:p>
        </p:txBody>
      </p:sp>
      <p:sp>
        <p:nvSpPr>
          <p:cNvPr id="10" name="TextBox 9"/>
          <p:cNvSpPr txBox="1"/>
          <p:nvPr/>
        </p:nvSpPr>
        <p:spPr>
          <a:xfrm>
            <a:off x="1225296" y="266090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Check the facts and conditions</a:t>
            </a:r>
          </a:p>
        </p:txBody>
      </p:sp>
      <p:sp>
        <p:nvSpPr>
          <p:cNvPr id="11" name="TextBox 10"/>
          <p:cNvSpPr txBox="1"/>
          <p:nvPr/>
        </p:nvSpPr>
        <p:spPr>
          <a:xfrm>
            <a:off x="1225296" y="312724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Reject invalid values; check facts and required earlier blocks.</a:t>
            </a:r>
          </a:p>
        </p:txBody>
      </p:sp>
      <p:sp>
        <p:nvSpPr>
          <p:cNvPr id="12" name="Rounded Rectangle 11"/>
          <p:cNvSpPr/>
          <p:nvPr/>
        </p:nvSpPr>
        <p:spPr>
          <a:xfrm>
            <a:off x="594360" y="375818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5800" y="383590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2</a:t>
            </a:r>
          </a:p>
        </p:txBody>
      </p:sp>
      <p:sp>
        <p:nvSpPr>
          <p:cNvPr id="14" name="TextBox 13"/>
          <p:cNvSpPr txBox="1"/>
          <p:nvPr/>
        </p:nvSpPr>
        <p:spPr>
          <a:xfrm>
            <a:off x="1225296" y="375818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Reject conflicting choices</a:t>
            </a:r>
          </a:p>
        </p:txBody>
      </p:sp>
      <p:sp>
        <p:nvSpPr>
          <p:cNvPr id="15" name="TextBox 14"/>
          <p:cNvSpPr txBox="1"/>
          <p:nvPr/>
        </p:nvSpPr>
        <p:spPr>
          <a:xfrm>
            <a:off x="1225296" y="422452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Stop if two configured exclusive routes were selected.</a:t>
            </a:r>
          </a:p>
        </p:txBody>
      </p:sp>
      <p:sp>
        <p:nvSpPr>
          <p:cNvPr id="16" name="Rounded Rectangle 15"/>
          <p:cNvSpPr/>
          <p:nvPr/>
        </p:nvSpPr>
        <p:spPr>
          <a:xfrm>
            <a:off x="594360" y="485546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493318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3</a:t>
            </a:r>
          </a:p>
        </p:txBody>
      </p:sp>
      <p:sp>
        <p:nvSpPr>
          <p:cNvPr id="18" name="TextBox 17"/>
          <p:cNvSpPr txBox="1"/>
          <p:nvPr/>
        </p:nvSpPr>
        <p:spPr>
          <a:xfrm>
            <a:off x="1225296" y="485546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Assemble prepared paragraphs</a:t>
            </a:r>
          </a:p>
        </p:txBody>
      </p:sp>
      <p:sp>
        <p:nvSpPr>
          <p:cNvPr id="19" name="TextBox 18"/>
          <p:cNvSpPr txBox="1"/>
          <p:nvPr/>
        </p:nvSpPr>
        <p:spPr>
          <a:xfrm>
            <a:off x="1225296" y="5321807"/>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Fill in case details and record why every block was used or skipped.</a:t>
            </a:r>
          </a:p>
        </p:txBody>
      </p:sp>
      <p:sp>
        <p:nvSpPr>
          <p:cNvPr id="20" name="Rounded Rectangle 19"/>
          <p:cNvSpPr/>
          <p:nvPr/>
        </p:nvSpPr>
        <p:spPr>
          <a:xfrm>
            <a:off x="6428232" y="2587752"/>
            <a:ext cx="5166360" cy="3264408"/>
          </a:xfrm>
          <a:prstGeom prst="roundRect">
            <a:avLst>
              <a:gd name="adj" fmla="val 6000"/>
            </a:avLst>
          </a:prstGeom>
          <a:solidFill>
            <a:srgbClr val="E7F3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702552" y="2862072"/>
            <a:ext cx="4617720" cy="301752"/>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SAMPLE OUTPUT</a:t>
            </a:r>
          </a:p>
        </p:txBody>
      </p:sp>
      <p:sp>
        <p:nvSpPr>
          <p:cNvPr id="22" name="TextBox 21"/>
          <p:cNvSpPr txBox="1"/>
          <p:nvPr/>
        </p:nvSpPr>
        <p:spPr>
          <a:xfrm>
            <a:off x="6702552" y="3465576"/>
            <a:ext cx="4617720" cy="2148840"/>
          </a:xfrm>
          <a:prstGeom prst="rect">
            <a:avLst/>
          </a:prstGeom>
          <a:noFill/>
        </p:spPr>
        <p:txBody>
          <a:bodyPr wrap="square" lIns="0" rIns="0" tIns="0" bIns="0">
            <a:spAutoFit/>
          </a:bodyPr>
          <a:lstStyle/>
          <a:p>
            <a:pPr>
              <a:spcAft>
                <a:spcPts val="700"/>
              </a:spcAft>
              <a:defRPr sz="1700" b="0">
                <a:solidFill>
                  <a:srgbClr val="172F46"/>
                </a:solidFill>
                <a:latin typeface="DejaVu Sans"/>
              </a:defRPr>
            </a:pPr>
            <a:r>
              <a:t>Jurisdiction → Facts → Procedure</a:t>
            </a:r>
          </a:p>
          <a:p>
            <a:pPr>
              <a:spcAft>
                <a:spcPts val="700"/>
              </a:spcAft>
              <a:defRPr sz="1700" b="0">
                <a:solidFill>
                  <a:srgbClr val="172F46"/>
                </a:solidFill>
                <a:latin typeface="DejaVu Sans"/>
              </a:defRPr>
            </a:pPr>
            <a:r>
              <a:t>→ Records → Relief</a:t>
            </a:r>
          </a:p>
          <a:p>
            <a:pPr>
              <a:spcAft>
                <a:spcPts val="700"/>
              </a:spcAft>
              <a:defRPr sz="1700" b="0">
                <a:solidFill>
                  <a:srgbClr val="172F46"/>
                </a:solidFill>
                <a:latin typeface="DejaVu Sans"/>
              </a:defRPr>
            </a:pPr>
          </a:p>
          <a:p>
            <a:pPr>
              <a:spcAft>
                <a:spcPts val="700"/>
              </a:spcAft>
              <a:defRPr sz="1700" b="0">
                <a:solidFill>
                  <a:srgbClr val="172F46"/>
                </a:solidFill>
                <a:latin typeface="DejaVu Sans"/>
              </a:defRPr>
            </a:pPr>
            <a:r>
              <a:t>Decision record:</a:t>
            </a:r>
          </a:p>
          <a:p>
            <a:pPr>
              <a:spcAft>
                <a:spcPts val="700"/>
              </a:spcAft>
              <a:defRPr sz="1700" b="0">
                <a:solidFill>
                  <a:srgbClr val="172F46"/>
                </a:solidFill>
                <a:latin typeface="DejaVu Sans"/>
              </a:defRPr>
            </a:pPr>
            <a:r>
              <a:t>M5 INCLUDED: records exist</a:t>
            </a:r>
          </a:p>
          <a:p>
            <a:pPr>
              <a:spcAft>
                <a:spcPts val="700"/>
              </a:spcAft>
              <a:defRPr sz="1700" b="0">
                <a:solidFill>
                  <a:srgbClr val="172F46"/>
                </a:solidFill>
                <a:latin typeface="DejaVu Sans"/>
              </a:defRPr>
            </a:pPr>
            <a:r>
              <a:t>and M3 was selected.</a:t>
            </a:r>
          </a:p>
        </p:txBody>
      </p:sp>
      <p:sp>
        <p:nvSpPr>
          <p:cNvPr id="23" name="Rounded Rectangle 22"/>
          <p:cNvSpPr/>
          <p:nvPr/>
        </p:nvSpPr>
        <p:spPr>
          <a:xfrm>
            <a:off x="594360" y="6007608"/>
            <a:ext cx="11000232" cy="320040"/>
          </a:xfrm>
          <a:prstGeom prst="roundRect">
            <a:avLst>
              <a:gd name="adj" fmla="val 6000"/>
            </a:avLst>
          </a:prstGeom>
          <a:solidFill>
            <a:srgbClr val="EF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58952" y="6053328"/>
            <a:ext cx="10671048" cy="210312"/>
          </a:xfrm>
          <a:prstGeom prst="rect">
            <a:avLst/>
          </a:prstGeom>
          <a:noFill/>
        </p:spPr>
        <p:txBody>
          <a:bodyPr wrap="square" lIns="0" rIns="0" tIns="0" bIns="0">
            <a:spAutoFit/>
          </a:bodyPr>
          <a:lstStyle/>
          <a:p>
            <a:pPr>
              <a:spcAft>
                <a:spcPts val="700"/>
              </a:spcAft>
              <a:defRPr sz="1100" b="1">
                <a:solidFill>
                  <a:srgbClr val="172F46"/>
                </a:solidFill>
                <a:latin typeface="DejaVu Sans"/>
              </a:defRPr>
            </a:pPr>
            <a:r>
              <a:t>The output is a document plus a trace: the program shows its working.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12064" y="384048"/>
            <a:ext cx="91440" cy="329184"/>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58952" y="420624"/>
            <a:ext cx="10058400" cy="237744"/>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IMPLEMENTATION · CELL 4</a:t>
            </a:r>
          </a:p>
        </p:txBody>
      </p:sp>
      <p:sp>
        <p:nvSpPr>
          <p:cNvPr id="4" name="TextBox 3"/>
          <p:cNvSpPr txBox="1"/>
          <p:nvPr/>
        </p:nvSpPr>
        <p:spPr>
          <a:xfrm>
            <a:off x="594360" y="941832"/>
            <a:ext cx="10972800" cy="914400"/>
          </a:xfrm>
          <a:prstGeom prst="rect">
            <a:avLst/>
          </a:prstGeom>
          <a:noFill/>
        </p:spPr>
        <p:txBody>
          <a:bodyPr wrap="square" lIns="0" rIns="0" tIns="0" bIns="0">
            <a:spAutoFit/>
          </a:bodyPr>
          <a:lstStyle/>
          <a:p>
            <a:pPr>
              <a:spcAft>
                <a:spcPts val="700"/>
              </a:spcAft>
              <a:defRPr sz="3000" b="1">
                <a:solidFill>
                  <a:srgbClr val="172F46"/>
                </a:solidFill>
                <a:latin typeface="DejaVu Sans"/>
              </a:defRPr>
            </a:pPr>
            <a:r>
              <a:t>Search for sources and flag what needs review</a:t>
            </a:r>
          </a:p>
        </p:txBody>
      </p:sp>
      <p:sp>
        <p:nvSpPr>
          <p:cNvPr id="5" name="TextBox 4"/>
          <p:cNvSpPr txBox="1"/>
          <p:nvPr/>
        </p:nvSpPr>
        <p:spPr>
          <a:xfrm>
            <a:off x="594360" y="1856231"/>
            <a:ext cx="10972800" cy="548640"/>
          </a:xfrm>
          <a:prstGeom prst="rect">
            <a:avLst/>
          </a:prstGeom>
          <a:noFill/>
        </p:spPr>
        <p:txBody>
          <a:bodyPr wrap="square" lIns="0" rIns="0" tIns="0" bIns="0">
            <a:spAutoFit/>
          </a:bodyPr>
          <a:lstStyle/>
          <a:p>
            <a:pPr>
              <a:spcAft>
                <a:spcPts val="700"/>
              </a:spcAft>
              <a:defRPr sz="1600" b="0">
                <a:solidFill>
                  <a:srgbClr val="617786"/>
                </a:solidFill>
                <a:latin typeface="DejaVu Sans"/>
              </a:defRPr>
            </a:pPr>
            <a:r>
              <a:t>Text search and citation checks are separate; neither decides the legal strategy.</a:t>
            </a:r>
          </a:p>
        </p:txBody>
      </p:sp>
      <p:sp>
        <p:nvSpPr>
          <p:cNvPr id="6" name="TextBox 5"/>
          <p:cNvSpPr txBox="1"/>
          <p:nvPr/>
        </p:nvSpPr>
        <p:spPr>
          <a:xfrm>
            <a:off x="594360" y="6510528"/>
            <a:ext cx="10058400" cy="219456"/>
          </a:xfrm>
          <a:prstGeom prst="rect">
            <a:avLst/>
          </a:prstGeom>
          <a:noFill/>
        </p:spPr>
        <p:txBody>
          <a:bodyPr wrap="square" lIns="0" rIns="0" tIns="0" bIns="0">
            <a:spAutoFit/>
          </a:bodyPr>
          <a:lstStyle/>
          <a:p>
            <a:pPr>
              <a:spcAft>
                <a:spcPts val="700"/>
              </a:spcAft>
              <a:defRPr sz="800" b="0">
                <a:solidFill>
                  <a:srgbClr val="617786"/>
                </a:solidFill>
                <a:latin typeface="DejaVu Sans"/>
              </a:defRPr>
            </a:pPr>
            <a:r>
              <a:t>Notebook cell 4: saved sample output. Notes are simulated; source applicability requires professional assessment.</a:t>
            </a:r>
          </a:p>
        </p:txBody>
      </p:sp>
      <p:sp>
        <p:nvSpPr>
          <p:cNvPr id="7" name="TextBox 6"/>
          <p:cNvSpPr txBox="1"/>
          <p:nvPr/>
        </p:nvSpPr>
        <p:spPr>
          <a:xfrm>
            <a:off x="10817352" y="6446520"/>
            <a:ext cx="731520" cy="274320"/>
          </a:xfrm>
          <a:prstGeom prst="rect">
            <a:avLst/>
          </a:prstGeom>
          <a:noFill/>
        </p:spPr>
        <p:txBody>
          <a:bodyPr wrap="square" lIns="0" rIns="0" tIns="0" bIns="0">
            <a:spAutoFit/>
          </a:bodyPr>
          <a:lstStyle/>
          <a:p>
            <a:pPr>
              <a:spcAft>
                <a:spcPts val="700"/>
              </a:spcAft>
              <a:defRPr sz="1000" b="0">
                <a:solidFill>
                  <a:srgbClr val="617786"/>
                </a:solidFill>
                <a:latin typeface="DejaVu Sans"/>
              </a:defRPr>
            </a:pPr>
            <a:r>
              <a:t>05 / 07</a:t>
            </a:r>
          </a:p>
        </p:txBody>
      </p:sp>
      <p:sp>
        <p:nvSpPr>
          <p:cNvPr id="8" name="Rounded Rectangle 7"/>
          <p:cNvSpPr/>
          <p:nvPr/>
        </p:nvSpPr>
        <p:spPr>
          <a:xfrm>
            <a:off x="594360" y="266090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85800" y="273862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1</a:t>
            </a:r>
          </a:p>
        </p:txBody>
      </p:sp>
      <p:sp>
        <p:nvSpPr>
          <p:cNvPr id="10" name="TextBox 9"/>
          <p:cNvSpPr txBox="1"/>
          <p:nvPr/>
        </p:nvSpPr>
        <p:spPr>
          <a:xfrm>
            <a:off x="1225296" y="266090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Search the source summaries</a:t>
            </a:r>
          </a:p>
        </p:txBody>
      </p:sp>
      <p:sp>
        <p:nvSpPr>
          <p:cNvPr id="11" name="TextBox 10"/>
          <p:cNvSpPr txBox="1"/>
          <p:nvPr/>
        </p:nvSpPr>
        <p:spPr>
          <a:xfrm>
            <a:off x="1225296" y="312724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Try the whole query; if no match passes, split explicit parts and retry.</a:t>
            </a:r>
          </a:p>
        </p:txBody>
      </p:sp>
      <p:sp>
        <p:nvSpPr>
          <p:cNvPr id="12" name="Rounded Rectangle 11"/>
          <p:cNvSpPr/>
          <p:nvPr/>
        </p:nvSpPr>
        <p:spPr>
          <a:xfrm>
            <a:off x="594360" y="375818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5800" y="383590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2</a:t>
            </a:r>
          </a:p>
        </p:txBody>
      </p:sp>
      <p:sp>
        <p:nvSpPr>
          <p:cNvPr id="14" name="TextBox 13"/>
          <p:cNvSpPr txBox="1"/>
          <p:nvPr/>
        </p:nvSpPr>
        <p:spPr>
          <a:xfrm>
            <a:off x="1225296" y="375818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Check the draft’s references</a:t>
            </a:r>
          </a:p>
        </p:txBody>
      </p:sp>
      <p:sp>
        <p:nvSpPr>
          <p:cNvPr id="15" name="TextBox 14"/>
          <p:cNvSpPr txBox="1"/>
          <p:nvPr/>
        </p:nvSpPr>
        <p:spPr>
          <a:xfrm>
            <a:off x="1225296" y="422452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Flag required markers that are missing, unknown or unlinked.</a:t>
            </a:r>
          </a:p>
        </p:txBody>
      </p:sp>
      <p:sp>
        <p:nvSpPr>
          <p:cNvPr id="16" name="Rounded Rectangle 15"/>
          <p:cNvSpPr/>
          <p:nvPr/>
        </p:nvSpPr>
        <p:spPr>
          <a:xfrm>
            <a:off x="594360" y="485546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493318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3</a:t>
            </a:r>
          </a:p>
        </p:txBody>
      </p:sp>
      <p:sp>
        <p:nvSpPr>
          <p:cNvPr id="18" name="TextBox 17"/>
          <p:cNvSpPr txBox="1"/>
          <p:nvPr/>
        </p:nvSpPr>
        <p:spPr>
          <a:xfrm>
            <a:off x="1225296" y="485546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Check recorded judgment notes</a:t>
            </a:r>
          </a:p>
        </p:txBody>
      </p:sp>
      <p:sp>
        <p:nvSpPr>
          <p:cNvPr id="19" name="TextBox 18"/>
          <p:cNvSpPr txBox="1"/>
          <p:nvPr/>
        </p:nvSpPr>
        <p:spPr>
          <a:xfrm>
            <a:off x="1225296" y="5321807"/>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Flag selected paragraphs linked to notes newer than the rule snapshot.</a:t>
            </a:r>
          </a:p>
        </p:txBody>
      </p:sp>
      <p:sp>
        <p:nvSpPr>
          <p:cNvPr id="20" name="Rounded Rectangle 19"/>
          <p:cNvSpPr/>
          <p:nvPr/>
        </p:nvSpPr>
        <p:spPr>
          <a:xfrm>
            <a:off x="6428232" y="2587752"/>
            <a:ext cx="5166360" cy="3264408"/>
          </a:xfrm>
          <a:prstGeom prst="roundRect">
            <a:avLst>
              <a:gd name="adj" fmla="val 6000"/>
            </a:avLst>
          </a:prstGeom>
          <a:solidFill>
            <a:srgbClr val="E7F3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702552" y="2862072"/>
            <a:ext cx="4617720" cy="301752"/>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ACTUAL SAMPLE REPORT</a:t>
            </a:r>
          </a:p>
        </p:txBody>
      </p:sp>
      <p:sp>
        <p:nvSpPr>
          <p:cNvPr id="22" name="TextBox 21"/>
          <p:cNvSpPr txBox="1"/>
          <p:nvPr/>
        </p:nvSpPr>
        <p:spPr>
          <a:xfrm>
            <a:off x="6702552" y="3465576"/>
            <a:ext cx="4617720" cy="2148840"/>
          </a:xfrm>
          <a:prstGeom prst="rect">
            <a:avLst/>
          </a:prstGeom>
          <a:noFill/>
        </p:spPr>
        <p:txBody>
          <a:bodyPr wrap="square" lIns="0" rIns="0" tIns="0" bIns="0">
            <a:spAutoFit/>
          </a:bodyPr>
          <a:lstStyle/>
          <a:p>
            <a:pPr>
              <a:spcAft>
                <a:spcPts val="700"/>
              </a:spcAft>
              <a:defRPr sz="1600" b="0">
                <a:solidFill>
                  <a:srgbClr val="172F46"/>
                </a:solidFill>
                <a:latin typeface="DejaVu Sans"/>
              </a:defRPr>
            </a:pPr>
            <a:r>
              <a:t>3 update warnings:</a:t>
            </a:r>
          </a:p>
          <a:p>
            <a:pPr>
              <a:spcAft>
                <a:spcPts val="700"/>
              </a:spcAft>
              <a:defRPr sz="1600" b="0">
                <a:solidFill>
                  <a:srgbClr val="172F46"/>
                </a:solidFill>
                <a:latin typeface="DejaVu Sans"/>
              </a:defRPr>
            </a:pPr>
            <a:r>
              <a:t>M3 → C54 and C167</a:t>
            </a:r>
          </a:p>
          <a:p>
            <a:pPr>
              <a:spcAft>
                <a:spcPts val="700"/>
              </a:spcAft>
              <a:defRPr sz="1600" b="0">
                <a:solidFill>
                  <a:srgbClr val="172F46"/>
                </a:solidFill>
                <a:latin typeface="DejaVu Sans"/>
              </a:defRPr>
            </a:pPr>
            <a:r>
              <a:t>M5 → C167</a:t>
            </a:r>
          </a:p>
          <a:p>
            <a:pPr>
              <a:spcAft>
                <a:spcPts val="700"/>
              </a:spcAft>
              <a:defRPr sz="1600" b="0">
                <a:solidFill>
                  <a:srgbClr val="172F46"/>
                </a:solidFill>
                <a:latin typeface="DejaVu Sans"/>
              </a:defRPr>
            </a:pPr>
          </a:p>
          <a:p>
            <a:pPr>
              <a:spcAft>
                <a:spcPts val="700"/>
              </a:spcAft>
              <a:defRPr sz="1600" b="0">
                <a:solidFill>
                  <a:srgbClr val="172F46"/>
                </a:solidFill>
                <a:latin typeface="DejaVu Sans"/>
              </a:defRPr>
            </a:pPr>
            <a:r>
              <a:t>No missing-citation warnings.</a:t>
            </a:r>
          </a:p>
          <a:p>
            <a:pPr>
              <a:spcAft>
                <a:spcPts val="700"/>
              </a:spcAft>
              <a:defRPr sz="1600" b="0">
                <a:solidFill>
                  <a:srgbClr val="172F46"/>
                </a:solidFill>
                <a:latin typeface="DejaVu Sans"/>
              </a:defRPr>
            </a:pPr>
            <a:r>
              <a:t>Case summary: no accepted sources.</a:t>
            </a:r>
          </a:p>
        </p:txBody>
      </p:sp>
      <p:sp>
        <p:nvSpPr>
          <p:cNvPr id="23" name="Rounded Rectangle 22"/>
          <p:cNvSpPr/>
          <p:nvPr/>
        </p:nvSpPr>
        <p:spPr>
          <a:xfrm>
            <a:off x="594360" y="6007608"/>
            <a:ext cx="11000232" cy="320040"/>
          </a:xfrm>
          <a:prstGeom prst="roundRect">
            <a:avLst>
              <a:gd name="adj" fmla="val 6000"/>
            </a:avLst>
          </a:prstGeom>
          <a:solidFill>
            <a:srgbClr val="EF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58952" y="6053328"/>
            <a:ext cx="10671048" cy="210312"/>
          </a:xfrm>
          <a:prstGeom prst="rect">
            <a:avLst/>
          </a:prstGeom>
          <a:noFill/>
        </p:spPr>
        <p:txBody>
          <a:bodyPr wrap="square" lIns="0" rIns="0" tIns="0" bIns="0">
            <a:spAutoFit/>
          </a:bodyPr>
          <a:lstStyle/>
          <a:p>
            <a:pPr>
              <a:spcAft>
                <a:spcPts val="700"/>
              </a:spcAft>
              <a:defRPr sz="1100" b="1">
                <a:solidFill>
                  <a:srgbClr val="172F46"/>
                </a:solidFill>
                <a:latin typeface="DejaVu Sans"/>
              </a:defRPr>
            </a:pPr>
            <a:r>
              <a:t>A warning means “please review this”—not “this argument is definitely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12064" y="384048"/>
            <a:ext cx="91440" cy="329184"/>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58952" y="420624"/>
            <a:ext cx="10058400" cy="237744"/>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IMPLEMENTATION · CELL 5</a:t>
            </a:r>
          </a:p>
        </p:txBody>
      </p:sp>
      <p:sp>
        <p:nvSpPr>
          <p:cNvPr id="4" name="TextBox 3"/>
          <p:cNvSpPr txBox="1"/>
          <p:nvPr/>
        </p:nvSpPr>
        <p:spPr>
          <a:xfrm>
            <a:off x="594360" y="941832"/>
            <a:ext cx="10972800" cy="914400"/>
          </a:xfrm>
          <a:prstGeom prst="rect">
            <a:avLst/>
          </a:prstGeom>
          <a:noFill/>
        </p:spPr>
        <p:txBody>
          <a:bodyPr wrap="square" lIns="0" rIns="0" tIns="0" bIns="0">
            <a:spAutoFit/>
          </a:bodyPr>
          <a:lstStyle/>
          <a:p>
            <a:pPr>
              <a:spcAft>
                <a:spcPts val="700"/>
              </a:spcAft>
              <a:defRPr sz="3000" b="1">
                <a:solidFill>
                  <a:srgbClr val="172F46"/>
                </a:solidFill>
                <a:latin typeface="DejaVu Sans"/>
              </a:defRPr>
            </a:pPr>
            <a:r>
              <a:t>Test whether changes break expected behaviour</a:t>
            </a:r>
          </a:p>
        </p:txBody>
      </p:sp>
      <p:sp>
        <p:nvSpPr>
          <p:cNvPr id="5" name="TextBox 4"/>
          <p:cNvSpPr txBox="1"/>
          <p:nvPr/>
        </p:nvSpPr>
        <p:spPr>
          <a:xfrm>
            <a:off x="594360" y="1856231"/>
            <a:ext cx="10972800" cy="548640"/>
          </a:xfrm>
          <a:prstGeom prst="rect">
            <a:avLst/>
          </a:prstGeom>
          <a:noFill/>
        </p:spPr>
        <p:txBody>
          <a:bodyPr wrap="square" lIns="0" rIns="0" tIns="0" bIns="0">
            <a:spAutoFit/>
          </a:bodyPr>
          <a:lstStyle/>
          <a:p>
            <a:pPr>
              <a:spcAft>
                <a:spcPts val="700"/>
              </a:spcAft>
              <a:defRPr sz="1600" b="0">
                <a:solidFill>
                  <a:srgbClr val="617786"/>
                </a:solidFill>
                <a:latin typeface="DejaVu Sans"/>
              </a:defRPr>
            </a:pPr>
            <a:r>
              <a:t>Use fixed examples with written expectations, then report PASS or FAIL.</a:t>
            </a:r>
          </a:p>
        </p:txBody>
      </p:sp>
      <p:sp>
        <p:nvSpPr>
          <p:cNvPr id="6" name="TextBox 5"/>
          <p:cNvSpPr txBox="1"/>
          <p:nvPr/>
        </p:nvSpPr>
        <p:spPr>
          <a:xfrm>
            <a:off x="594360" y="6510528"/>
            <a:ext cx="10058400" cy="219456"/>
          </a:xfrm>
          <a:prstGeom prst="rect">
            <a:avLst/>
          </a:prstGeom>
          <a:noFill/>
        </p:spPr>
        <p:txBody>
          <a:bodyPr wrap="square" lIns="0" rIns="0" tIns="0" bIns="0">
            <a:spAutoFit/>
          </a:bodyPr>
          <a:lstStyle/>
          <a:p>
            <a:pPr>
              <a:spcAft>
                <a:spcPts val="700"/>
              </a:spcAft>
              <a:defRPr sz="800" b="0">
                <a:solidFill>
                  <a:srgbClr val="617786"/>
                </a:solidFill>
                <a:latin typeface="DejaVu Sans"/>
              </a:defRPr>
            </a:pPr>
            <a:r>
              <a:t>Notebook cell 5: four test groups passed; fixtures are synthetic, not genuinely lawyer-approved historical files.</a:t>
            </a:r>
          </a:p>
        </p:txBody>
      </p:sp>
      <p:sp>
        <p:nvSpPr>
          <p:cNvPr id="7" name="TextBox 6"/>
          <p:cNvSpPr txBox="1"/>
          <p:nvPr/>
        </p:nvSpPr>
        <p:spPr>
          <a:xfrm>
            <a:off x="10817352" y="6446520"/>
            <a:ext cx="731520" cy="274320"/>
          </a:xfrm>
          <a:prstGeom prst="rect">
            <a:avLst/>
          </a:prstGeom>
          <a:noFill/>
        </p:spPr>
        <p:txBody>
          <a:bodyPr wrap="square" lIns="0" rIns="0" tIns="0" bIns="0">
            <a:spAutoFit/>
          </a:bodyPr>
          <a:lstStyle/>
          <a:p>
            <a:pPr>
              <a:spcAft>
                <a:spcPts val="700"/>
              </a:spcAft>
              <a:defRPr sz="1000" b="0">
                <a:solidFill>
                  <a:srgbClr val="617786"/>
                </a:solidFill>
                <a:latin typeface="DejaVu Sans"/>
              </a:defRPr>
            </a:pPr>
            <a:r>
              <a:t>06 / 07</a:t>
            </a:r>
          </a:p>
        </p:txBody>
      </p:sp>
      <p:sp>
        <p:nvSpPr>
          <p:cNvPr id="8" name="Rounded Rectangle 7"/>
          <p:cNvSpPr/>
          <p:nvPr/>
        </p:nvSpPr>
        <p:spPr>
          <a:xfrm>
            <a:off x="594360" y="266090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85800" y="273862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1</a:t>
            </a:r>
          </a:p>
        </p:txBody>
      </p:sp>
      <p:sp>
        <p:nvSpPr>
          <p:cNvPr id="10" name="TextBox 9"/>
          <p:cNvSpPr txBox="1"/>
          <p:nvPr/>
        </p:nvSpPr>
        <p:spPr>
          <a:xfrm>
            <a:off x="1225296" y="266090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Repeat the same case</a:t>
            </a:r>
          </a:p>
        </p:txBody>
      </p:sp>
      <p:sp>
        <p:nvSpPr>
          <p:cNvPr id="11" name="TextBox 10"/>
          <p:cNvSpPr txBox="1"/>
          <p:nvPr/>
        </p:nvSpPr>
        <p:spPr>
          <a:xfrm>
            <a:off x="1225296" y="312724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Run it 25 times and compare the document and full-result fingerprints.</a:t>
            </a:r>
          </a:p>
        </p:txBody>
      </p:sp>
      <p:sp>
        <p:nvSpPr>
          <p:cNvPr id="12" name="Rounded Rectangle 11"/>
          <p:cNvSpPr/>
          <p:nvPr/>
        </p:nvSpPr>
        <p:spPr>
          <a:xfrm>
            <a:off x="594360" y="375818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5800" y="383590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2</a:t>
            </a:r>
          </a:p>
        </p:txBody>
      </p:sp>
      <p:sp>
        <p:nvSpPr>
          <p:cNvPr id="14" name="TextBox 13"/>
          <p:cNvSpPr txBox="1"/>
          <p:nvPr/>
        </p:nvSpPr>
        <p:spPr>
          <a:xfrm>
            <a:off x="1225296" y="375818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Check four cases and conflicts</a:t>
            </a:r>
          </a:p>
        </p:txBody>
      </p:sp>
      <p:sp>
        <p:nvSpPr>
          <p:cNvPr id="15" name="TextBox 14"/>
          <p:cNvSpPr txBox="1"/>
          <p:nvPr/>
        </p:nvSpPr>
        <p:spPr>
          <a:xfrm>
            <a:off x="1225296" y="422452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Check four expected module/citation lists; request both exclusive routes.</a:t>
            </a:r>
          </a:p>
        </p:txBody>
      </p:sp>
      <p:sp>
        <p:nvSpPr>
          <p:cNvPr id="16" name="Rounded Rectangle 15"/>
          <p:cNvSpPr/>
          <p:nvPr/>
        </p:nvSpPr>
        <p:spPr>
          <a:xfrm>
            <a:off x="594360" y="485546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493318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3</a:t>
            </a:r>
          </a:p>
        </p:txBody>
      </p:sp>
      <p:sp>
        <p:nvSpPr>
          <p:cNvPr id="18" name="TextBox 17"/>
          <p:cNvSpPr txBox="1"/>
          <p:nvPr/>
        </p:nvSpPr>
        <p:spPr>
          <a:xfrm>
            <a:off x="1225296" y="485546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Add a simulated source update</a:t>
            </a:r>
          </a:p>
        </p:txBody>
      </p:sp>
      <p:sp>
        <p:nvSpPr>
          <p:cNvPr id="19" name="TextBox 18"/>
          <p:cNvSpPr txBox="1"/>
          <p:nvPr/>
        </p:nvSpPr>
        <p:spPr>
          <a:xfrm>
            <a:off x="1225296" y="5321807"/>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Check the correct paragraphs receive warnings after the change.</a:t>
            </a:r>
          </a:p>
        </p:txBody>
      </p:sp>
      <p:sp>
        <p:nvSpPr>
          <p:cNvPr id="20" name="Rounded Rectangle 19"/>
          <p:cNvSpPr/>
          <p:nvPr/>
        </p:nvSpPr>
        <p:spPr>
          <a:xfrm>
            <a:off x="6428232" y="2587752"/>
            <a:ext cx="5166360" cy="3264408"/>
          </a:xfrm>
          <a:prstGeom prst="roundRect">
            <a:avLst>
              <a:gd name="adj" fmla="val 6000"/>
            </a:avLst>
          </a:prstGeom>
          <a:solidFill>
            <a:srgbClr val="E7F3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702552" y="2862072"/>
            <a:ext cx="4617720" cy="301752"/>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RESULTS</a:t>
            </a:r>
          </a:p>
        </p:txBody>
      </p:sp>
      <p:sp>
        <p:nvSpPr>
          <p:cNvPr id="22" name="TextBox 21"/>
          <p:cNvSpPr txBox="1"/>
          <p:nvPr/>
        </p:nvSpPr>
        <p:spPr>
          <a:xfrm>
            <a:off x="6702552" y="3465576"/>
            <a:ext cx="4617720" cy="2148840"/>
          </a:xfrm>
          <a:prstGeom prst="rect">
            <a:avLst/>
          </a:prstGeom>
          <a:noFill/>
        </p:spPr>
        <p:txBody>
          <a:bodyPr wrap="square" lIns="0" rIns="0" tIns="0" bIns="0">
            <a:spAutoFit/>
          </a:bodyPr>
          <a:lstStyle/>
          <a:p>
            <a:pPr>
              <a:spcAft>
                <a:spcPts val="700"/>
              </a:spcAft>
              <a:defRPr sz="1600" b="0">
                <a:solidFill>
                  <a:srgbClr val="172F46"/>
                </a:solidFill>
                <a:latin typeface="DejaVu Sans"/>
              </a:defRPr>
            </a:pPr>
            <a:r>
              <a:t>Repeatability: PASS</a:t>
            </a:r>
          </a:p>
          <a:p>
            <a:pPr>
              <a:spcAft>
                <a:spcPts val="700"/>
              </a:spcAft>
              <a:defRPr sz="1600" b="0">
                <a:solidFill>
                  <a:srgbClr val="172F46"/>
                </a:solidFill>
                <a:latin typeface="DejaVu Sans"/>
              </a:defRPr>
            </a:pPr>
            <a:r>
              <a:t>Four reference cases: PASS</a:t>
            </a:r>
          </a:p>
          <a:p>
            <a:pPr>
              <a:spcAft>
                <a:spcPts val="700"/>
              </a:spcAft>
              <a:defRPr sz="1600" b="0">
                <a:solidFill>
                  <a:srgbClr val="172F46"/>
                </a:solidFill>
                <a:latin typeface="DejaVu Sans"/>
              </a:defRPr>
            </a:pPr>
            <a:r>
              <a:t>Conflict guard: PASS</a:t>
            </a:r>
          </a:p>
          <a:p>
            <a:pPr>
              <a:spcAft>
                <a:spcPts val="700"/>
              </a:spcAft>
              <a:defRPr sz="1600" b="0">
                <a:solidFill>
                  <a:srgbClr val="172F46"/>
                </a:solidFill>
                <a:latin typeface="DejaVu Sans"/>
              </a:defRPr>
            </a:pPr>
            <a:r>
              <a:t>Update warning check: PASS</a:t>
            </a:r>
          </a:p>
          <a:p>
            <a:pPr>
              <a:spcAft>
                <a:spcPts val="700"/>
              </a:spcAft>
              <a:defRPr sz="1600" b="0">
                <a:solidFill>
                  <a:srgbClr val="172F46"/>
                </a:solidFill>
                <a:latin typeface="DejaVu Sans"/>
              </a:defRPr>
            </a:pPr>
          </a:p>
          <a:p>
            <a:pPr>
              <a:spcAft>
                <a:spcPts val="700"/>
              </a:spcAft>
              <a:defRPr sz="1600" b="0">
                <a:solidFill>
                  <a:srgbClr val="172F46"/>
                </a:solidFill>
                <a:latin typeface="DejaVu Sans"/>
              </a:defRPr>
            </a:pPr>
            <a:r>
              <a:t>Extra checks cover citations and search.</a:t>
            </a:r>
          </a:p>
        </p:txBody>
      </p:sp>
      <p:sp>
        <p:nvSpPr>
          <p:cNvPr id="23" name="Rounded Rectangle 22"/>
          <p:cNvSpPr/>
          <p:nvPr/>
        </p:nvSpPr>
        <p:spPr>
          <a:xfrm>
            <a:off x="594360" y="6007608"/>
            <a:ext cx="11000232" cy="320040"/>
          </a:xfrm>
          <a:prstGeom prst="roundRect">
            <a:avLst>
              <a:gd name="adj" fmla="val 6000"/>
            </a:avLst>
          </a:prstGeom>
          <a:solidFill>
            <a:srgbClr val="EF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58952" y="6053328"/>
            <a:ext cx="10671048" cy="210312"/>
          </a:xfrm>
          <a:prstGeom prst="rect">
            <a:avLst/>
          </a:prstGeom>
          <a:noFill/>
        </p:spPr>
        <p:txBody>
          <a:bodyPr wrap="square" lIns="0" rIns="0" tIns="0" bIns="0">
            <a:spAutoFit/>
          </a:bodyPr>
          <a:lstStyle/>
          <a:p>
            <a:pPr>
              <a:spcAft>
                <a:spcPts val="700"/>
              </a:spcAft>
              <a:defRPr sz="1100" b="1">
                <a:solidFill>
                  <a:srgbClr val="172F46"/>
                </a:solidFill>
                <a:latin typeface="DejaVu Sans"/>
              </a:defRPr>
            </a:pPr>
            <a:r>
              <a:t>Passing shows expected software behaviour on these examples—not universal legal accuracy.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12064" y="384048"/>
            <a:ext cx="91440" cy="329184"/>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58952" y="420624"/>
            <a:ext cx="10058400" cy="237744"/>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REAL-USE RELIABILITY · PROPOSED NEXT STEPS</a:t>
            </a:r>
          </a:p>
        </p:txBody>
      </p:sp>
      <p:sp>
        <p:nvSpPr>
          <p:cNvPr id="4" name="TextBox 3"/>
          <p:cNvSpPr txBox="1"/>
          <p:nvPr/>
        </p:nvSpPr>
        <p:spPr>
          <a:xfrm>
            <a:off x="594360" y="941832"/>
            <a:ext cx="10972800" cy="914400"/>
          </a:xfrm>
          <a:prstGeom prst="rect">
            <a:avLst/>
          </a:prstGeom>
          <a:noFill/>
        </p:spPr>
        <p:txBody>
          <a:bodyPr wrap="square" lIns="0" rIns="0" tIns="0" bIns="0">
            <a:spAutoFit/>
          </a:bodyPr>
          <a:lstStyle/>
          <a:p>
            <a:pPr>
              <a:spcAft>
                <a:spcPts val="700"/>
              </a:spcAft>
              <a:defRPr sz="3000" b="1">
                <a:solidFill>
                  <a:srgbClr val="172F46"/>
                </a:solidFill>
                <a:latin typeface="DejaVu Sans"/>
              </a:defRPr>
            </a:pPr>
            <a:r>
              <a:t>How I would keep it reliable in real use</a:t>
            </a:r>
          </a:p>
        </p:txBody>
      </p:sp>
      <p:sp>
        <p:nvSpPr>
          <p:cNvPr id="5" name="TextBox 4"/>
          <p:cNvSpPr txBox="1"/>
          <p:nvPr/>
        </p:nvSpPr>
        <p:spPr>
          <a:xfrm>
            <a:off x="594360" y="1856231"/>
            <a:ext cx="10972800" cy="548640"/>
          </a:xfrm>
          <a:prstGeom prst="rect">
            <a:avLst/>
          </a:prstGeom>
          <a:noFill/>
        </p:spPr>
        <p:txBody>
          <a:bodyPr wrap="square" lIns="0" rIns="0" tIns="0" bIns="0">
            <a:spAutoFit/>
          </a:bodyPr>
          <a:lstStyle/>
          <a:p>
            <a:pPr>
              <a:spcAft>
                <a:spcPts val="700"/>
              </a:spcAft>
              <a:defRPr sz="1600" b="0">
                <a:solidFill>
                  <a:srgbClr val="617786"/>
                </a:solidFill>
                <a:latin typeface="DejaVu Sans"/>
              </a:defRPr>
            </a:pPr>
            <a:r>
              <a:t>Develop one narrow workflow with the team before expanding the system.</a:t>
            </a:r>
          </a:p>
        </p:txBody>
      </p:sp>
      <p:sp>
        <p:nvSpPr>
          <p:cNvPr id="6" name="TextBox 5"/>
          <p:cNvSpPr txBox="1"/>
          <p:nvPr/>
        </p:nvSpPr>
        <p:spPr>
          <a:xfrm>
            <a:off x="594360" y="6510528"/>
            <a:ext cx="10058400" cy="219456"/>
          </a:xfrm>
          <a:prstGeom prst="rect">
            <a:avLst/>
          </a:prstGeom>
          <a:noFill/>
        </p:spPr>
        <p:txBody>
          <a:bodyPr wrap="square" lIns="0" rIns="0" tIns="0" bIns="0">
            <a:spAutoFit/>
          </a:bodyPr>
          <a:lstStyle/>
          <a:p>
            <a:pPr>
              <a:spcAft>
                <a:spcPts val="700"/>
              </a:spcAft>
              <a:defRPr sz="800" b="0">
                <a:solidFill>
                  <a:srgbClr val="617786"/>
                </a:solidFill>
                <a:latin typeface="DejaVu Sans"/>
              </a:defRPr>
            </a:pPr>
            <a:r>
              <a:t>Proposed improvements based on the brief and demo limitations, not verified shortcomings in the existing company system.</a:t>
            </a:r>
          </a:p>
        </p:txBody>
      </p:sp>
      <p:sp>
        <p:nvSpPr>
          <p:cNvPr id="7" name="TextBox 6"/>
          <p:cNvSpPr txBox="1"/>
          <p:nvPr/>
        </p:nvSpPr>
        <p:spPr>
          <a:xfrm>
            <a:off x="10817352" y="6446520"/>
            <a:ext cx="731520" cy="274320"/>
          </a:xfrm>
          <a:prstGeom prst="rect">
            <a:avLst/>
          </a:prstGeom>
          <a:noFill/>
        </p:spPr>
        <p:txBody>
          <a:bodyPr wrap="square" lIns="0" rIns="0" tIns="0" bIns="0">
            <a:spAutoFit/>
          </a:bodyPr>
          <a:lstStyle/>
          <a:p>
            <a:pPr>
              <a:spcAft>
                <a:spcPts val="700"/>
              </a:spcAft>
              <a:defRPr sz="1000" b="0">
                <a:solidFill>
                  <a:srgbClr val="617786"/>
                </a:solidFill>
                <a:latin typeface="DejaVu Sans"/>
              </a:defRPr>
            </a:pPr>
            <a:r>
              <a:t>07 / 07</a:t>
            </a:r>
          </a:p>
        </p:txBody>
      </p:sp>
      <p:sp>
        <p:nvSpPr>
          <p:cNvPr id="8" name="Rounded Rectangle 7"/>
          <p:cNvSpPr/>
          <p:nvPr/>
        </p:nvSpPr>
        <p:spPr>
          <a:xfrm>
            <a:off x="594360" y="266090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85800" y="273862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1</a:t>
            </a:r>
          </a:p>
        </p:txBody>
      </p:sp>
      <p:sp>
        <p:nvSpPr>
          <p:cNvPr id="10" name="TextBox 9"/>
          <p:cNvSpPr txBox="1"/>
          <p:nvPr/>
        </p:nvSpPr>
        <p:spPr>
          <a:xfrm>
            <a:off x="1225296" y="266090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Start with approved material</a:t>
            </a:r>
          </a:p>
        </p:txBody>
      </p:sp>
      <p:sp>
        <p:nvSpPr>
          <p:cNvPr id="11" name="TextBox 10"/>
          <p:cNvSpPr txBox="1"/>
          <p:nvPr/>
        </p:nvSpPr>
        <p:spPr>
          <a:xfrm>
            <a:off x="1225296" y="312724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Use verified full sources, agreed rules and authorised example cases.</a:t>
            </a:r>
          </a:p>
        </p:txBody>
      </p:sp>
      <p:sp>
        <p:nvSpPr>
          <p:cNvPr id="12" name="Rounded Rectangle 11"/>
          <p:cNvSpPr/>
          <p:nvPr/>
        </p:nvSpPr>
        <p:spPr>
          <a:xfrm>
            <a:off x="594360" y="375818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5800" y="383590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2</a:t>
            </a:r>
          </a:p>
        </p:txBody>
      </p:sp>
      <p:sp>
        <p:nvSpPr>
          <p:cNvPr id="14" name="TextBox 13"/>
          <p:cNvSpPr txBox="1"/>
          <p:nvPr/>
        </p:nvSpPr>
        <p:spPr>
          <a:xfrm>
            <a:off x="1225296" y="375818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Review each change</a:t>
            </a:r>
          </a:p>
        </p:txBody>
      </p:sp>
      <p:sp>
        <p:nvSpPr>
          <p:cNvPr id="15" name="TextBox 14"/>
          <p:cNvSpPr txBox="1"/>
          <p:nvPr/>
        </p:nvSpPr>
        <p:spPr>
          <a:xfrm>
            <a:off x="1225296" y="4224528"/>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Save versions, rerun examples and explain intended and unexpected differences.</a:t>
            </a:r>
          </a:p>
        </p:txBody>
      </p:sp>
      <p:sp>
        <p:nvSpPr>
          <p:cNvPr id="16" name="Rounded Rectangle 15"/>
          <p:cNvSpPr/>
          <p:nvPr/>
        </p:nvSpPr>
        <p:spPr>
          <a:xfrm>
            <a:off x="594360" y="4855464"/>
            <a:ext cx="393192" cy="393192"/>
          </a:xfrm>
          <a:prstGeom prst="roundRect">
            <a:avLst>
              <a:gd name="adj" fmla="val 6000"/>
            </a:avLst>
          </a:prstGeom>
          <a:solidFill>
            <a:srgbClr val="087B7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4933188"/>
            <a:ext cx="274320" cy="228600"/>
          </a:xfrm>
          <a:prstGeom prst="rect">
            <a:avLst/>
          </a:prstGeom>
          <a:noFill/>
        </p:spPr>
        <p:txBody>
          <a:bodyPr wrap="square" lIns="0" rIns="0" tIns="0" bIns="0">
            <a:spAutoFit/>
          </a:bodyPr>
          <a:lstStyle/>
          <a:p>
            <a:pPr>
              <a:spcAft>
                <a:spcPts val="700"/>
              </a:spcAft>
              <a:defRPr sz="1200" b="1">
                <a:solidFill>
                  <a:srgbClr val="FFFFFF"/>
                </a:solidFill>
                <a:latin typeface="DejaVu Sans"/>
              </a:defRPr>
            </a:pPr>
            <a:r>
              <a:t>3</a:t>
            </a:r>
          </a:p>
        </p:txBody>
      </p:sp>
      <p:sp>
        <p:nvSpPr>
          <p:cNvPr id="18" name="TextBox 17"/>
          <p:cNvSpPr txBox="1"/>
          <p:nvPr/>
        </p:nvSpPr>
        <p:spPr>
          <a:xfrm>
            <a:off x="1225296" y="4855464"/>
            <a:ext cx="4663440" cy="365760"/>
          </a:xfrm>
          <a:prstGeom prst="rect">
            <a:avLst/>
          </a:prstGeom>
          <a:noFill/>
        </p:spPr>
        <p:txBody>
          <a:bodyPr wrap="square" lIns="0" rIns="0" tIns="0" bIns="0">
            <a:spAutoFit/>
          </a:bodyPr>
          <a:lstStyle/>
          <a:p>
            <a:pPr>
              <a:spcAft>
                <a:spcPts val="700"/>
              </a:spcAft>
              <a:defRPr sz="1900" b="1">
                <a:solidFill>
                  <a:srgbClr val="172F46"/>
                </a:solidFill>
                <a:latin typeface="DejaVu Sans"/>
              </a:defRPr>
            </a:pPr>
            <a:r>
              <a:t>Evaluate the weak points</a:t>
            </a:r>
          </a:p>
        </p:txBody>
      </p:sp>
      <p:sp>
        <p:nvSpPr>
          <p:cNvPr id="19" name="TextBox 18"/>
          <p:cNvSpPr txBox="1"/>
          <p:nvPr/>
        </p:nvSpPr>
        <p:spPr>
          <a:xfrm>
            <a:off x="1225296" y="5321807"/>
            <a:ext cx="4663440" cy="603504"/>
          </a:xfrm>
          <a:prstGeom prst="rect">
            <a:avLst/>
          </a:prstGeom>
          <a:noFill/>
        </p:spPr>
        <p:txBody>
          <a:bodyPr wrap="square" lIns="0" rIns="0" tIns="0" bIns="0">
            <a:spAutoFit/>
          </a:bodyPr>
          <a:lstStyle/>
          <a:p>
            <a:pPr>
              <a:spcAft>
                <a:spcPts val="700"/>
              </a:spcAft>
              <a:defRPr sz="1500" b="0">
                <a:solidFill>
                  <a:srgbClr val="304455"/>
                </a:solidFill>
                <a:latin typeface="DejaVu Sans"/>
              </a:defRPr>
            </a:pPr>
            <a:r>
              <a:t>Evaluate retrieval and citation support; keep ambiguous findings with reviewers.</a:t>
            </a:r>
          </a:p>
        </p:txBody>
      </p:sp>
      <p:sp>
        <p:nvSpPr>
          <p:cNvPr id="20" name="Rounded Rectangle 19"/>
          <p:cNvSpPr/>
          <p:nvPr/>
        </p:nvSpPr>
        <p:spPr>
          <a:xfrm>
            <a:off x="6428232" y="2587752"/>
            <a:ext cx="5166360" cy="3264408"/>
          </a:xfrm>
          <a:prstGeom prst="roundRect">
            <a:avLst>
              <a:gd name="adj" fmla="val 6000"/>
            </a:avLst>
          </a:prstGeom>
          <a:solidFill>
            <a:srgbClr val="E7F3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702552" y="2862072"/>
            <a:ext cx="4617720" cy="301752"/>
          </a:xfrm>
          <a:prstGeom prst="rect">
            <a:avLst/>
          </a:prstGeom>
          <a:noFill/>
        </p:spPr>
        <p:txBody>
          <a:bodyPr wrap="square" lIns="0" rIns="0" tIns="0" bIns="0">
            <a:spAutoFit/>
          </a:bodyPr>
          <a:lstStyle/>
          <a:p>
            <a:pPr>
              <a:spcAft>
                <a:spcPts val="700"/>
              </a:spcAft>
              <a:defRPr sz="1100" b="1">
                <a:solidFill>
                  <a:srgbClr val="087B72"/>
                </a:solidFill>
                <a:latin typeface="DejaVu Sans"/>
              </a:defRPr>
            </a:pPr>
            <a:r>
              <a:t>FIRST PILOT</a:t>
            </a:r>
          </a:p>
        </p:txBody>
      </p:sp>
      <p:sp>
        <p:nvSpPr>
          <p:cNvPr id="22" name="TextBox 21"/>
          <p:cNvSpPr txBox="1"/>
          <p:nvPr/>
        </p:nvSpPr>
        <p:spPr>
          <a:xfrm>
            <a:off x="6702552" y="3465576"/>
            <a:ext cx="4617720" cy="2148840"/>
          </a:xfrm>
          <a:prstGeom prst="rect">
            <a:avLst/>
          </a:prstGeom>
          <a:noFill/>
        </p:spPr>
        <p:txBody>
          <a:bodyPr wrap="square" lIns="0" rIns="0" tIns="0" bIns="0">
            <a:spAutoFit/>
          </a:bodyPr>
          <a:lstStyle/>
          <a:p>
            <a:pPr>
              <a:spcAft>
                <a:spcPts val="700"/>
              </a:spcAft>
              <a:defRPr sz="1700" b="0">
                <a:solidFill>
                  <a:srgbClr val="172F46"/>
                </a:solidFill>
                <a:latin typeface="DejaVu Sans"/>
              </a:defRPr>
            </a:pPr>
            <a:r>
              <a:t>One workflow</a:t>
            </a:r>
          </a:p>
          <a:p>
            <a:pPr>
              <a:spcAft>
                <a:spcPts val="700"/>
              </a:spcAft>
              <a:defRPr sz="1700" b="0">
                <a:solidFill>
                  <a:srgbClr val="172F46"/>
                </a:solidFill>
                <a:latin typeface="DejaVu Sans"/>
              </a:defRPr>
            </a:pPr>
            <a:r>
              <a:t>One agreed reference set</a:t>
            </a:r>
          </a:p>
          <a:p>
            <a:pPr>
              <a:spcAft>
                <a:spcPts val="700"/>
              </a:spcAft>
              <a:defRPr sz="1700" b="0">
                <a:solidFill>
                  <a:srgbClr val="172F46"/>
                </a:solidFill>
                <a:latin typeface="DejaVu Sans"/>
              </a:defRPr>
            </a:pPr>
            <a:r>
              <a:t>A small implementation</a:t>
            </a:r>
          </a:p>
          <a:p>
            <a:pPr>
              <a:spcAft>
                <a:spcPts val="700"/>
              </a:spcAft>
              <a:defRPr sz="1700" b="0">
                <a:solidFill>
                  <a:srgbClr val="172F46"/>
                </a:solidFill>
                <a:latin typeface="DejaVu Sans"/>
              </a:defRPr>
            </a:pPr>
            <a:r>
              <a:t>A review with lawyers and engineers</a:t>
            </a:r>
          </a:p>
          <a:p>
            <a:pPr>
              <a:spcAft>
                <a:spcPts val="700"/>
              </a:spcAft>
              <a:defRPr sz="1700" b="0">
                <a:solidFill>
                  <a:srgbClr val="172F46"/>
                </a:solidFill>
                <a:latin typeface="DejaVu Sans"/>
              </a:defRPr>
            </a:pPr>
          </a:p>
          <a:p>
            <a:pPr>
              <a:spcAft>
                <a:spcPts val="700"/>
              </a:spcAft>
              <a:defRPr sz="1700" b="0">
                <a:solidFill>
                  <a:srgbClr val="172F46"/>
                </a:solidFill>
                <a:latin typeface="DejaVu Sans"/>
              </a:defRPr>
            </a:pPr>
            <a:r>
              <a:t>Then decide what to improve.</a:t>
            </a:r>
          </a:p>
        </p:txBody>
      </p:sp>
      <p:sp>
        <p:nvSpPr>
          <p:cNvPr id="23" name="Rounded Rectangle 22"/>
          <p:cNvSpPr/>
          <p:nvPr/>
        </p:nvSpPr>
        <p:spPr>
          <a:xfrm>
            <a:off x="594360" y="6007608"/>
            <a:ext cx="11000232" cy="320040"/>
          </a:xfrm>
          <a:prstGeom prst="roundRect">
            <a:avLst>
              <a:gd name="adj" fmla="val 6000"/>
            </a:avLst>
          </a:prstGeom>
          <a:solidFill>
            <a:srgbClr val="EF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58952" y="6053328"/>
            <a:ext cx="10671048" cy="210312"/>
          </a:xfrm>
          <a:prstGeom prst="rect">
            <a:avLst/>
          </a:prstGeom>
          <a:noFill/>
        </p:spPr>
        <p:txBody>
          <a:bodyPr wrap="square" lIns="0" rIns="0" tIns="0" bIns="0">
            <a:spAutoFit/>
          </a:bodyPr>
          <a:lstStyle/>
          <a:p>
            <a:pPr>
              <a:spcAft>
                <a:spcPts val="700"/>
              </a:spcAft>
              <a:defRPr sz="1100" b="1">
                <a:solidFill>
                  <a:srgbClr val="172F46"/>
                </a:solidFill>
                <a:latin typeface="DejaVu Sans"/>
              </a:defRPr>
            </a:pPr>
            <a:r>
              <a:t>Which workflow would be the most useful starting point for this 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Docitalis Interview — Role, Experience and UkilRAG</dc:title>
  <dc:subject>Seven-slide walkthrough: role, research contribution, sources and rules, assembly, review, tests, reliability</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