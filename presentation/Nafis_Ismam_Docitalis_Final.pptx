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35 seconds. “I understand the role as learning how lawyers make decisions and representing approved reasoning as explicit rules. The system then prepares a consistent draft and explains its choices. AI can support review, but legal strategy and applicability remain with lawyers.” This is based on the supplied posting, not access to the internal system. Public context: https://docitalis.com/.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40 seconds. “My role covered literature review, problem identification and initial design. I helped explore section-level organisation and parent Act metadata so retrieved passages could be traced to their sources. I later moved to an LLM inference project while a sub-team continued the legal work.” Do not claim implementation of the final research pipeline. A lawyer discussion motivated the Bangladesh/India confusion concern. Act names alone cannot settle jurisdiction; verified source, jurisdiction and version metadata are needed. The recent demo is a separate implementation; explain assistance and personal work accurately when discussing ownership.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45 seconds. “Cell 1 creates the Legal Sources Matrix. Cell 2 defines seven prepared document blocks and their rules in version 1.2.0. The source ID connects each paragraph to the legal records it references.” Example: M5 requires records and selected M3, and links to C167. Show these are definitions, not a completed draft. The source texts are summaries rather than verified full provisions. Two judgment notes are simulated. Versions and dates are manually assigned. The legacy limitation_defense flag is a supplied request for the procedural example, not a calculation of a breached legal deadline. Exclusive routes are teaching configuration, not universal legal rules.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45 seconds. “The sample requests the procedural route, has records and requests relief. The engine validates fields, checks conditions and prerequisites, records every inclusion or skip, checks active conflicts and fills selected templates in order.” The sample selects M1, M2, M3, M5 and M7. M4 and M6 are skipped because their flags default to False. Defaulting unknown facts to False would need careful agreement in a real workflow. The returned trace includes rules, missing dependencies, source links, version and fingerprints. Hashes help compare outputs; they do not make them legally correct. No LLM invents the wording.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50 seconds. “Retrieval uses TF-IDF word matching and cosine similarity with an uncalibrated 0.80 gate. If direct retrieval accepts nothing, explicit separators can split the query. The controlled two-source text example retrieves C54 and P420 after splitting.” That is not proof of paraphrase accuracy. “Separately, the review derives required citations from module definitions, checks markers in the actual text and compares stored judgment-note dates.” The unchanged draft has three newer-note warnings: M3-C54, M3-C167 and M5-C167. It has no missing-citation alerts. The ordinary case summary and both split parts accept no sources. Explicit source-link warnings do not depend on search success. No new judgments are discovered automatically, no generative reviewer runs, and marker presence does not establish semantic citation support.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45 seconds. “These checks target the prototype’s promises: repeatable outputs, expected module order and citations, conflict rejection and recorded update alerts. All four groups pass.” Twenty-five repetitions were specified for the demo and are not a mathematically special number. Expected fixture lists are written separately. The conflict test passes when the intended error is raised. The update test removes notes, inserts a new simulated C167 note and checks M3 and M5; it also deliberately damages citations and checks retrieval paths. These are not approved real historical cases. A reviewed legal change may intentionally change expected outputs, so failures require investigation rather than blindly forcing old results.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40 seconds. “The demo uses summaries, fictional cases and simple checks. With your team, I would start from one approved workflow and reviewed reference set, implement a bounded task, then inspect results with lawyers and engineers.” Production work needs jurisdiction/version/source metadata, approved test cases, access controls and technical review. Evaluate thresholds on labeled queries rather than assume 0.80 transfers to another corpus. Assess claim-to-source support rather than just marker presence. The prototype lacks production storage, a generative legal reviewer and an appeals workflow. Keep these as development scope, not completed features. Close with the slide’s question. Ask about technical supervision and legal approval if not covered.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C43"/>
        </a:solidFill>
        <a:effectLst/>
      </p:bgPr>
    </p:bg>
    <p:spTree>
      <p:nvGrpSpPr>
        <p:cNvPr id="1" name=""/>
        <p:cNvGrpSpPr/>
        <p:nvPr/>
      </p:nvGrpSpPr>
      <p:grpSpPr/>
      <p:sp>
        <p:nvSpPr>
          <p:cNvPr id="2" name="TextBox 1"/>
          <p:cNvSpPr txBox="1"/>
          <p:nvPr/>
        </p:nvSpPr>
        <p:spPr>
          <a:xfrm>
            <a:off x="594360" y="365760"/>
            <a:ext cx="10058400" cy="274320"/>
          </a:xfrm>
          <a:prstGeom prst="rect">
            <a:avLst/>
          </a:prstGeom>
          <a:noFill/>
        </p:spPr>
        <p:txBody>
          <a:bodyPr wrap="square" lIns="0" rIns="0" tIns="0" bIns="0">
            <a:spAutoFit/>
          </a:bodyPr>
          <a:lstStyle/>
          <a:p>
            <a:pPr>
              <a:spcAft>
                <a:spcPts val="500"/>
              </a:spcAft>
              <a:defRPr sz="1100" b="1">
                <a:solidFill>
                  <a:srgbClr val="8DD9C9"/>
                </a:solidFill>
                <a:latin typeface="DejaVu Sans"/>
              </a:defRPr>
            </a:pPr>
            <a:r>
              <a:t>NAFIS ISMAM · MY UNDERSTANDING OF THE ROLE</a:t>
            </a:r>
          </a:p>
        </p:txBody>
      </p:sp>
      <p:sp>
        <p:nvSpPr>
          <p:cNvPr id="3" name="TextBox 2"/>
          <p:cNvSpPr txBox="1"/>
          <p:nvPr/>
        </p:nvSpPr>
        <p:spPr>
          <a:xfrm>
            <a:off x="594360" y="6519672"/>
            <a:ext cx="9966960" cy="182880"/>
          </a:xfrm>
          <a:prstGeom prst="rect">
            <a:avLst/>
          </a:prstGeom>
          <a:noFill/>
        </p:spPr>
        <p:txBody>
          <a:bodyPr wrap="square" lIns="0" rIns="0" tIns="0" bIns="0">
            <a:spAutoFit/>
          </a:bodyPr>
          <a:lstStyle/>
          <a:p>
            <a:pPr>
              <a:spcAft>
                <a:spcPts val="500"/>
              </a:spcAft>
              <a:defRPr sz="800" b="0">
                <a:solidFill>
                  <a:srgbClr val="A8BFCD"/>
                </a:solidFill>
                <a:latin typeface="DejaVu Sans"/>
              </a:defRPr>
            </a:pPr>
            <a:r>
              <a:t>Basis: original internship posting supplied by the candidate. Proposed understanding, not an internal-system assessment.</a:t>
            </a:r>
          </a:p>
        </p:txBody>
      </p:sp>
      <p:sp>
        <p:nvSpPr>
          <p:cNvPr id="4" name="TextBox 3"/>
          <p:cNvSpPr txBox="1"/>
          <p:nvPr/>
        </p:nvSpPr>
        <p:spPr>
          <a:xfrm>
            <a:off x="10835640" y="6446520"/>
            <a:ext cx="731520" cy="274320"/>
          </a:xfrm>
          <a:prstGeom prst="rect">
            <a:avLst/>
          </a:prstGeom>
          <a:noFill/>
        </p:spPr>
        <p:txBody>
          <a:bodyPr wrap="square" lIns="0" rIns="0" tIns="0" bIns="0">
            <a:spAutoFit/>
          </a:bodyPr>
          <a:lstStyle/>
          <a:p>
            <a:pPr>
              <a:spcAft>
                <a:spcPts val="500"/>
              </a:spcAft>
              <a:defRPr sz="1000" b="0">
                <a:solidFill>
                  <a:srgbClr val="A8BFCD"/>
                </a:solidFill>
                <a:latin typeface="DejaVu Sans"/>
              </a:defRPr>
            </a:pPr>
            <a:r>
              <a:t>01 / 07</a:t>
            </a:r>
          </a:p>
        </p:txBody>
      </p:sp>
      <p:sp>
        <p:nvSpPr>
          <p:cNvPr id="5" name="TextBox 4"/>
          <p:cNvSpPr txBox="1"/>
          <p:nvPr/>
        </p:nvSpPr>
        <p:spPr>
          <a:xfrm>
            <a:off x="640080" y="1353312"/>
            <a:ext cx="6126480" cy="1792224"/>
          </a:xfrm>
          <a:prstGeom prst="rect">
            <a:avLst/>
          </a:prstGeom>
          <a:noFill/>
        </p:spPr>
        <p:txBody>
          <a:bodyPr wrap="square" lIns="0" rIns="0" tIns="0" bIns="0">
            <a:spAutoFit/>
          </a:bodyPr>
          <a:lstStyle/>
          <a:p>
            <a:pPr>
              <a:spcAft>
                <a:spcPts val="500"/>
              </a:spcAft>
              <a:defRPr sz="3600" b="1">
                <a:solidFill>
                  <a:srgbClr val="FFFFFF"/>
                </a:solidFill>
                <a:latin typeface="DejaVu Sans"/>
              </a:defRPr>
            </a:pPr>
            <a:r>
              <a:t>Turn legal expertise</a:t>
            </a:r>
          </a:p>
          <a:p>
            <a:pPr>
              <a:spcAft>
                <a:spcPts val="500"/>
              </a:spcAft>
              <a:defRPr sz="3600" b="1">
                <a:solidFill>
                  <a:srgbClr val="FFFFFF"/>
                </a:solidFill>
                <a:latin typeface="DejaVu Sans"/>
              </a:defRPr>
            </a:pPr>
            <a:r>
              <a:t>into reliable software.</a:t>
            </a:r>
          </a:p>
        </p:txBody>
      </p:sp>
      <p:sp>
        <p:nvSpPr>
          <p:cNvPr id="6" name="TextBox 5"/>
          <p:cNvSpPr txBox="1"/>
          <p:nvPr/>
        </p:nvSpPr>
        <p:spPr>
          <a:xfrm>
            <a:off x="676656" y="3685032"/>
            <a:ext cx="5285232" cy="950976"/>
          </a:xfrm>
          <a:prstGeom prst="rect">
            <a:avLst/>
          </a:prstGeom>
          <a:noFill/>
        </p:spPr>
        <p:txBody>
          <a:bodyPr wrap="square" lIns="0" rIns="0" tIns="0" bIns="0">
            <a:spAutoFit/>
          </a:bodyPr>
          <a:lstStyle/>
          <a:p>
            <a:pPr>
              <a:spcAft>
                <a:spcPts val="500"/>
              </a:spcAft>
              <a:defRPr sz="2000" b="0">
                <a:solidFill>
                  <a:srgbClr val="D5E6ED"/>
                </a:solidFill>
                <a:latin typeface="DejaVu Sans"/>
              </a:defRPr>
            </a:pPr>
            <a:r>
              <a:t>Learn the decisions.</a:t>
            </a:r>
          </a:p>
          <a:p>
            <a:pPr>
              <a:spcAft>
                <a:spcPts val="500"/>
              </a:spcAft>
              <a:defRPr sz="2000" b="0">
                <a:solidFill>
                  <a:srgbClr val="D5E6ED"/>
                </a:solidFill>
                <a:latin typeface="DejaVu Sans"/>
              </a:defRPr>
            </a:pPr>
            <a:r>
              <a:t>Make the rules explicit.</a:t>
            </a:r>
          </a:p>
          <a:p>
            <a:pPr>
              <a:spcAft>
                <a:spcPts val="500"/>
              </a:spcAft>
              <a:defRPr sz="2000" b="0">
                <a:solidFill>
                  <a:srgbClr val="D5E6ED"/>
                </a:solidFill>
                <a:latin typeface="DejaVu Sans"/>
              </a:defRPr>
            </a:pPr>
            <a:r>
              <a:t>Check the result with the team.</a:t>
            </a:r>
          </a:p>
        </p:txBody>
      </p:sp>
      <p:sp>
        <p:nvSpPr>
          <p:cNvPr id="7" name="TextBox 6"/>
          <p:cNvSpPr txBox="1"/>
          <p:nvPr/>
        </p:nvSpPr>
        <p:spPr>
          <a:xfrm>
            <a:off x="676656" y="5504688"/>
            <a:ext cx="5394960" cy="530352"/>
          </a:xfrm>
          <a:prstGeom prst="rect">
            <a:avLst/>
          </a:prstGeom>
          <a:noFill/>
        </p:spPr>
        <p:txBody>
          <a:bodyPr wrap="square" lIns="0" rIns="0" tIns="0" bIns="0">
            <a:spAutoFit/>
          </a:bodyPr>
          <a:lstStyle/>
          <a:p>
            <a:pPr>
              <a:spcAft>
                <a:spcPts val="500"/>
              </a:spcAft>
              <a:defRPr sz="1600" b="1">
                <a:solidFill>
                  <a:srgbClr val="8DD9C9"/>
                </a:solidFill>
                <a:latin typeface="DejaVu Sans"/>
              </a:defRPr>
            </a:pPr>
            <a:r>
              <a:t>The lawyer decides legal applicability.</a:t>
            </a:r>
          </a:p>
        </p:txBody>
      </p:sp>
      <p:sp>
        <p:nvSpPr>
          <p:cNvPr id="8" name="Rounded Rectangle 7"/>
          <p:cNvSpPr/>
          <p:nvPr/>
        </p:nvSpPr>
        <p:spPr>
          <a:xfrm>
            <a:off x="7114032" y="1389888"/>
            <a:ext cx="4434840" cy="1161288"/>
          </a:xfrm>
          <a:prstGeom prst="roundRect">
            <a:avLst>
              <a:gd name="adj" fmla="val 6000"/>
            </a:avLst>
          </a:prstGeom>
          <a:solidFill>
            <a:srgbClr val="203F5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7370064" y="1572768"/>
            <a:ext cx="3886200" cy="246888"/>
          </a:xfrm>
          <a:prstGeom prst="rect">
            <a:avLst/>
          </a:prstGeom>
          <a:noFill/>
        </p:spPr>
        <p:txBody>
          <a:bodyPr wrap="square" lIns="0" rIns="0" tIns="0" bIns="0">
            <a:spAutoFit/>
          </a:bodyPr>
          <a:lstStyle/>
          <a:p>
            <a:pPr>
              <a:spcAft>
                <a:spcPts val="500"/>
              </a:spcAft>
              <a:defRPr sz="1100" b="1">
                <a:solidFill>
                  <a:srgbClr val="8DD9C9"/>
                </a:solidFill>
                <a:latin typeface="DejaVu Sans"/>
              </a:defRPr>
            </a:pPr>
            <a:r>
              <a:t>LAWYERS</a:t>
            </a:r>
          </a:p>
        </p:txBody>
      </p:sp>
      <p:sp>
        <p:nvSpPr>
          <p:cNvPr id="10" name="TextBox 9"/>
          <p:cNvSpPr txBox="1"/>
          <p:nvPr/>
        </p:nvSpPr>
        <p:spPr>
          <a:xfrm>
            <a:off x="7370064" y="1984248"/>
            <a:ext cx="3886200" cy="338328"/>
          </a:xfrm>
          <a:prstGeom prst="rect">
            <a:avLst/>
          </a:prstGeom>
          <a:noFill/>
        </p:spPr>
        <p:txBody>
          <a:bodyPr wrap="square" lIns="0" rIns="0" tIns="0" bIns="0">
            <a:spAutoFit/>
          </a:bodyPr>
          <a:lstStyle/>
          <a:p>
            <a:pPr>
              <a:spcAft>
                <a:spcPts val="500"/>
              </a:spcAft>
              <a:defRPr sz="1900" b="1">
                <a:solidFill>
                  <a:srgbClr val="FFFFFF"/>
                </a:solidFill>
                <a:latin typeface="DejaVu Sans"/>
              </a:defRPr>
            </a:pPr>
            <a:r>
              <a:t>Approve the reasoning</a:t>
            </a:r>
          </a:p>
        </p:txBody>
      </p:sp>
      <p:sp>
        <p:nvSpPr>
          <p:cNvPr id="11" name="Rounded Rectangle 10"/>
          <p:cNvSpPr/>
          <p:nvPr/>
        </p:nvSpPr>
        <p:spPr>
          <a:xfrm>
            <a:off x="7114032" y="2843784"/>
            <a:ext cx="4434840" cy="1161288"/>
          </a:xfrm>
          <a:prstGeom prst="roundRect">
            <a:avLst>
              <a:gd name="adj" fmla="val 6000"/>
            </a:avLst>
          </a:prstGeom>
          <a:solidFill>
            <a:srgbClr val="203F5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370064" y="3026664"/>
            <a:ext cx="3886200" cy="246888"/>
          </a:xfrm>
          <a:prstGeom prst="rect">
            <a:avLst/>
          </a:prstGeom>
          <a:noFill/>
        </p:spPr>
        <p:txBody>
          <a:bodyPr wrap="square" lIns="0" rIns="0" tIns="0" bIns="0">
            <a:spAutoFit/>
          </a:bodyPr>
          <a:lstStyle/>
          <a:p>
            <a:pPr>
              <a:spcAft>
                <a:spcPts val="500"/>
              </a:spcAft>
              <a:defRPr sz="1100" b="1">
                <a:solidFill>
                  <a:srgbClr val="8DD9C9"/>
                </a:solidFill>
                <a:latin typeface="DejaVu Sans"/>
              </a:defRPr>
            </a:pPr>
            <a:r>
              <a:t>RULES</a:t>
            </a:r>
          </a:p>
        </p:txBody>
      </p:sp>
      <p:sp>
        <p:nvSpPr>
          <p:cNvPr id="13" name="TextBox 12"/>
          <p:cNvSpPr txBox="1"/>
          <p:nvPr/>
        </p:nvSpPr>
        <p:spPr>
          <a:xfrm>
            <a:off x="7370064" y="3438144"/>
            <a:ext cx="3886200" cy="338328"/>
          </a:xfrm>
          <a:prstGeom prst="rect">
            <a:avLst/>
          </a:prstGeom>
          <a:noFill/>
        </p:spPr>
        <p:txBody>
          <a:bodyPr wrap="square" lIns="0" rIns="0" tIns="0" bIns="0">
            <a:spAutoFit/>
          </a:bodyPr>
          <a:lstStyle/>
          <a:p>
            <a:pPr>
              <a:spcAft>
                <a:spcPts val="500"/>
              </a:spcAft>
              <a:defRPr sz="1900" b="1">
                <a:solidFill>
                  <a:srgbClr val="FFFFFF"/>
                </a:solidFill>
                <a:latin typeface="DejaVu Sans"/>
              </a:defRPr>
            </a:pPr>
            <a:r>
              <a:t>Assemble and explain</a:t>
            </a:r>
          </a:p>
        </p:txBody>
      </p:sp>
      <p:sp>
        <p:nvSpPr>
          <p:cNvPr id="14" name="Rounded Rectangle 13"/>
          <p:cNvSpPr/>
          <p:nvPr/>
        </p:nvSpPr>
        <p:spPr>
          <a:xfrm>
            <a:off x="7114032" y="4297680"/>
            <a:ext cx="4434840" cy="1161288"/>
          </a:xfrm>
          <a:prstGeom prst="roundRect">
            <a:avLst>
              <a:gd name="adj" fmla="val 6000"/>
            </a:avLst>
          </a:prstGeom>
          <a:solidFill>
            <a:srgbClr val="203F5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7370064" y="4480560"/>
            <a:ext cx="3886200" cy="246888"/>
          </a:xfrm>
          <a:prstGeom prst="rect">
            <a:avLst/>
          </a:prstGeom>
          <a:noFill/>
        </p:spPr>
        <p:txBody>
          <a:bodyPr wrap="square" lIns="0" rIns="0" tIns="0" bIns="0">
            <a:spAutoFit/>
          </a:bodyPr>
          <a:lstStyle/>
          <a:p>
            <a:pPr>
              <a:spcAft>
                <a:spcPts val="500"/>
              </a:spcAft>
              <a:defRPr sz="1100" b="1">
                <a:solidFill>
                  <a:srgbClr val="8DD9C9"/>
                </a:solidFill>
                <a:latin typeface="DejaVu Sans"/>
              </a:defRPr>
            </a:pPr>
            <a:r>
              <a:t>AI REVIEW</a:t>
            </a:r>
          </a:p>
        </p:txBody>
      </p:sp>
      <p:sp>
        <p:nvSpPr>
          <p:cNvPr id="16" name="TextBox 15"/>
          <p:cNvSpPr txBox="1"/>
          <p:nvPr/>
        </p:nvSpPr>
        <p:spPr>
          <a:xfrm>
            <a:off x="7370064" y="4892040"/>
            <a:ext cx="3886200" cy="338328"/>
          </a:xfrm>
          <a:prstGeom prst="rect">
            <a:avLst/>
          </a:prstGeom>
          <a:noFill/>
        </p:spPr>
        <p:txBody>
          <a:bodyPr wrap="square" lIns="0" rIns="0" tIns="0" bIns="0">
            <a:spAutoFit/>
          </a:bodyPr>
          <a:lstStyle/>
          <a:p>
            <a:pPr>
              <a:spcAft>
                <a:spcPts val="500"/>
              </a:spcAft>
              <a:defRPr sz="1900" b="1">
                <a:solidFill>
                  <a:srgbClr val="FFFFFF"/>
                </a:solidFill>
                <a:latin typeface="DejaVu Sans"/>
              </a:defRPr>
            </a:pPr>
            <a:r>
              <a:t>Suggest checks and sources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365760"/>
            <a:ext cx="10058400" cy="274320"/>
          </a:xfrm>
          <a:prstGeom prst="rect">
            <a:avLst/>
          </a:prstGeom>
          <a:noFill/>
        </p:spPr>
        <p:txBody>
          <a:bodyPr wrap="square" lIns="0" rIns="0" tIns="0" bIns="0">
            <a:spAutoFit/>
          </a:bodyPr>
          <a:lstStyle/>
          <a:p>
            <a:pPr>
              <a:spcAft>
                <a:spcPts val="500"/>
              </a:spcAft>
              <a:defRPr sz="1100" b="1">
                <a:solidFill>
                  <a:srgbClr val="087F76"/>
                </a:solidFill>
                <a:latin typeface="DejaVu Sans"/>
              </a:defRPr>
            </a:pPr>
            <a:r>
              <a:t>MY PREVIOUS EXPERIENCE</a:t>
            </a:r>
          </a:p>
        </p:txBody>
      </p:sp>
      <p:sp>
        <p:nvSpPr>
          <p:cNvPr id="3" name="TextBox 2"/>
          <p:cNvSpPr txBox="1"/>
          <p:nvPr/>
        </p:nvSpPr>
        <p:spPr>
          <a:xfrm>
            <a:off x="594360" y="950976"/>
            <a:ext cx="10972800" cy="960120"/>
          </a:xfrm>
          <a:prstGeom prst="rect">
            <a:avLst/>
          </a:prstGeom>
          <a:noFill/>
        </p:spPr>
        <p:txBody>
          <a:bodyPr wrap="square" lIns="0" rIns="0" tIns="0" bIns="0">
            <a:spAutoFit/>
          </a:bodyPr>
          <a:lstStyle/>
          <a:p>
            <a:pPr>
              <a:spcAft>
                <a:spcPts val="500"/>
              </a:spcAft>
              <a:defRPr sz="3000" b="1">
                <a:solidFill>
                  <a:srgbClr val="142C43"/>
                </a:solidFill>
                <a:latin typeface="DejaVu Sans"/>
              </a:defRPr>
            </a:pPr>
            <a:r>
              <a:t>My earlier work in legal question answering</a:t>
            </a:r>
          </a:p>
        </p:txBody>
      </p:sp>
      <p:sp>
        <p:nvSpPr>
          <p:cNvPr id="4" name="TextBox 3"/>
          <p:cNvSpPr txBox="1"/>
          <p:nvPr/>
        </p:nvSpPr>
        <p:spPr>
          <a:xfrm>
            <a:off x="594360" y="1938528"/>
            <a:ext cx="10972800" cy="548640"/>
          </a:xfrm>
          <a:prstGeom prst="rect">
            <a:avLst/>
          </a:prstGeom>
          <a:noFill/>
        </p:spPr>
        <p:txBody>
          <a:bodyPr wrap="square" lIns="0" rIns="0" tIns="0" bIns="0">
            <a:spAutoFit/>
          </a:bodyPr>
          <a:lstStyle/>
          <a:p>
            <a:pPr>
              <a:spcAft>
                <a:spcPts val="500"/>
              </a:spcAft>
              <a:defRPr sz="1500" b="0">
                <a:solidFill>
                  <a:srgbClr val="62798A"/>
                </a:solidFill>
                <a:latin typeface="DejaVu Sans"/>
              </a:defRPr>
            </a:pPr>
            <a:r>
              <a:t>North South University · Bangladeshi statutes · early research contribution</a:t>
            </a:r>
          </a:p>
        </p:txBody>
      </p:sp>
      <p:sp>
        <p:nvSpPr>
          <p:cNvPr id="5" name="TextBox 4"/>
          <p:cNvSpPr txBox="1"/>
          <p:nvPr/>
        </p:nvSpPr>
        <p:spPr>
          <a:xfrm>
            <a:off x="594360" y="6519672"/>
            <a:ext cx="9966960" cy="182880"/>
          </a:xfrm>
          <a:prstGeom prst="rect">
            <a:avLst/>
          </a:prstGeom>
          <a:noFill/>
        </p:spPr>
        <p:txBody>
          <a:bodyPr wrap="square" lIns="0" rIns="0" tIns="0" bIns="0">
            <a:spAutoFit/>
          </a:bodyPr>
          <a:lstStyle/>
          <a:p>
            <a:pPr>
              <a:spcAft>
                <a:spcPts val="500"/>
              </a:spcAft>
              <a:defRPr sz="800" b="0">
                <a:solidFill>
                  <a:srgbClr val="62798A"/>
                </a:solidFill>
                <a:latin typeface="DejaVu Sans"/>
              </a:defRPr>
            </a:pPr>
            <a:r>
              <a:t>Earlier responsibilities based on candidate account. The recent prototype is separate from the published implementation.</a:t>
            </a:r>
          </a:p>
        </p:txBody>
      </p:sp>
      <p:sp>
        <p:nvSpPr>
          <p:cNvPr id="6" name="TextBox 5"/>
          <p:cNvSpPr txBox="1"/>
          <p:nvPr/>
        </p:nvSpPr>
        <p:spPr>
          <a:xfrm>
            <a:off x="10835640" y="6446520"/>
            <a:ext cx="731520" cy="274320"/>
          </a:xfrm>
          <a:prstGeom prst="rect">
            <a:avLst/>
          </a:prstGeom>
          <a:noFill/>
        </p:spPr>
        <p:txBody>
          <a:bodyPr wrap="square" lIns="0" rIns="0" tIns="0" bIns="0">
            <a:spAutoFit/>
          </a:bodyPr>
          <a:lstStyle/>
          <a:p>
            <a:pPr>
              <a:spcAft>
                <a:spcPts val="500"/>
              </a:spcAft>
              <a:defRPr sz="1000" b="0">
                <a:solidFill>
                  <a:srgbClr val="62798A"/>
                </a:solidFill>
                <a:latin typeface="DejaVu Sans"/>
              </a:defRPr>
            </a:pPr>
            <a:r>
              <a:t>02 / 07</a:t>
            </a:r>
          </a:p>
        </p:txBody>
      </p:sp>
      <p:sp>
        <p:nvSpPr>
          <p:cNvPr id="7" name="Rectangle 6"/>
          <p:cNvSpPr/>
          <p:nvPr/>
        </p:nvSpPr>
        <p:spPr>
          <a:xfrm>
            <a:off x="978408" y="2779776"/>
            <a:ext cx="9921240" cy="32004"/>
          </a:xfrm>
          <a:prstGeom prst="rect">
            <a:avLst/>
          </a:prstGeom>
          <a:solidFill>
            <a:srgbClr val="D8E3E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p:cNvSpPr/>
          <p:nvPr/>
        </p:nvSpPr>
        <p:spPr>
          <a:xfrm>
            <a:off x="758952" y="2578608"/>
            <a:ext cx="420624" cy="420624"/>
          </a:xfrm>
          <a:prstGeom prst="ellipse">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2651760"/>
            <a:ext cx="283464" cy="329184"/>
          </a:xfrm>
          <a:prstGeom prst="rect">
            <a:avLst/>
          </a:prstGeom>
          <a:noFill/>
        </p:spPr>
        <p:txBody>
          <a:bodyPr wrap="square" lIns="0" rIns="0" tIns="0" bIns="0">
            <a:spAutoFit/>
          </a:bodyPr>
          <a:lstStyle/>
          <a:p>
            <a:pPr>
              <a:spcAft>
                <a:spcPts val="500"/>
              </a:spcAft>
              <a:defRPr sz="1200" b="1">
                <a:solidFill>
                  <a:srgbClr val="FFFFFF"/>
                </a:solidFill>
                <a:latin typeface="DejaVu Sans"/>
              </a:defRPr>
            </a:pPr>
            <a:r>
              <a:t>1</a:t>
            </a:r>
          </a:p>
        </p:txBody>
      </p:sp>
      <p:sp>
        <p:nvSpPr>
          <p:cNvPr id="10" name="TextBox 9"/>
          <p:cNvSpPr txBox="1"/>
          <p:nvPr/>
        </p:nvSpPr>
        <p:spPr>
          <a:xfrm>
            <a:off x="685800" y="3310128"/>
            <a:ext cx="3246120" cy="384048"/>
          </a:xfrm>
          <a:prstGeom prst="rect">
            <a:avLst/>
          </a:prstGeom>
          <a:noFill/>
        </p:spPr>
        <p:txBody>
          <a:bodyPr wrap="square" lIns="0" rIns="0" tIns="0" bIns="0">
            <a:spAutoFit/>
          </a:bodyPr>
          <a:lstStyle/>
          <a:p>
            <a:pPr>
              <a:spcAft>
                <a:spcPts val="500"/>
              </a:spcAft>
              <a:defRPr sz="2100" b="1">
                <a:solidFill>
                  <a:srgbClr val="142C43"/>
                </a:solidFill>
                <a:latin typeface="DejaVu Sans"/>
              </a:defRPr>
            </a:pPr>
            <a:r>
              <a:t>Review the problem</a:t>
            </a:r>
          </a:p>
        </p:txBody>
      </p:sp>
      <p:sp>
        <p:nvSpPr>
          <p:cNvPr id="11" name="TextBox 10"/>
          <p:cNvSpPr txBox="1"/>
          <p:nvPr/>
        </p:nvSpPr>
        <p:spPr>
          <a:xfrm>
            <a:off x="685800" y="3895344"/>
            <a:ext cx="3246120" cy="914400"/>
          </a:xfrm>
          <a:prstGeom prst="rect">
            <a:avLst/>
          </a:prstGeom>
          <a:noFill/>
        </p:spPr>
        <p:txBody>
          <a:bodyPr wrap="square" lIns="0" rIns="0" tIns="0" bIns="0">
            <a:spAutoFit/>
          </a:bodyPr>
          <a:lstStyle/>
          <a:p>
            <a:pPr>
              <a:spcAft>
                <a:spcPts val="500"/>
              </a:spcAft>
              <a:defRPr sz="1600" b="0">
                <a:solidFill>
                  <a:srgbClr val="21394D"/>
                </a:solidFill>
                <a:latin typeface="DejaVu Sans"/>
              </a:defRPr>
            </a:pPr>
            <a:r>
              <a:t>Literature review and</a:t>
            </a:r>
          </a:p>
          <a:p>
            <a:pPr>
              <a:spcAft>
                <a:spcPts val="500"/>
              </a:spcAft>
              <a:defRPr sz="1600" b="0">
                <a:solidFill>
                  <a:srgbClr val="21394D"/>
                </a:solidFill>
                <a:latin typeface="DejaVu Sans"/>
              </a:defRPr>
            </a:pPr>
            <a:r>
              <a:t>problem identification</a:t>
            </a:r>
          </a:p>
        </p:txBody>
      </p:sp>
      <p:sp>
        <p:nvSpPr>
          <p:cNvPr id="12" name="Oval 11"/>
          <p:cNvSpPr/>
          <p:nvPr/>
        </p:nvSpPr>
        <p:spPr>
          <a:xfrm>
            <a:off x="4572000" y="2578608"/>
            <a:ext cx="420624" cy="420624"/>
          </a:xfrm>
          <a:prstGeom prst="ellipse">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72584" y="2651760"/>
            <a:ext cx="283464" cy="329184"/>
          </a:xfrm>
          <a:prstGeom prst="rect">
            <a:avLst/>
          </a:prstGeom>
          <a:noFill/>
        </p:spPr>
        <p:txBody>
          <a:bodyPr wrap="square" lIns="0" rIns="0" tIns="0" bIns="0">
            <a:spAutoFit/>
          </a:bodyPr>
          <a:lstStyle/>
          <a:p>
            <a:pPr>
              <a:spcAft>
                <a:spcPts val="500"/>
              </a:spcAft>
              <a:defRPr sz="1200" b="1">
                <a:solidFill>
                  <a:srgbClr val="FFFFFF"/>
                </a:solidFill>
                <a:latin typeface="DejaVu Sans"/>
              </a:defRPr>
            </a:pPr>
            <a:r>
              <a:t>2</a:t>
            </a:r>
          </a:p>
        </p:txBody>
      </p:sp>
      <p:sp>
        <p:nvSpPr>
          <p:cNvPr id="14" name="TextBox 13"/>
          <p:cNvSpPr txBox="1"/>
          <p:nvPr/>
        </p:nvSpPr>
        <p:spPr>
          <a:xfrm>
            <a:off x="4498848" y="3310128"/>
            <a:ext cx="3246120" cy="384048"/>
          </a:xfrm>
          <a:prstGeom prst="rect">
            <a:avLst/>
          </a:prstGeom>
          <a:noFill/>
        </p:spPr>
        <p:txBody>
          <a:bodyPr wrap="square" lIns="0" rIns="0" tIns="0" bIns="0">
            <a:spAutoFit/>
          </a:bodyPr>
          <a:lstStyle/>
          <a:p>
            <a:pPr>
              <a:spcAft>
                <a:spcPts val="500"/>
              </a:spcAft>
              <a:defRPr sz="2100" b="1">
                <a:solidFill>
                  <a:srgbClr val="142C43"/>
                </a:solidFill>
                <a:latin typeface="DejaVu Sans"/>
              </a:defRPr>
            </a:pPr>
            <a:r>
              <a:t>Organise sources</a:t>
            </a:r>
          </a:p>
        </p:txBody>
      </p:sp>
      <p:sp>
        <p:nvSpPr>
          <p:cNvPr id="15" name="TextBox 14"/>
          <p:cNvSpPr txBox="1"/>
          <p:nvPr/>
        </p:nvSpPr>
        <p:spPr>
          <a:xfrm>
            <a:off x="4498848" y="3895344"/>
            <a:ext cx="3246120" cy="914400"/>
          </a:xfrm>
          <a:prstGeom prst="rect">
            <a:avLst/>
          </a:prstGeom>
          <a:noFill/>
        </p:spPr>
        <p:txBody>
          <a:bodyPr wrap="square" lIns="0" rIns="0" tIns="0" bIns="0">
            <a:spAutoFit/>
          </a:bodyPr>
          <a:lstStyle/>
          <a:p>
            <a:pPr>
              <a:spcAft>
                <a:spcPts val="500"/>
              </a:spcAft>
              <a:defRPr sz="1600" b="0">
                <a:solidFill>
                  <a:srgbClr val="21394D"/>
                </a:solidFill>
                <a:latin typeface="DejaVu Sans"/>
              </a:defRPr>
            </a:pPr>
            <a:r>
              <a:t>Initial design: keep sections</a:t>
            </a:r>
          </a:p>
          <a:p>
            <a:pPr>
              <a:spcAft>
                <a:spcPts val="500"/>
              </a:spcAft>
              <a:defRPr sz="1600" b="0">
                <a:solidFill>
                  <a:srgbClr val="21394D"/>
                </a:solidFill>
                <a:latin typeface="DejaVu Sans"/>
              </a:defRPr>
            </a:pPr>
            <a:r>
              <a:t>and their Act names together</a:t>
            </a:r>
          </a:p>
        </p:txBody>
      </p:sp>
      <p:sp>
        <p:nvSpPr>
          <p:cNvPr id="16" name="Oval 15"/>
          <p:cNvSpPr/>
          <p:nvPr/>
        </p:nvSpPr>
        <p:spPr>
          <a:xfrm>
            <a:off x="8375904" y="2578608"/>
            <a:ext cx="420624" cy="420624"/>
          </a:xfrm>
          <a:prstGeom prst="ellipse">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76488" y="2651760"/>
            <a:ext cx="283464" cy="329184"/>
          </a:xfrm>
          <a:prstGeom prst="rect">
            <a:avLst/>
          </a:prstGeom>
          <a:noFill/>
        </p:spPr>
        <p:txBody>
          <a:bodyPr wrap="square" lIns="0" rIns="0" tIns="0" bIns="0">
            <a:spAutoFit/>
          </a:bodyPr>
          <a:lstStyle/>
          <a:p>
            <a:pPr>
              <a:spcAft>
                <a:spcPts val="500"/>
              </a:spcAft>
              <a:defRPr sz="1200" b="1">
                <a:solidFill>
                  <a:srgbClr val="FFFFFF"/>
                </a:solidFill>
                <a:latin typeface="DejaVu Sans"/>
              </a:defRPr>
            </a:pPr>
            <a:r>
              <a:t>3</a:t>
            </a:r>
          </a:p>
        </p:txBody>
      </p:sp>
      <p:sp>
        <p:nvSpPr>
          <p:cNvPr id="18" name="TextBox 17"/>
          <p:cNvSpPr txBox="1"/>
          <p:nvPr/>
        </p:nvSpPr>
        <p:spPr>
          <a:xfrm>
            <a:off x="8302752" y="3310128"/>
            <a:ext cx="3246120" cy="384048"/>
          </a:xfrm>
          <a:prstGeom prst="rect">
            <a:avLst/>
          </a:prstGeom>
          <a:noFill/>
        </p:spPr>
        <p:txBody>
          <a:bodyPr wrap="square" lIns="0" rIns="0" tIns="0" bIns="0">
            <a:spAutoFit/>
          </a:bodyPr>
          <a:lstStyle/>
          <a:p>
            <a:pPr>
              <a:spcAft>
                <a:spcPts val="500"/>
              </a:spcAft>
              <a:defRPr sz="2100" b="1">
                <a:solidFill>
                  <a:srgbClr val="142C43"/>
                </a:solidFill>
                <a:latin typeface="DejaVu Sans"/>
              </a:defRPr>
            </a:pPr>
            <a:r>
              <a:t>Move to LLM work</a:t>
            </a:r>
          </a:p>
        </p:txBody>
      </p:sp>
      <p:sp>
        <p:nvSpPr>
          <p:cNvPr id="19" name="TextBox 18"/>
          <p:cNvSpPr txBox="1"/>
          <p:nvPr/>
        </p:nvSpPr>
        <p:spPr>
          <a:xfrm>
            <a:off x="8302752" y="3895344"/>
            <a:ext cx="3246120" cy="914400"/>
          </a:xfrm>
          <a:prstGeom prst="rect">
            <a:avLst/>
          </a:prstGeom>
          <a:noFill/>
        </p:spPr>
        <p:txBody>
          <a:bodyPr wrap="square" lIns="0" rIns="0" tIns="0" bIns="0">
            <a:spAutoFit/>
          </a:bodyPr>
          <a:lstStyle/>
          <a:p>
            <a:pPr>
              <a:spcAft>
                <a:spcPts val="500"/>
              </a:spcAft>
              <a:defRPr sz="1600" b="0">
                <a:solidFill>
                  <a:srgbClr val="21394D"/>
                </a:solidFill>
                <a:latin typeface="DejaVu Sans"/>
              </a:defRPr>
            </a:pPr>
            <a:r>
              <a:t>Another sub-team continued</a:t>
            </a:r>
          </a:p>
          <a:p>
            <a:pPr>
              <a:spcAft>
                <a:spcPts val="500"/>
              </a:spcAft>
              <a:defRPr sz="1600" b="0">
                <a:solidFill>
                  <a:srgbClr val="21394D"/>
                </a:solidFill>
                <a:latin typeface="DejaVu Sans"/>
              </a:defRPr>
            </a:pPr>
            <a:r>
              <a:t>the legal research</a:t>
            </a:r>
          </a:p>
        </p:txBody>
      </p:sp>
      <p:sp>
        <p:nvSpPr>
          <p:cNvPr id="20" name="Rounded Rectangle 19"/>
          <p:cNvSpPr/>
          <p:nvPr/>
        </p:nvSpPr>
        <p:spPr>
          <a:xfrm>
            <a:off x="594360" y="5166360"/>
            <a:ext cx="11000232" cy="841248"/>
          </a:xfrm>
          <a:prstGeom prst="roundRect">
            <a:avLst>
              <a:gd name="adj" fmla="val 6000"/>
            </a:avLst>
          </a:prstGeom>
          <a:solidFill>
            <a:srgbClr val="E9F4F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859536" y="5404104"/>
            <a:ext cx="10469880" cy="420624"/>
          </a:xfrm>
          <a:prstGeom prst="rect">
            <a:avLst/>
          </a:prstGeom>
          <a:noFill/>
        </p:spPr>
        <p:txBody>
          <a:bodyPr wrap="square" lIns="0" rIns="0" tIns="0" bIns="0">
            <a:spAutoFit/>
          </a:bodyPr>
          <a:lstStyle/>
          <a:p>
            <a:pPr>
              <a:spcAft>
                <a:spcPts val="300"/>
              </a:spcAft>
              <a:defRPr sz="1500" b="1">
                <a:solidFill>
                  <a:srgbClr val="21394D"/>
                </a:solidFill>
                <a:latin typeface="DejaVu Sans"/>
              </a:defRPr>
            </a:pPr>
            <a:r>
              <a:t>Earlier research asked: “Where is the evidence?”</a:t>
            </a:r>
          </a:p>
          <a:p>
            <a:pPr>
              <a:spcAft>
                <a:spcPts val="300"/>
              </a:spcAft>
              <a:defRPr sz="1500" b="1">
                <a:solidFill>
                  <a:srgbClr val="21394D"/>
                </a:solidFill>
                <a:latin typeface="DejaVu Sans"/>
              </a:defRPr>
            </a:pPr>
            <a:r>
              <a:t>This recent demo also asks: “When should the paragraph be used?”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365760"/>
            <a:ext cx="10058400" cy="274320"/>
          </a:xfrm>
          <a:prstGeom prst="rect">
            <a:avLst/>
          </a:prstGeom>
          <a:noFill/>
        </p:spPr>
        <p:txBody>
          <a:bodyPr wrap="square" lIns="0" rIns="0" tIns="0" bIns="0">
            <a:spAutoFit/>
          </a:bodyPr>
          <a:lstStyle/>
          <a:p>
            <a:pPr>
              <a:spcAft>
                <a:spcPts val="500"/>
              </a:spcAft>
              <a:defRPr sz="1100" b="1">
                <a:solidFill>
                  <a:srgbClr val="087F76"/>
                </a:solidFill>
                <a:latin typeface="DejaVu Sans"/>
              </a:defRPr>
            </a:pPr>
            <a:r>
              <a:t>IMPLEMENTATION · CELLS 1 + 2</a:t>
            </a:r>
          </a:p>
        </p:txBody>
      </p:sp>
      <p:sp>
        <p:nvSpPr>
          <p:cNvPr id="3" name="TextBox 2"/>
          <p:cNvSpPr txBox="1"/>
          <p:nvPr/>
        </p:nvSpPr>
        <p:spPr>
          <a:xfrm>
            <a:off x="594360" y="950976"/>
            <a:ext cx="10972800" cy="960120"/>
          </a:xfrm>
          <a:prstGeom prst="rect">
            <a:avLst/>
          </a:prstGeom>
          <a:noFill/>
        </p:spPr>
        <p:txBody>
          <a:bodyPr wrap="square" lIns="0" rIns="0" tIns="0" bIns="0">
            <a:spAutoFit/>
          </a:bodyPr>
          <a:lstStyle/>
          <a:p>
            <a:pPr>
              <a:spcAft>
                <a:spcPts val="500"/>
              </a:spcAft>
              <a:defRPr sz="3000" b="1">
                <a:solidFill>
                  <a:srgbClr val="142C43"/>
                </a:solidFill>
                <a:latin typeface="DejaVu Sans"/>
              </a:defRPr>
            </a:pPr>
            <a:r>
              <a:t>Prepare the sources and the paragraph rules</a:t>
            </a:r>
          </a:p>
        </p:txBody>
      </p:sp>
      <p:sp>
        <p:nvSpPr>
          <p:cNvPr id="4" name="TextBox 3"/>
          <p:cNvSpPr txBox="1"/>
          <p:nvPr/>
        </p:nvSpPr>
        <p:spPr>
          <a:xfrm>
            <a:off x="594360" y="1938528"/>
            <a:ext cx="10972800" cy="548640"/>
          </a:xfrm>
          <a:prstGeom prst="rect">
            <a:avLst/>
          </a:prstGeom>
          <a:noFill/>
        </p:spPr>
        <p:txBody>
          <a:bodyPr wrap="square" lIns="0" rIns="0" tIns="0" bIns="0">
            <a:spAutoFit/>
          </a:bodyPr>
          <a:lstStyle/>
          <a:p>
            <a:pPr>
              <a:spcAft>
                <a:spcPts val="500"/>
              </a:spcAft>
              <a:defRPr sz="1500" b="0">
                <a:solidFill>
                  <a:srgbClr val="62798A"/>
                </a:solidFill>
                <a:latin typeface="DejaVu Sans"/>
              </a:defRPr>
            </a:pPr>
            <a:r>
              <a:t>The ingredients: 10 sample legal summaries and 7 reusable document blocks.</a:t>
            </a:r>
          </a:p>
        </p:txBody>
      </p:sp>
      <p:sp>
        <p:nvSpPr>
          <p:cNvPr id="5" name="TextBox 4"/>
          <p:cNvSpPr txBox="1"/>
          <p:nvPr/>
        </p:nvSpPr>
        <p:spPr>
          <a:xfrm>
            <a:off x="594360" y="6519672"/>
            <a:ext cx="9966960" cy="182880"/>
          </a:xfrm>
          <a:prstGeom prst="rect">
            <a:avLst/>
          </a:prstGeom>
          <a:noFill/>
        </p:spPr>
        <p:txBody>
          <a:bodyPr wrap="square" lIns="0" rIns="0" tIns="0" bIns="0">
            <a:spAutoFit/>
          </a:bodyPr>
          <a:lstStyle/>
          <a:p>
            <a:pPr>
              <a:spcAft>
                <a:spcPts val="500"/>
              </a:spcAft>
              <a:defRPr sz="800" b="0">
                <a:solidFill>
                  <a:srgbClr val="62798A"/>
                </a:solidFill>
                <a:latin typeface="DejaVu Sans"/>
              </a:defRPr>
            </a:pPr>
            <a:r>
              <a:t>Notebook cells 1–2: 10 educational source summaries; 7 modules; fictional judgment updates and teaching rules.</a:t>
            </a:r>
          </a:p>
        </p:txBody>
      </p:sp>
      <p:sp>
        <p:nvSpPr>
          <p:cNvPr id="6" name="TextBox 5"/>
          <p:cNvSpPr txBox="1"/>
          <p:nvPr/>
        </p:nvSpPr>
        <p:spPr>
          <a:xfrm>
            <a:off x="10835640" y="6446520"/>
            <a:ext cx="731520" cy="274320"/>
          </a:xfrm>
          <a:prstGeom prst="rect">
            <a:avLst/>
          </a:prstGeom>
          <a:noFill/>
        </p:spPr>
        <p:txBody>
          <a:bodyPr wrap="square" lIns="0" rIns="0" tIns="0" bIns="0">
            <a:spAutoFit/>
          </a:bodyPr>
          <a:lstStyle/>
          <a:p>
            <a:pPr>
              <a:spcAft>
                <a:spcPts val="500"/>
              </a:spcAft>
              <a:defRPr sz="1000" b="0">
                <a:solidFill>
                  <a:srgbClr val="62798A"/>
                </a:solidFill>
                <a:latin typeface="DejaVu Sans"/>
              </a:defRPr>
            </a:pPr>
            <a:r>
              <a:t>03 / 07</a:t>
            </a:r>
          </a:p>
        </p:txBody>
      </p:sp>
      <p:sp>
        <p:nvSpPr>
          <p:cNvPr id="7" name="TextBox 6"/>
          <p:cNvSpPr txBox="1"/>
          <p:nvPr/>
        </p:nvSpPr>
        <p:spPr>
          <a:xfrm>
            <a:off x="749808" y="2679192"/>
            <a:ext cx="4681728" cy="274320"/>
          </a:xfrm>
          <a:prstGeom prst="rect">
            <a:avLst/>
          </a:prstGeom>
          <a:noFill/>
        </p:spPr>
        <p:txBody>
          <a:bodyPr wrap="square" lIns="0" rIns="0" tIns="0" bIns="0">
            <a:spAutoFit/>
          </a:bodyPr>
          <a:lstStyle/>
          <a:p>
            <a:pPr>
              <a:spcAft>
                <a:spcPts val="500"/>
              </a:spcAft>
              <a:defRPr sz="1200" b="1">
                <a:solidFill>
                  <a:srgbClr val="087F76"/>
                </a:solidFill>
                <a:latin typeface="DejaVu Sans"/>
              </a:defRPr>
            </a:pPr>
            <a:r>
              <a:t>CELL 1 · LEGAL SOURCE RECORD</a:t>
            </a:r>
          </a:p>
        </p:txBody>
      </p:sp>
      <p:sp>
        <p:nvSpPr>
          <p:cNvPr id="8" name="TextBox 7"/>
          <p:cNvSpPr txBox="1"/>
          <p:nvPr/>
        </p:nvSpPr>
        <p:spPr>
          <a:xfrm>
            <a:off x="6565392" y="2679192"/>
            <a:ext cx="4681728" cy="274320"/>
          </a:xfrm>
          <a:prstGeom prst="rect">
            <a:avLst/>
          </a:prstGeom>
          <a:noFill/>
        </p:spPr>
        <p:txBody>
          <a:bodyPr wrap="square" lIns="0" rIns="0" tIns="0" bIns="0">
            <a:spAutoFit/>
          </a:bodyPr>
          <a:lstStyle/>
          <a:p>
            <a:pPr>
              <a:spcAft>
                <a:spcPts val="500"/>
              </a:spcAft>
              <a:defRPr sz="1200" b="1">
                <a:solidFill>
                  <a:srgbClr val="087F76"/>
                </a:solidFill>
                <a:latin typeface="DejaVu Sans"/>
              </a:defRPr>
            </a:pPr>
            <a:r>
              <a:t>CELL 2 · PARAGRAPH INSTRUCTIONS</a:t>
            </a:r>
          </a:p>
        </p:txBody>
      </p:sp>
      <p:sp>
        <p:nvSpPr>
          <p:cNvPr id="9" name="Rounded Rectangle 8"/>
          <p:cNvSpPr/>
          <p:nvPr/>
        </p:nvSpPr>
        <p:spPr>
          <a:xfrm>
            <a:off x="594360" y="3136392"/>
            <a:ext cx="4681728" cy="2505456"/>
          </a:xfrm>
          <a:prstGeom prst="roundRect">
            <a:avLst>
              <a:gd name="adj" fmla="val 6000"/>
            </a:avLst>
          </a:prstGeom>
          <a:solidFill>
            <a:srgbClr val="F0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850392" y="3401568"/>
            <a:ext cx="1243584" cy="219456"/>
          </a:xfrm>
          <a:prstGeom prst="rect">
            <a:avLst/>
          </a:prstGeom>
          <a:noFill/>
        </p:spPr>
        <p:txBody>
          <a:bodyPr wrap="square" lIns="0" rIns="0" tIns="0" bIns="0">
            <a:spAutoFit/>
          </a:bodyPr>
          <a:lstStyle/>
          <a:p>
            <a:pPr>
              <a:spcAft>
                <a:spcPts val="500"/>
              </a:spcAft>
              <a:defRPr sz="1000" b="1">
                <a:solidFill>
                  <a:srgbClr val="62798A"/>
                </a:solidFill>
                <a:latin typeface="DejaVu Sans"/>
              </a:defRPr>
            </a:pPr>
            <a:r>
              <a:t>SOURCE ID</a:t>
            </a:r>
          </a:p>
        </p:txBody>
      </p:sp>
      <p:sp>
        <p:nvSpPr>
          <p:cNvPr id="11" name="TextBox 10"/>
          <p:cNvSpPr txBox="1"/>
          <p:nvPr/>
        </p:nvSpPr>
        <p:spPr>
          <a:xfrm>
            <a:off x="2240280" y="3378708"/>
            <a:ext cx="2743200" cy="429768"/>
          </a:xfrm>
          <a:prstGeom prst="rect">
            <a:avLst/>
          </a:prstGeom>
          <a:noFill/>
        </p:spPr>
        <p:txBody>
          <a:bodyPr wrap="square" lIns="0" rIns="0" tIns="0" bIns="0">
            <a:spAutoFit/>
          </a:bodyPr>
          <a:lstStyle/>
          <a:p>
            <a:pPr>
              <a:spcAft>
                <a:spcPts val="500"/>
              </a:spcAft>
              <a:defRPr sz="1600" b="1">
                <a:solidFill>
                  <a:srgbClr val="142C43"/>
                </a:solidFill>
                <a:latin typeface="DejaVu Sans"/>
              </a:defRPr>
            </a:pPr>
            <a:r>
              <a:t>C167</a:t>
            </a:r>
          </a:p>
        </p:txBody>
      </p:sp>
      <p:sp>
        <p:nvSpPr>
          <p:cNvPr id="12" name="TextBox 11"/>
          <p:cNvSpPr txBox="1"/>
          <p:nvPr/>
        </p:nvSpPr>
        <p:spPr>
          <a:xfrm>
            <a:off x="850392" y="4014215"/>
            <a:ext cx="1243584" cy="219456"/>
          </a:xfrm>
          <a:prstGeom prst="rect">
            <a:avLst/>
          </a:prstGeom>
          <a:noFill/>
        </p:spPr>
        <p:txBody>
          <a:bodyPr wrap="square" lIns="0" rIns="0" tIns="0" bIns="0">
            <a:spAutoFit/>
          </a:bodyPr>
          <a:lstStyle/>
          <a:p>
            <a:pPr>
              <a:spcAft>
                <a:spcPts val="500"/>
              </a:spcAft>
              <a:defRPr sz="1000" b="1">
                <a:solidFill>
                  <a:srgbClr val="62798A"/>
                </a:solidFill>
                <a:latin typeface="DejaVu Sans"/>
              </a:defRPr>
            </a:pPr>
            <a:r>
              <a:t>ACT</a:t>
            </a:r>
          </a:p>
        </p:txBody>
      </p:sp>
      <p:sp>
        <p:nvSpPr>
          <p:cNvPr id="13" name="TextBox 12"/>
          <p:cNvSpPr txBox="1"/>
          <p:nvPr/>
        </p:nvSpPr>
        <p:spPr>
          <a:xfrm>
            <a:off x="2240280" y="3991355"/>
            <a:ext cx="2743200" cy="429768"/>
          </a:xfrm>
          <a:prstGeom prst="rect">
            <a:avLst/>
          </a:prstGeom>
          <a:noFill/>
        </p:spPr>
        <p:txBody>
          <a:bodyPr wrap="square" lIns="0" rIns="0" tIns="0" bIns="0">
            <a:spAutoFit/>
          </a:bodyPr>
          <a:lstStyle/>
          <a:p>
            <a:pPr>
              <a:spcAft>
                <a:spcPts val="500"/>
              </a:spcAft>
              <a:defRPr sz="1600" b="1">
                <a:solidFill>
                  <a:srgbClr val="142C43"/>
                </a:solidFill>
                <a:latin typeface="DejaVu Sans"/>
              </a:defRPr>
            </a:pPr>
            <a:r>
              <a:t>Criminal Procedure, 1898</a:t>
            </a:r>
          </a:p>
        </p:txBody>
      </p:sp>
      <p:sp>
        <p:nvSpPr>
          <p:cNvPr id="14" name="TextBox 13"/>
          <p:cNvSpPr txBox="1"/>
          <p:nvPr/>
        </p:nvSpPr>
        <p:spPr>
          <a:xfrm>
            <a:off x="850392" y="4626864"/>
            <a:ext cx="1243584" cy="219456"/>
          </a:xfrm>
          <a:prstGeom prst="rect">
            <a:avLst/>
          </a:prstGeom>
          <a:noFill/>
        </p:spPr>
        <p:txBody>
          <a:bodyPr wrap="square" lIns="0" rIns="0" tIns="0" bIns="0">
            <a:spAutoFit/>
          </a:bodyPr>
          <a:lstStyle/>
          <a:p>
            <a:pPr>
              <a:spcAft>
                <a:spcPts val="500"/>
              </a:spcAft>
              <a:defRPr sz="1000" b="1">
                <a:solidFill>
                  <a:srgbClr val="62798A"/>
                </a:solidFill>
                <a:latin typeface="DejaVu Sans"/>
              </a:defRPr>
            </a:pPr>
            <a:r>
              <a:t>SECTION</a:t>
            </a:r>
          </a:p>
        </p:txBody>
      </p:sp>
      <p:sp>
        <p:nvSpPr>
          <p:cNvPr id="15" name="TextBox 14"/>
          <p:cNvSpPr txBox="1"/>
          <p:nvPr/>
        </p:nvSpPr>
        <p:spPr>
          <a:xfrm>
            <a:off x="2240280" y="4604003"/>
            <a:ext cx="2743200" cy="429768"/>
          </a:xfrm>
          <a:prstGeom prst="rect">
            <a:avLst/>
          </a:prstGeom>
          <a:noFill/>
        </p:spPr>
        <p:txBody>
          <a:bodyPr wrap="square" lIns="0" rIns="0" tIns="0" bIns="0">
            <a:spAutoFit/>
          </a:bodyPr>
          <a:lstStyle/>
          <a:p>
            <a:pPr>
              <a:spcAft>
                <a:spcPts val="500"/>
              </a:spcAft>
              <a:defRPr sz="1600" b="1">
                <a:solidFill>
                  <a:srgbClr val="142C43"/>
                </a:solidFill>
                <a:latin typeface="DejaVu Sans"/>
              </a:defRPr>
            </a:pPr>
            <a:r>
              <a:t>167</a:t>
            </a:r>
          </a:p>
        </p:txBody>
      </p:sp>
      <p:sp>
        <p:nvSpPr>
          <p:cNvPr id="16" name="TextBox 15"/>
          <p:cNvSpPr txBox="1"/>
          <p:nvPr/>
        </p:nvSpPr>
        <p:spPr>
          <a:xfrm>
            <a:off x="850392" y="5221224"/>
            <a:ext cx="4206240" cy="228600"/>
          </a:xfrm>
          <a:prstGeom prst="rect">
            <a:avLst/>
          </a:prstGeom>
          <a:noFill/>
        </p:spPr>
        <p:txBody>
          <a:bodyPr wrap="square" lIns="0" rIns="0" tIns="0" bIns="0">
            <a:spAutoFit/>
          </a:bodyPr>
          <a:lstStyle/>
          <a:p>
            <a:pPr>
              <a:spcAft>
                <a:spcPts val="500"/>
              </a:spcAft>
              <a:defRPr sz="1100" b="0">
                <a:solidFill>
                  <a:srgbClr val="62798A"/>
                </a:solidFill>
                <a:latin typeface="DejaVu Sans"/>
              </a:defRPr>
            </a:pPr>
            <a:r>
              <a:t>Also stores summary text and update notes.</a:t>
            </a:r>
          </a:p>
        </p:txBody>
      </p:sp>
      <p:sp>
        <p:nvSpPr>
          <p:cNvPr id="17" name="TextBox 16"/>
          <p:cNvSpPr txBox="1"/>
          <p:nvPr/>
        </p:nvSpPr>
        <p:spPr>
          <a:xfrm>
            <a:off x="5468112" y="4096512"/>
            <a:ext cx="749808" cy="384048"/>
          </a:xfrm>
          <a:prstGeom prst="rect">
            <a:avLst/>
          </a:prstGeom>
          <a:noFill/>
        </p:spPr>
        <p:txBody>
          <a:bodyPr wrap="square" lIns="0" rIns="0" tIns="0" bIns="0">
            <a:spAutoFit/>
          </a:bodyPr>
          <a:lstStyle/>
          <a:p>
            <a:pPr>
              <a:spcAft>
                <a:spcPts val="500"/>
              </a:spcAft>
              <a:defRPr sz="1500" b="1">
                <a:solidFill>
                  <a:srgbClr val="087F76"/>
                </a:solidFill>
                <a:latin typeface="DejaVu Sans"/>
              </a:defRPr>
            </a:pPr>
            <a:r>
              <a:t>C167 →</a:t>
            </a:r>
          </a:p>
        </p:txBody>
      </p:sp>
      <p:sp>
        <p:nvSpPr>
          <p:cNvPr id="18" name="Rounded Rectangle 17"/>
          <p:cNvSpPr/>
          <p:nvPr/>
        </p:nvSpPr>
        <p:spPr>
          <a:xfrm>
            <a:off x="6428232" y="3136392"/>
            <a:ext cx="5166360" cy="2505456"/>
          </a:xfrm>
          <a:prstGeom prst="roundRect">
            <a:avLst>
              <a:gd name="adj" fmla="val 6000"/>
            </a:avLst>
          </a:prstGeom>
          <a:solidFill>
            <a:srgbClr val="E9F4F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6693408" y="3410712"/>
            <a:ext cx="4608576" cy="374904"/>
          </a:xfrm>
          <a:prstGeom prst="rect">
            <a:avLst/>
          </a:prstGeom>
          <a:noFill/>
        </p:spPr>
        <p:txBody>
          <a:bodyPr wrap="square" lIns="0" rIns="0" tIns="0" bIns="0">
            <a:spAutoFit/>
          </a:bodyPr>
          <a:lstStyle/>
          <a:p>
            <a:pPr>
              <a:spcAft>
                <a:spcPts val="500"/>
              </a:spcAft>
              <a:defRPr sz="2100" b="1">
                <a:solidFill>
                  <a:srgbClr val="142C43"/>
                </a:solidFill>
                <a:latin typeface="DejaVu Sans"/>
              </a:defRPr>
            </a:pPr>
            <a:r>
              <a:t>M5 · Records paragraph</a:t>
            </a:r>
          </a:p>
        </p:txBody>
      </p:sp>
      <p:sp>
        <p:nvSpPr>
          <p:cNvPr id="20" name="TextBox 19"/>
          <p:cNvSpPr txBox="1"/>
          <p:nvPr/>
        </p:nvSpPr>
        <p:spPr>
          <a:xfrm>
            <a:off x="6693408" y="4059936"/>
            <a:ext cx="4608576" cy="1078992"/>
          </a:xfrm>
          <a:prstGeom prst="rect">
            <a:avLst/>
          </a:prstGeom>
          <a:noFill/>
        </p:spPr>
        <p:txBody>
          <a:bodyPr wrap="square" lIns="0" rIns="0" tIns="0" bIns="0">
            <a:spAutoFit/>
          </a:bodyPr>
          <a:lstStyle/>
          <a:p>
            <a:pPr>
              <a:spcAft>
                <a:spcPts val="500"/>
              </a:spcAft>
              <a:defRPr sz="1700" b="0">
                <a:solidFill>
                  <a:srgbClr val="21394D"/>
                </a:solidFill>
                <a:latin typeface="DejaVu Sans"/>
              </a:defRPr>
            </a:pPr>
            <a:r>
              <a:t>Use if records are available</a:t>
            </a:r>
          </a:p>
          <a:p>
            <a:pPr>
              <a:spcAft>
                <a:spcPts val="500"/>
              </a:spcAft>
              <a:defRPr sz="1700" b="0">
                <a:solidFill>
                  <a:srgbClr val="21394D"/>
                </a:solidFill>
                <a:latin typeface="DejaVu Sans"/>
              </a:defRPr>
            </a:pPr>
            <a:r>
              <a:t>AND procedural block M3 is selected.</a:t>
            </a:r>
          </a:p>
          <a:p>
            <a:pPr>
              <a:spcAft>
                <a:spcPts val="500"/>
              </a:spcAft>
              <a:defRPr sz="1700" b="0">
                <a:solidFill>
                  <a:srgbClr val="21394D"/>
                </a:solidFill>
                <a:latin typeface="DejaVu Sans"/>
              </a:defRPr>
            </a:pPr>
            <a:r>
              <a:t>Required reference: C167</a:t>
            </a:r>
          </a:p>
        </p:txBody>
      </p:sp>
      <p:sp>
        <p:nvSpPr>
          <p:cNvPr id="21" name="TextBox 20"/>
          <p:cNvSpPr txBox="1"/>
          <p:nvPr/>
        </p:nvSpPr>
        <p:spPr>
          <a:xfrm>
            <a:off x="594360" y="5980176"/>
            <a:ext cx="10972800" cy="274320"/>
          </a:xfrm>
          <a:prstGeom prst="rect">
            <a:avLst/>
          </a:prstGeom>
          <a:noFill/>
        </p:spPr>
        <p:txBody>
          <a:bodyPr wrap="square" lIns="0" rIns="0" tIns="0" bIns="0">
            <a:spAutoFit/>
          </a:bodyPr>
          <a:lstStyle/>
          <a:p>
            <a:pPr>
              <a:spcAft>
                <a:spcPts val="500"/>
              </a:spcAft>
              <a:defRPr sz="1300" b="0">
                <a:solidFill>
                  <a:srgbClr val="62798A"/>
                </a:solidFill>
                <a:latin typeface="DejaVu Sans"/>
              </a:defRPr>
            </a:pPr>
            <a:r>
              <a:t>These cells define records and rules. They do not assemble the document yet.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365760"/>
            <a:ext cx="10058400" cy="274320"/>
          </a:xfrm>
          <a:prstGeom prst="rect">
            <a:avLst/>
          </a:prstGeom>
          <a:noFill/>
        </p:spPr>
        <p:txBody>
          <a:bodyPr wrap="square" lIns="0" rIns="0" tIns="0" bIns="0">
            <a:spAutoFit/>
          </a:bodyPr>
          <a:lstStyle/>
          <a:p>
            <a:pPr>
              <a:spcAft>
                <a:spcPts val="500"/>
              </a:spcAft>
              <a:defRPr sz="1100" b="1">
                <a:solidFill>
                  <a:srgbClr val="087F76"/>
                </a:solidFill>
                <a:latin typeface="DejaVu Sans"/>
              </a:defRPr>
            </a:pPr>
            <a:r>
              <a:t>IMPLEMENTATION · CELL 3</a:t>
            </a:r>
          </a:p>
        </p:txBody>
      </p:sp>
      <p:sp>
        <p:nvSpPr>
          <p:cNvPr id="3" name="TextBox 2"/>
          <p:cNvSpPr txBox="1"/>
          <p:nvPr/>
        </p:nvSpPr>
        <p:spPr>
          <a:xfrm>
            <a:off x="594360" y="950976"/>
            <a:ext cx="10972800" cy="960120"/>
          </a:xfrm>
          <a:prstGeom prst="rect">
            <a:avLst/>
          </a:prstGeom>
          <a:noFill/>
        </p:spPr>
        <p:txBody>
          <a:bodyPr wrap="square" lIns="0" rIns="0" tIns="0" bIns="0">
            <a:spAutoFit/>
          </a:bodyPr>
          <a:lstStyle/>
          <a:p>
            <a:pPr>
              <a:spcAft>
                <a:spcPts val="500"/>
              </a:spcAft>
              <a:defRPr sz="3000" b="1">
                <a:solidFill>
                  <a:srgbClr val="142C43"/>
                </a:solidFill>
                <a:latin typeface="DejaVu Sans"/>
              </a:defRPr>
            </a:pPr>
            <a:r>
              <a:t>Use the facts to build and explain the draft</a:t>
            </a:r>
          </a:p>
        </p:txBody>
      </p:sp>
      <p:sp>
        <p:nvSpPr>
          <p:cNvPr id="4" name="TextBox 3"/>
          <p:cNvSpPr txBox="1"/>
          <p:nvPr/>
        </p:nvSpPr>
        <p:spPr>
          <a:xfrm>
            <a:off x="594360" y="1938528"/>
            <a:ext cx="10972800" cy="548640"/>
          </a:xfrm>
          <a:prstGeom prst="rect">
            <a:avLst/>
          </a:prstGeom>
          <a:noFill/>
        </p:spPr>
        <p:txBody>
          <a:bodyPr wrap="square" lIns="0" rIns="0" tIns="0" bIns="0">
            <a:spAutoFit/>
          </a:bodyPr>
          <a:lstStyle/>
          <a:p>
            <a:pPr>
              <a:spcAft>
                <a:spcPts val="500"/>
              </a:spcAft>
              <a:defRPr sz="1500" b="0">
                <a:solidFill>
                  <a:srgbClr val="62798A"/>
                </a:solidFill>
                <a:latin typeface="DejaVu Sans"/>
              </a:defRPr>
            </a:pPr>
            <a:r>
              <a:t>Same facts and rule version → the same prepared output.</a:t>
            </a:r>
          </a:p>
        </p:txBody>
      </p:sp>
      <p:sp>
        <p:nvSpPr>
          <p:cNvPr id="5" name="TextBox 4"/>
          <p:cNvSpPr txBox="1"/>
          <p:nvPr/>
        </p:nvSpPr>
        <p:spPr>
          <a:xfrm>
            <a:off x="594360" y="6519672"/>
            <a:ext cx="9966960" cy="182880"/>
          </a:xfrm>
          <a:prstGeom prst="rect">
            <a:avLst/>
          </a:prstGeom>
          <a:noFill/>
        </p:spPr>
        <p:txBody>
          <a:bodyPr wrap="square" lIns="0" rIns="0" tIns="0" bIns="0">
            <a:spAutoFit/>
          </a:bodyPr>
          <a:lstStyle/>
          <a:p>
            <a:pPr>
              <a:spcAft>
                <a:spcPts val="500"/>
              </a:spcAft>
              <a:defRPr sz="800" b="0">
                <a:solidFill>
                  <a:srgbClr val="62798A"/>
                </a:solidFill>
                <a:latin typeface="DejaVu Sans"/>
              </a:defRPr>
            </a:pPr>
            <a:r>
              <a:t>Notebook cell 3: actual selected sequence for fictional SAMPLE_CASE; no generative model assembles this draft.</a:t>
            </a:r>
          </a:p>
        </p:txBody>
      </p:sp>
      <p:sp>
        <p:nvSpPr>
          <p:cNvPr id="6" name="TextBox 5"/>
          <p:cNvSpPr txBox="1"/>
          <p:nvPr/>
        </p:nvSpPr>
        <p:spPr>
          <a:xfrm>
            <a:off x="10835640" y="6446520"/>
            <a:ext cx="731520" cy="274320"/>
          </a:xfrm>
          <a:prstGeom prst="rect">
            <a:avLst/>
          </a:prstGeom>
          <a:noFill/>
        </p:spPr>
        <p:txBody>
          <a:bodyPr wrap="square" lIns="0" rIns="0" tIns="0" bIns="0">
            <a:spAutoFit/>
          </a:bodyPr>
          <a:lstStyle/>
          <a:p>
            <a:pPr>
              <a:spcAft>
                <a:spcPts val="500"/>
              </a:spcAft>
              <a:defRPr sz="1000" b="0">
                <a:solidFill>
                  <a:srgbClr val="62798A"/>
                </a:solidFill>
                <a:latin typeface="DejaVu Sans"/>
              </a:defRPr>
            </a:pPr>
            <a:r>
              <a:t>04 / 07</a:t>
            </a:r>
          </a:p>
        </p:txBody>
      </p:sp>
      <p:sp>
        <p:nvSpPr>
          <p:cNvPr id="7" name="Rounded Rectangle 6"/>
          <p:cNvSpPr/>
          <p:nvPr/>
        </p:nvSpPr>
        <p:spPr>
          <a:xfrm>
            <a:off x="594360" y="2788920"/>
            <a:ext cx="2788920" cy="2450592"/>
          </a:xfrm>
          <a:prstGeom prst="roundRect">
            <a:avLst>
              <a:gd name="adj" fmla="val 6000"/>
            </a:avLst>
          </a:prstGeom>
          <a:solidFill>
            <a:srgbClr val="F0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804672" y="3017520"/>
            <a:ext cx="2368296" cy="274320"/>
          </a:xfrm>
          <a:prstGeom prst="rect">
            <a:avLst/>
          </a:prstGeom>
          <a:noFill/>
        </p:spPr>
        <p:txBody>
          <a:bodyPr wrap="square" lIns="0" rIns="0" tIns="0" bIns="0">
            <a:spAutoFit/>
          </a:bodyPr>
          <a:lstStyle/>
          <a:p>
            <a:pPr>
              <a:spcAft>
                <a:spcPts val="500"/>
              </a:spcAft>
              <a:defRPr sz="1100" b="1">
                <a:solidFill>
                  <a:srgbClr val="087F76"/>
                </a:solidFill>
                <a:latin typeface="DejaVu Sans"/>
              </a:defRPr>
            </a:pPr>
            <a:r>
              <a:t>CASE FACTS</a:t>
            </a:r>
          </a:p>
        </p:txBody>
      </p:sp>
      <p:sp>
        <p:nvSpPr>
          <p:cNvPr id="9" name="Rounded Rectangle 8"/>
          <p:cNvSpPr/>
          <p:nvPr/>
        </p:nvSpPr>
        <p:spPr>
          <a:xfrm>
            <a:off x="3858768" y="2788920"/>
            <a:ext cx="3209544" cy="2450592"/>
          </a:xfrm>
          <a:prstGeom prst="roundRect">
            <a:avLst>
              <a:gd name="adj" fmla="val 6000"/>
            </a:avLst>
          </a:prstGeom>
          <a:solidFill>
            <a:srgbClr val="F0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4069080" y="3017520"/>
            <a:ext cx="2788920" cy="274320"/>
          </a:xfrm>
          <a:prstGeom prst="rect">
            <a:avLst/>
          </a:prstGeom>
          <a:noFill/>
        </p:spPr>
        <p:txBody>
          <a:bodyPr wrap="square" lIns="0" rIns="0" tIns="0" bIns="0">
            <a:spAutoFit/>
          </a:bodyPr>
          <a:lstStyle/>
          <a:p>
            <a:pPr>
              <a:spcAft>
                <a:spcPts val="500"/>
              </a:spcAft>
              <a:defRPr sz="1100" b="1">
                <a:solidFill>
                  <a:srgbClr val="087F76"/>
                </a:solidFill>
                <a:latin typeface="DejaVu Sans"/>
              </a:defRPr>
            </a:pPr>
            <a:r>
              <a:t>ENGINE CHECKS</a:t>
            </a:r>
          </a:p>
        </p:txBody>
      </p:sp>
      <p:sp>
        <p:nvSpPr>
          <p:cNvPr id="11" name="Rounded Rectangle 10"/>
          <p:cNvSpPr/>
          <p:nvPr/>
        </p:nvSpPr>
        <p:spPr>
          <a:xfrm>
            <a:off x="7552944" y="2788920"/>
            <a:ext cx="4041648" cy="2450592"/>
          </a:xfrm>
          <a:prstGeom prst="roundRect">
            <a:avLst>
              <a:gd name="adj" fmla="val 6000"/>
            </a:avLst>
          </a:prstGeom>
          <a:solidFill>
            <a:srgbClr val="E9F4F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763256" y="3017520"/>
            <a:ext cx="3621024" cy="274320"/>
          </a:xfrm>
          <a:prstGeom prst="rect">
            <a:avLst/>
          </a:prstGeom>
          <a:noFill/>
        </p:spPr>
        <p:txBody>
          <a:bodyPr wrap="square" lIns="0" rIns="0" tIns="0" bIns="0">
            <a:spAutoFit/>
          </a:bodyPr>
          <a:lstStyle/>
          <a:p>
            <a:pPr>
              <a:spcAft>
                <a:spcPts val="500"/>
              </a:spcAft>
              <a:defRPr sz="1100" b="1">
                <a:solidFill>
                  <a:srgbClr val="087F76"/>
                </a:solidFill>
                <a:latin typeface="DejaVu Sans"/>
              </a:defRPr>
            </a:pPr>
            <a:r>
              <a:t>PREPARED DRAFT</a:t>
            </a:r>
          </a:p>
        </p:txBody>
      </p:sp>
      <p:sp>
        <p:nvSpPr>
          <p:cNvPr id="13" name="TextBox 12"/>
          <p:cNvSpPr txBox="1"/>
          <p:nvPr/>
        </p:nvSpPr>
        <p:spPr>
          <a:xfrm>
            <a:off x="804672" y="3621024"/>
            <a:ext cx="2359152" cy="1207008"/>
          </a:xfrm>
          <a:prstGeom prst="rect">
            <a:avLst/>
          </a:prstGeom>
          <a:noFill/>
        </p:spPr>
        <p:txBody>
          <a:bodyPr wrap="square" lIns="0" rIns="0" tIns="0" bIns="0">
            <a:spAutoFit/>
          </a:bodyPr>
          <a:lstStyle/>
          <a:p>
            <a:pPr>
              <a:spcAft>
                <a:spcPts val="500"/>
              </a:spcAft>
              <a:defRPr sz="1700" b="0">
                <a:solidFill>
                  <a:srgbClr val="21394D"/>
                </a:solidFill>
                <a:latin typeface="DejaVu Sans"/>
              </a:defRPr>
            </a:pPr>
            <a:r>
              <a:t>Procedure: yes</a:t>
            </a:r>
          </a:p>
          <a:p>
            <a:pPr>
              <a:spcAft>
                <a:spcPts val="500"/>
              </a:spcAft>
              <a:defRPr sz="1700" b="0">
                <a:solidFill>
                  <a:srgbClr val="21394D"/>
                </a:solidFill>
                <a:latin typeface="DejaVu Sans"/>
              </a:defRPr>
            </a:pPr>
            <a:r>
              <a:t>Records: yes</a:t>
            </a:r>
          </a:p>
          <a:p>
            <a:pPr>
              <a:spcAft>
                <a:spcPts val="500"/>
              </a:spcAft>
              <a:defRPr sz="1700" b="0">
                <a:solidFill>
                  <a:srgbClr val="21394D"/>
                </a:solidFill>
                <a:latin typeface="DejaVu Sans"/>
              </a:defRPr>
            </a:pPr>
            <a:r>
              <a:t>Relief: yes</a:t>
            </a:r>
          </a:p>
        </p:txBody>
      </p:sp>
      <p:sp>
        <p:nvSpPr>
          <p:cNvPr id="14" name="TextBox 13"/>
          <p:cNvSpPr txBox="1"/>
          <p:nvPr/>
        </p:nvSpPr>
        <p:spPr>
          <a:xfrm>
            <a:off x="4069080" y="3621024"/>
            <a:ext cx="2779776" cy="1207008"/>
          </a:xfrm>
          <a:prstGeom prst="rect">
            <a:avLst/>
          </a:prstGeom>
          <a:noFill/>
        </p:spPr>
        <p:txBody>
          <a:bodyPr wrap="square" lIns="0" rIns="0" tIns="0" bIns="0">
            <a:spAutoFit/>
          </a:bodyPr>
          <a:lstStyle/>
          <a:p>
            <a:pPr>
              <a:spcAft>
                <a:spcPts val="500"/>
              </a:spcAft>
              <a:defRPr sz="1600" b="0">
                <a:solidFill>
                  <a:srgbClr val="21394D"/>
                </a:solidFill>
                <a:latin typeface="DejaVu Sans"/>
              </a:defRPr>
            </a:pPr>
            <a:r>
              <a:t>Valid inputs?</a:t>
            </a:r>
          </a:p>
          <a:p>
            <a:pPr>
              <a:spcAft>
                <a:spcPts val="500"/>
              </a:spcAft>
              <a:defRPr sz="1600" b="0">
                <a:solidFill>
                  <a:srgbClr val="21394D"/>
                </a:solidFill>
                <a:latin typeface="DejaVu Sans"/>
              </a:defRPr>
            </a:pPr>
            <a:r>
              <a:t>Conditions + prerequisites?</a:t>
            </a:r>
          </a:p>
          <a:p>
            <a:pPr>
              <a:spcAft>
                <a:spcPts val="500"/>
              </a:spcAft>
              <a:defRPr sz="1600" b="0">
                <a:solidFill>
                  <a:srgbClr val="21394D"/>
                </a:solidFill>
                <a:latin typeface="DejaVu Sans"/>
              </a:defRPr>
            </a:pPr>
            <a:r>
              <a:t>Conflicting choices?</a:t>
            </a:r>
          </a:p>
        </p:txBody>
      </p:sp>
      <p:sp>
        <p:nvSpPr>
          <p:cNvPr id="15" name="TextBox 14"/>
          <p:cNvSpPr txBox="1"/>
          <p:nvPr/>
        </p:nvSpPr>
        <p:spPr>
          <a:xfrm>
            <a:off x="7763256" y="3621024"/>
            <a:ext cx="3611880" cy="1280160"/>
          </a:xfrm>
          <a:prstGeom prst="rect">
            <a:avLst/>
          </a:prstGeom>
          <a:noFill/>
        </p:spPr>
        <p:txBody>
          <a:bodyPr wrap="square" lIns="0" rIns="0" tIns="0" bIns="0">
            <a:spAutoFit/>
          </a:bodyPr>
          <a:lstStyle/>
          <a:p>
            <a:pPr>
              <a:spcAft>
                <a:spcPts val="500"/>
              </a:spcAft>
              <a:defRPr sz="1700" b="1">
                <a:solidFill>
                  <a:srgbClr val="142C43"/>
                </a:solidFill>
                <a:latin typeface="DejaVu Sans"/>
              </a:defRPr>
            </a:pPr>
            <a:r>
              <a:t>Jurisdiction → Facts</a:t>
            </a:r>
          </a:p>
          <a:p>
            <a:pPr>
              <a:spcAft>
                <a:spcPts val="500"/>
              </a:spcAft>
              <a:defRPr sz="1700" b="1">
                <a:solidFill>
                  <a:srgbClr val="142C43"/>
                </a:solidFill>
                <a:latin typeface="DejaVu Sans"/>
              </a:defRPr>
            </a:pPr>
            <a:r>
              <a:t>→ Procedure → Records</a:t>
            </a:r>
          </a:p>
          <a:p>
            <a:pPr>
              <a:spcAft>
                <a:spcPts val="500"/>
              </a:spcAft>
              <a:defRPr sz="1700" b="1">
                <a:solidFill>
                  <a:srgbClr val="142C43"/>
                </a:solidFill>
                <a:latin typeface="DejaVu Sans"/>
              </a:defRPr>
            </a:pPr>
            <a:r>
              <a:t>→ Relief</a:t>
            </a:r>
          </a:p>
        </p:txBody>
      </p:sp>
      <p:sp>
        <p:nvSpPr>
          <p:cNvPr id="16" name="TextBox 15"/>
          <p:cNvSpPr txBox="1"/>
          <p:nvPr/>
        </p:nvSpPr>
        <p:spPr>
          <a:xfrm>
            <a:off x="3474720" y="3785615"/>
            <a:ext cx="274320" cy="365760"/>
          </a:xfrm>
          <a:prstGeom prst="rect">
            <a:avLst/>
          </a:prstGeom>
          <a:noFill/>
        </p:spPr>
        <p:txBody>
          <a:bodyPr wrap="square" lIns="0" rIns="0" tIns="0" bIns="0">
            <a:spAutoFit/>
          </a:bodyPr>
          <a:lstStyle/>
          <a:p>
            <a:pPr>
              <a:spcAft>
                <a:spcPts val="500"/>
              </a:spcAft>
              <a:defRPr sz="2200" b="1">
                <a:solidFill>
                  <a:srgbClr val="087F76"/>
                </a:solidFill>
                <a:latin typeface="DejaVu Sans"/>
              </a:defRPr>
            </a:pPr>
            <a:r>
              <a:t>→</a:t>
            </a:r>
          </a:p>
        </p:txBody>
      </p:sp>
      <p:sp>
        <p:nvSpPr>
          <p:cNvPr id="17" name="TextBox 16"/>
          <p:cNvSpPr txBox="1"/>
          <p:nvPr/>
        </p:nvSpPr>
        <p:spPr>
          <a:xfrm>
            <a:off x="7168896" y="3785615"/>
            <a:ext cx="274320" cy="365760"/>
          </a:xfrm>
          <a:prstGeom prst="rect">
            <a:avLst/>
          </a:prstGeom>
          <a:noFill/>
        </p:spPr>
        <p:txBody>
          <a:bodyPr wrap="square" lIns="0" rIns="0" tIns="0" bIns="0">
            <a:spAutoFit/>
          </a:bodyPr>
          <a:lstStyle/>
          <a:p>
            <a:pPr>
              <a:spcAft>
                <a:spcPts val="500"/>
              </a:spcAft>
              <a:defRPr sz="2200" b="1">
                <a:solidFill>
                  <a:srgbClr val="087F76"/>
                </a:solidFill>
                <a:latin typeface="DejaVu Sans"/>
              </a:defRPr>
            </a:pPr>
            <a:r>
              <a:t>→</a:t>
            </a:r>
          </a:p>
        </p:txBody>
      </p:sp>
      <p:sp>
        <p:nvSpPr>
          <p:cNvPr id="18" name="Rounded Rectangle 17"/>
          <p:cNvSpPr/>
          <p:nvPr/>
        </p:nvSpPr>
        <p:spPr>
          <a:xfrm>
            <a:off x="594360" y="5513832"/>
            <a:ext cx="11000232" cy="594360"/>
          </a:xfrm>
          <a:prstGeom prst="roundRect">
            <a:avLst>
              <a:gd name="adj" fmla="val 6000"/>
            </a:avLst>
          </a:prstGeom>
          <a:solidFill>
            <a:srgbClr val="142C4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841248" y="5696712"/>
            <a:ext cx="10497312" cy="274320"/>
          </a:xfrm>
          <a:prstGeom prst="rect">
            <a:avLst/>
          </a:prstGeom>
          <a:noFill/>
        </p:spPr>
        <p:txBody>
          <a:bodyPr wrap="square" lIns="0" rIns="0" tIns="0" bIns="0">
            <a:spAutoFit/>
          </a:bodyPr>
          <a:lstStyle/>
          <a:p>
            <a:pPr>
              <a:spcAft>
                <a:spcPts val="500"/>
              </a:spcAft>
              <a:defRPr sz="1500" b="1">
                <a:solidFill>
                  <a:srgbClr val="FFFFFF"/>
                </a:solidFill>
                <a:latin typeface="DejaVu Sans"/>
              </a:defRPr>
            </a:pPr>
            <a:r>
              <a:t>TRACE: M5 INCLUDED — records are available and M3 was selected.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365760"/>
            <a:ext cx="10058400" cy="274320"/>
          </a:xfrm>
          <a:prstGeom prst="rect">
            <a:avLst/>
          </a:prstGeom>
          <a:noFill/>
        </p:spPr>
        <p:txBody>
          <a:bodyPr wrap="square" lIns="0" rIns="0" tIns="0" bIns="0">
            <a:spAutoFit/>
          </a:bodyPr>
          <a:lstStyle/>
          <a:p>
            <a:pPr>
              <a:spcAft>
                <a:spcPts val="500"/>
              </a:spcAft>
              <a:defRPr sz="1100" b="1">
                <a:solidFill>
                  <a:srgbClr val="087F76"/>
                </a:solidFill>
                <a:latin typeface="DejaVu Sans"/>
              </a:defRPr>
            </a:pPr>
            <a:r>
              <a:t>IMPLEMENTATION · CELL 4</a:t>
            </a:r>
          </a:p>
        </p:txBody>
      </p:sp>
      <p:sp>
        <p:nvSpPr>
          <p:cNvPr id="3" name="TextBox 2"/>
          <p:cNvSpPr txBox="1"/>
          <p:nvPr/>
        </p:nvSpPr>
        <p:spPr>
          <a:xfrm>
            <a:off x="594360" y="950976"/>
            <a:ext cx="10972800" cy="960120"/>
          </a:xfrm>
          <a:prstGeom prst="rect">
            <a:avLst/>
          </a:prstGeom>
          <a:noFill/>
        </p:spPr>
        <p:txBody>
          <a:bodyPr wrap="square" lIns="0" rIns="0" tIns="0" bIns="0">
            <a:spAutoFit/>
          </a:bodyPr>
          <a:lstStyle/>
          <a:p>
            <a:pPr>
              <a:spcAft>
                <a:spcPts val="500"/>
              </a:spcAft>
              <a:defRPr sz="3000" b="1">
                <a:solidFill>
                  <a:srgbClr val="142C43"/>
                </a:solidFill>
                <a:latin typeface="DejaVu Sans"/>
              </a:defRPr>
            </a:pPr>
            <a:r>
              <a:t>Search the sources. Review the references.</a:t>
            </a:r>
          </a:p>
        </p:txBody>
      </p:sp>
      <p:sp>
        <p:nvSpPr>
          <p:cNvPr id="4" name="TextBox 3"/>
          <p:cNvSpPr txBox="1"/>
          <p:nvPr/>
        </p:nvSpPr>
        <p:spPr>
          <a:xfrm>
            <a:off x="594360" y="1938528"/>
            <a:ext cx="10972800" cy="548640"/>
          </a:xfrm>
          <a:prstGeom prst="rect">
            <a:avLst/>
          </a:prstGeom>
          <a:noFill/>
        </p:spPr>
        <p:txBody>
          <a:bodyPr wrap="square" lIns="0" rIns="0" tIns="0" bIns="0">
            <a:spAutoFit/>
          </a:bodyPr>
          <a:lstStyle/>
          <a:p>
            <a:pPr>
              <a:spcAft>
                <a:spcPts val="500"/>
              </a:spcAft>
              <a:defRPr sz="1500" b="0">
                <a:solidFill>
                  <a:srgbClr val="62798A"/>
                </a:solidFill>
                <a:latin typeface="DejaVu Sans"/>
              </a:defRPr>
            </a:pPr>
            <a:r>
              <a:t>Search matches text; review follows stored source links and dates.</a:t>
            </a:r>
          </a:p>
        </p:txBody>
      </p:sp>
      <p:sp>
        <p:nvSpPr>
          <p:cNvPr id="5" name="TextBox 4"/>
          <p:cNvSpPr txBox="1"/>
          <p:nvPr/>
        </p:nvSpPr>
        <p:spPr>
          <a:xfrm>
            <a:off x="594360" y="6519672"/>
            <a:ext cx="9966960" cy="182880"/>
          </a:xfrm>
          <a:prstGeom prst="rect">
            <a:avLst/>
          </a:prstGeom>
          <a:noFill/>
        </p:spPr>
        <p:txBody>
          <a:bodyPr wrap="square" lIns="0" rIns="0" tIns="0" bIns="0">
            <a:spAutoFit/>
          </a:bodyPr>
          <a:lstStyle/>
          <a:p>
            <a:pPr>
              <a:spcAft>
                <a:spcPts val="500"/>
              </a:spcAft>
              <a:defRPr sz="800" b="0">
                <a:solidFill>
                  <a:srgbClr val="62798A"/>
                </a:solidFill>
                <a:latin typeface="DejaVu Sans"/>
              </a:defRPr>
            </a:pPr>
            <a:r>
              <a:t>Notebook cell 4: saved sample output. Notes are simulated; source applicability requires professional assessment.</a:t>
            </a:r>
          </a:p>
        </p:txBody>
      </p:sp>
      <p:sp>
        <p:nvSpPr>
          <p:cNvPr id="6" name="TextBox 5"/>
          <p:cNvSpPr txBox="1"/>
          <p:nvPr/>
        </p:nvSpPr>
        <p:spPr>
          <a:xfrm>
            <a:off x="10835640" y="6446520"/>
            <a:ext cx="731520" cy="274320"/>
          </a:xfrm>
          <a:prstGeom prst="rect">
            <a:avLst/>
          </a:prstGeom>
          <a:noFill/>
        </p:spPr>
        <p:txBody>
          <a:bodyPr wrap="square" lIns="0" rIns="0" tIns="0" bIns="0">
            <a:spAutoFit/>
          </a:bodyPr>
          <a:lstStyle/>
          <a:p>
            <a:pPr>
              <a:spcAft>
                <a:spcPts val="500"/>
              </a:spcAft>
              <a:defRPr sz="1000" b="0">
                <a:solidFill>
                  <a:srgbClr val="62798A"/>
                </a:solidFill>
                <a:latin typeface="DejaVu Sans"/>
              </a:defRPr>
            </a:pPr>
            <a:r>
              <a:t>05 / 07</a:t>
            </a:r>
          </a:p>
        </p:txBody>
      </p:sp>
      <p:sp>
        <p:nvSpPr>
          <p:cNvPr id="7" name="Rounded Rectangle 6"/>
          <p:cNvSpPr/>
          <p:nvPr/>
        </p:nvSpPr>
        <p:spPr>
          <a:xfrm>
            <a:off x="594360" y="2697480"/>
            <a:ext cx="11000232" cy="630936"/>
          </a:xfrm>
          <a:prstGeom prst="roundRect">
            <a:avLst>
              <a:gd name="adj" fmla="val 6000"/>
            </a:avLst>
          </a:prstGeom>
          <a:solidFill>
            <a:srgbClr val="F0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813816" y="2898648"/>
            <a:ext cx="10561320" cy="256032"/>
          </a:xfrm>
          <a:prstGeom prst="rect">
            <a:avLst/>
          </a:prstGeom>
          <a:noFill/>
        </p:spPr>
        <p:txBody>
          <a:bodyPr wrap="square" lIns="0" rIns="0" tIns="0" bIns="0">
            <a:spAutoFit/>
          </a:bodyPr>
          <a:lstStyle/>
          <a:p>
            <a:pPr>
              <a:spcAft>
                <a:spcPts val="500"/>
              </a:spcAft>
              <a:defRPr sz="1400" b="1">
                <a:solidFill>
                  <a:srgbClr val="21394D"/>
                </a:solidFill>
                <a:latin typeface="DejaVu Sans"/>
              </a:defRPr>
            </a:pPr>
            <a:r>
              <a:t>SEARCH: whole query → split if nothing passes → C54 and P420 in the controlled demo</a:t>
            </a:r>
          </a:p>
        </p:txBody>
      </p:sp>
      <p:sp>
        <p:nvSpPr>
          <p:cNvPr id="9" name="TextBox 8"/>
          <p:cNvSpPr txBox="1"/>
          <p:nvPr/>
        </p:nvSpPr>
        <p:spPr>
          <a:xfrm>
            <a:off x="667512" y="3657600"/>
            <a:ext cx="6583680" cy="274320"/>
          </a:xfrm>
          <a:prstGeom prst="rect">
            <a:avLst/>
          </a:prstGeom>
          <a:noFill/>
        </p:spPr>
        <p:txBody>
          <a:bodyPr wrap="square" lIns="0" rIns="0" tIns="0" bIns="0">
            <a:spAutoFit/>
          </a:bodyPr>
          <a:lstStyle/>
          <a:p>
            <a:pPr>
              <a:spcAft>
                <a:spcPts val="500"/>
              </a:spcAft>
              <a:defRPr sz="1200" b="1">
                <a:solidFill>
                  <a:srgbClr val="087F76"/>
                </a:solidFill>
                <a:latin typeface="DejaVu Sans"/>
              </a:defRPr>
            </a:pPr>
            <a:r>
              <a:t>ACTUAL DRAFT REPORT · 3 UPDATE WARNINGS</a:t>
            </a:r>
          </a:p>
        </p:txBody>
      </p:sp>
      <p:sp>
        <p:nvSpPr>
          <p:cNvPr id="10" name="Rectangle 9"/>
          <p:cNvSpPr/>
          <p:nvPr/>
        </p:nvSpPr>
        <p:spPr>
          <a:xfrm>
            <a:off x="594360" y="4096512"/>
            <a:ext cx="6656832" cy="384048"/>
          </a:xfrm>
          <a:prstGeom prst="rect">
            <a:avLst/>
          </a:prstGeom>
          <a:solidFill>
            <a:srgbClr val="142C4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822960" y="4178808"/>
            <a:ext cx="1828800" cy="201168"/>
          </a:xfrm>
          <a:prstGeom prst="rect">
            <a:avLst/>
          </a:prstGeom>
          <a:noFill/>
        </p:spPr>
        <p:txBody>
          <a:bodyPr wrap="square" lIns="0" rIns="0" tIns="0" bIns="0">
            <a:spAutoFit/>
          </a:bodyPr>
          <a:lstStyle/>
          <a:p>
            <a:pPr>
              <a:spcAft>
                <a:spcPts val="500"/>
              </a:spcAft>
              <a:defRPr sz="1000" b="1">
                <a:solidFill>
                  <a:srgbClr val="FFFFFF"/>
                </a:solidFill>
                <a:latin typeface="DejaVu Sans"/>
              </a:defRPr>
            </a:pPr>
            <a:r>
              <a:t>PARAGRAPH</a:t>
            </a:r>
          </a:p>
        </p:txBody>
      </p:sp>
      <p:sp>
        <p:nvSpPr>
          <p:cNvPr id="12" name="TextBox 11"/>
          <p:cNvSpPr txBox="1"/>
          <p:nvPr/>
        </p:nvSpPr>
        <p:spPr>
          <a:xfrm>
            <a:off x="2880360" y="4178808"/>
            <a:ext cx="914400" cy="201168"/>
          </a:xfrm>
          <a:prstGeom prst="rect">
            <a:avLst/>
          </a:prstGeom>
          <a:noFill/>
        </p:spPr>
        <p:txBody>
          <a:bodyPr wrap="square" lIns="0" rIns="0" tIns="0" bIns="0">
            <a:spAutoFit/>
          </a:bodyPr>
          <a:lstStyle/>
          <a:p>
            <a:pPr>
              <a:spcAft>
                <a:spcPts val="500"/>
              </a:spcAft>
              <a:defRPr sz="1000" b="1">
                <a:solidFill>
                  <a:srgbClr val="FFFFFF"/>
                </a:solidFill>
                <a:latin typeface="DejaVu Sans"/>
              </a:defRPr>
            </a:pPr>
            <a:r>
              <a:t>SOURCE</a:t>
            </a:r>
          </a:p>
        </p:txBody>
      </p:sp>
      <p:sp>
        <p:nvSpPr>
          <p:cNvPr id="13" name="TextBox 12"/>
          <p:cNvSpPr txBox="1"/>
          <p:nvPr/>
        </p:nvSpPr>
        <p:spPr>
          <a:xfrm>
            <a:off x="4206240" y="4178808"/>
            <a:ext cx="2743200" cy="201168"/>
          </a:xfrm>
          <a:prstGeom prst="rect">
            <a:avLst/>
          </a:prstGeom>
          <a:noFill/>
        </p:spPr>
        <p:txBody>
          <a:bodyPr wrap="square" lIns="0" rIns="0" tIns="0" bIns="0">
            <a:spAutoFit/>
          </a:bodyPr>
          <a:lstStyle/>
          <a:p>
            <a:pPr>
              <a:spcAft>
                <a:spcPts val="500"/>
              </a:spcAft>
              <a:defRPr sz="1000" b="1">
                <a:solidFill>
                  <a:srgbClr val="FFFFFF"/>
                </a:solidFill>
                <a:latin typeface="DejaVu Sans"/>
              </a:defRPr>
            </a:pPr>
            <a:r>
              <a:t>REASON</a:t>
            </a:r>
          </a:p>
        </p:txBody>
      </p:sp>
      <p:sp>
        <p:nvSpPr>
          <p:cNvPr id="14" name="Rectangle 13"/>
          <p:cNvSpPr/>
          <p:nvPr/>
        </p:nvSpPr>
        <p:spPr>
          <a:xfrm>
            <a:off x="594360" y="4489704"/>
            <a:ext cx="6656832" cy="420624"/>
          </a:xfrm>
          <a:prstGeom prst="rect">
            <a:avLst/>
          </a:prstGeom>
          <a:solidFill>
            <a:srgbClr val="F0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822960" y="4572000"/>
            <a:ext cx="1645920" cy="237744"/>
          </a:xfrm>
          <a:prstGeom prst="rect">
            <a:avLst/>
          </a:prstGeom>
          <a:noFill/>
        </p:spPr>
        <p:txBody>
          <a:bodyPr wrap="square" lIns="0" rIns="0" tIns="0" bIns="0">
            <a:spAutoFit/>
          </a:bodyPr>
          <a:lstStyle/>
          <a:p>
            <a:pPr>
              <a:spcAft>
                <a:spcPts val="500"/>
              </a:spcAft>
              <a:defRPr sz="1300" b="0">
                <a:solidFill>
                  <a:srgbClr val="21394D"/>
                </a:solidFill>
                <a:latin typeface="DejaVu Sans"/>
              </a:defRPr>
            </a:pPr>
            <a:r>
              <a:t>M3</a:t>
            </a:r>
          </a:p>
        </p:txBody>
      </p:sp>
      <p:sp>
        <p:nvSpPr>
          <p:cNvPr id="16" name="TextBox 15"/>
          <p:cNvSpPr txBox="1"/>
          <p:nvPr/>
        </p:nvSpPr>
        <p:spPr>
          <a:xfrm>
            <a:off x="2880360" y="4572000"/>
            <a:ext cx="1097280" cy="237744"/>
          </a:xfrm>
          <a:prstGeom prst="rect">
            <a:avLst/>
          </a:prstGeom>
          <a:noFill/>
        </p:spPr>
        <p:txBody>
          <a:bodyPr wrap="square" lIns="0" rIns="0" tIns="0" bIns="0">
            <a:spAutoFit/>
          </a:bodyPr>
          <a:lstStyle/>
          <a:p>
            <a:pPr>
              <a:spcAft>
                <a:spcPts val="500"/>
              </a:spcAft>
              <a:defRPr sz="1300" b="0">
                <a:solidFill>
                  <a:srgbClr val="21394D"/>
                </a:solidFill>
                <a:latin typeface="DejaVu Sans"/>
              </a:defRPr>
            </a:pPr>
            <a:r>
              <a:t>C54</a:t>
            </a:r>
          </a:p>
        </p:txBody>
      </p:sp>
      <p:sp>
        <p:nvSpPr>
          <p:cNvPr id="17" name="TextBox 16"/>
          <p:cNvSpPr txBox="1"/>
          <p:nvPr/>
        </p:nvSpPr>
        <p:spPr>
          <a:xfrm>
            <a:off x="4206240" y="4572000"/>
            <a:ext cx="2834640" cy="237744"/>
          </a:xfrm>
          <a:prstGeom prst="rect">
            <a:avLst/>
          </a:prstGeom>
          <a:noFill/>
        </p:spPr>
        <p:txBody>
          <a:bodyPr wrap="square" lIns="0" rIns="0" tIns="0" bIns="0">
            <a:spAutoFit/>
          </a:bodyPr>
          <a:lstStyle/>
          <a:p>
            <a:pPr>
              <a:spcAft>
                <a:spcPts val="500"/>
              </a:spcAft>
              <a:defRPr sz="1200" b="0">
                <a:solidFill>
                  <a:srgbClr val="21394D"/>
                </a:solidFill>
                <a:latin typeface="DejaVu Sans"/>
              </a:defRPr>
            </a:pPr>
            <a:r>
              <a:t>Newer recorded note</a:t>
            </a:r>
          </a:p>
        </p:txBody>
      </p:sp>
      <p:sp>
        <p:nvSpPr>
          <p:cNvPr id="18" name="TextBox 17"/>
          <p:cNvSpPr txBox="1"/>
          <p:nvPr/>
        </p:nvSpPr>
        <p:spPr>
          <a:xfrm>
            <a:off x="822960" y="5001768"/>
            <a:ext cx="1645920" cy="237744"/>
          </a:xfrm>
          <a:prstGeom prst="rect">
            <a:avLst/>
          </a:prstGeom>
          <a:noFill/>
        </p:spPr>
        <p:txBody>
          <a:bodyPr wrap="square" lIns="0" rIns="0" tIns="0" bIns="0">
            <a:spAutoFit/>
          </a:bodyPr>
          <a:lstStyle/>
          <a:p>
            <a:pPr>
              <a:spcAft>
                <a:spcPts val="500"/>
              </a:spcAft>
              <a:defRPr sz="1300" b="0">
                <a:solidFill>
                  <a:srgbClr val="21394D"/>
                </a:solidFill>
                <a:latin typeface="DejaVu Sans"/>
              </a:defRPr>
            </a:pPr>
            <a:r>
              <a:t>M3</a:t>
            </a:r>
          </a:p>
        </p:txBody>
      </p:sp>
      <p:sp>
        <p:nvSpPr>
          <p:cNvPr id="19" name="TextBox 18"/>
          <p:cNvSpPr txBox="1"/>
          <p:nvPr/>
        </p:nvSpPr>
        <p:spPr>
          <a:xfrm>
            <a:off x="2880360" y="5001768"/>
            <a:ext cx="1097280" cy="237744"/>
          </a:xfrm>
          <a:prstGeom prst="rect">
            <a:avLst/>
          </a:prstGeom>
          <a:noFill/>
        </p:spPr>
        <p:txBody>
          <a:bodyPr wrap="square" lIns="0" rIns="0" tIns="0" bIns="0">
            <a:spAutoFit/>
          </a:bodyPr>
          <a:lstStyle/>
          <a:p>
            <a:pPr>
              <a:spcAft>
                <a:spcPts val="500"/>
              </a:spcAft>
              <a:defRPr sz="1300" b="0">
                <a:solidFill>
                  <a:srgbClr val="21394D"/>
                </a:solidFill>
                <a:latin typeface="DejaVu Sans"/>
              </a:defRPr>
            </a:pPr>
            <a:r>
              <a:t>C167</a:t>
            </a:r>
          </a:p>
        </p:txBody>
      </p:sp>
      <p:sp>
        <p:nvSpPr>
          <p:cNvPr id="20" name="TextBox 19"/>
          <p:cNvSpPr txBox="1"/>
          <p:nvPr/>
        </p:nvSpPr>
        <p:spPr>
          <a:xfrm>
            <a:off x="4206240" y="5001768"/>
            <a:ext cx="2834640" cy="237744"/>
          </a:xfrm>
          <a:prstGeom prst="rect">
            <a:avLst/>
          </a:prstGeom>
          <a:noFill/>
        </p:spPr>
        <p:txBody>
          <a:bodyPr wrap="square" lIns="0" rIns="0" tIns="0" bIns="0">
            <a:spAutoFit/>
          </a:bodyPr>
          <a:lstStyle/>
          <a:p>
            <a:pPr>
              <a:spcAft>
                <a:spcPts val="500"/>
              </a:spcAft>
              <a:defRPr sz="1200" b="0">
                <a:solidFill>
                  <a:srgbClr val="21394D"/>
                </a:solidFill>
                <a:latin typeface="DejaVu Sans"/>
              </a:defRPr>
            </a:pPr>
            <a:r>
              <a:t>Newer recorded note</a:t>
            </a:r>
          </a:p>
        </p:txBody>
      </p:sp>
      <p:sp>
        <p:nvSpPr>
          <p:cNvPr id="21" name="Rectangle 20"/>
          <p:cNvSpPr/>
          <p:nvPr/>
        </p:nvSpPr>
        <p:spPr>
          <a:xfrm>
            <a:off x="594360" y="5349240"/>
            <a:ext cx="6656832" cy="420624"/>
          </a:xfrm>
          <a:prstGeom prst="rect">
            <a:avLst/>
          </a:prstGeom>
          <a:solidFill>
            <a:srgbClr val="F0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822960" y="5431536"/>
            <a:ext cx="1645920" cy="237744"/>
          </a:xfrm>
          <a:prstGeom prst="rect">
            <a:avLst/>
          </a:prstGeom>
          <a:noFill/>
        </p:spPr>
        <p:txBody>
          <a:bodyPr wrap="square" lIns="0" rIns="0" tIns="0" bIns="0">
            <a:spAutoFit/>
          </a:bodyPr>
          <a:lstStyle/>
          <a:p>
            <a:pPr>
              <a:spcAft>
                <a:spcPts val="500"/>
              </a:spcAft>
              <a:defRPr sz="1300" b="0">
                <a:solidFill>
                  <a:srgbClr val="21394D"/>
                </a:solidFill>
                <a:latin typeface="DejaVu Sans"/>
              </a:defRPr>
            </a:pPr>
            <a:r>
              <a:t>M5</a:t>
            </a:r>
          </a:p>
        </p:txBody>
      </p:sp>
      <p:sp>
        <p:nvSpPr>
          <p:cNvPr id="23" name="TextBox 22"/>
          <p:cNvSpPr txBox="1"/>
          <p:nvPr/>
        </p:nvSpPr>
        <p:spPr>
          <a:xfrm>
            <a:off x="2880360" y="5431536"/>
            <a:ext cx="1097280" cy="237744"/>
          </a:xfrm>
          <a:prstGeom prst="rect">
            <a:avLst/>
          </a:prstGeom>
          <a:noFill/>
        </p:spPr>
        <p:txBody>
          <a:bodyPr wrap="square" lIns="0" rIns="0" tIns="0" bIns="0">
            <a:spAutoFit/>
          </a:bodyPr>
          <a:lstStyle/>
          <a:p>
            <a:pPr>
              <a:spcAft>
                <a:spcPts val="500"/>
              </a:spcAft>
              <a:defRPr sz="1300" b="0">
                <a:solidFill>
                  <a:srgbClr val="21394D"/>
                </a:solidFill>
                <a:latin typeface="DejaVu Sans"/>
              </a:defRPr>
            </a:pPr>
            <a:r>
              <a:t>C167</a:t>
            </a:r>
          </a:p>
        </p:txBody>
      </p:sp>
      <p:sp>
        <p:nvSpPr>
          <p:cNvPr id="24" name="TextBox 23"/>
          <p:cNvSpPr txBox="1"/>
          <p:nvPr/>
        </p:nvSpPr>
        <p:spPr>
          <a:xfrm>
            <a:off x="4206240" y="5431536"/>
            <a:ext cx="2834640" cy="237744"/>
          </a:xfrm>
          <a:prstGeom prst="rect">
            <a:avLst/>
          </a:prstGeom>
          <a:noFill/>
        </p:spPr>
        <p:txBody>
          <a:bodyPr wrap="square" lIns="0" rIns="0" tIns="0" bIns="0">
            <a:spAutoFit/>
          </a:bodyPr>
          <a:lstStyle/>
          <a:p>
            <a:pPr>
              <a:spcAft>
                <a:spcPts val="500"/>
              </a:spcAft>
              <a:defRPr sz="1200" b="0">
                <a:solidFill>
                  <a:srgbClr val="21394D"/>
                </a:solidFill>
                <a:latin typeface="DejaVu Sans"/>
              </a:defRPr>
            </a:pPr>
            <a:r>
              <a:t>Newer recorded note</a:t>
            </a:r>
          </a:p>
        </p:txBody>
      </p:sp>
      <p:sp>
        <p:nvSpPr>
          <p:cNvPr id="25" name="Rounded Rectangle 24"/>
          <p:cNvSpPr/>
          <p:nvPr/>
        </p:nvSpPr>
        <p:spPr>
          <a:xfrm>
            <a:off x="7671816" y="3657600"/>
            <a:ext cx="3922776" cy="2112264"/>
          </a:xfrm>
          <a:prstGeom prst="roundRect">
            <a:avLst>
              <a:gd name="adj" fmla="val 6000"/>
            </a:avLst>
          </a:prstGeom>
          <a:solidFill>
            <a:srgbClr val="E9F4F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TextBox 25"/>
          <p:cNvSpPr txBox="1"/>
          <p:nvPr/>
        </p:nvSpPr>
        <p:spPr>
          <a:xfrm>
            <a:off x="7900416" y="3877056"/>
            <a:ext cx="3465576" cy="256032"/>
          </a:xfrm>
          <a:prstGeom prst="rect">
            <a:avLst/>
          </a:prstGeom>
          <a:noFill/>
        </p:spPr>
        <p:txBody>
          <a:bodyPr wrap="square" lIns="0" rIns="0" tIns="0" bIns="0">
            <a:spAutoFit/>
          </a:bodyPr>
          <a:lstStyle/>
          <a:p>
            <a:pPr>
              <a:spcAft>
                <a:spcPts val="500"/>
              </a:spcAft>
              <a:defRPr sz="1100" b="1">
                <a:solidFill>
                  <a:srgbClr val="087F76"/>
                </a:solidFill>
                <a:latin typeface="DejaVu Sans"/>
              </a:defRPr>
            </a:pPr>
            <a:r>
              <a:t>OTHER OBSERVATIONS</a:t>
            </a:r>
          </a:p>
        </p:txBody>
      </p:sp>
      <p:sp>
        <p:nvSpPr>
          <p:cNvPr id="27" name="TextBox 26"/>
          <p:cNvSpPr txBox="1"/>
          <p:nvPr/>
        </p:nvSpPr>
        <p:spPr>
          <a:xfrm>
            <a:off x="7900416" y="4434840"/>
            <a:ext cx="3465576" cy="1005840"/>
          </a:xfrm>
          <a:prstGeom prst="rect">
            <a:avLst/>
          </a:prstGeom>
          <a:noFill/>
        </p:spPr>
        <p:txBody>
          <a:bodyPr wrap="square" lIns="0" rIns="0" tIns="0" bIns="0">
            <a:spAutoFit/>
          </a:bodyPr>
          <a:lstStyle/>
          <a:p>
            <a:pPr>
              <a:spcAft>
                <a:spcPts val="400"/>
              </a:spcAft>
              <a:defRPr sz="1500" b="0">
                <a:solidFill>
                  <a:srgbClr val="21394D"/>
                </a:solidFill>
                <a:latin typeface="DejaVu Sans"/>
              </a:defRPr>
            </a:pPr>
            <a:r>
              <a:t>No missing-citation warnings.</a:t>
            </a:r>
          </a:p>
          <a:p>
            <a:pPr>
              <a:spcAft>
                <a:spcPts val="400"/>
              </a:spcAft>
              <a:defRPr sz="1500" b="0">
                <a:solidFill>
                  <a:srgbClr val="21394D"/>
                </a:solidFill>
                <a:latin typeface="DejaVu Sans"/>
              </a:defRPr>
            </a:pPr>
          </a:p>
          <a:p>
            <a:pPr>
              <a:spcAft>
                <a:spcPts val="400"/>
              </a:spcAft>
              <a:defRPr sz="1500" b="0">
                <a:solidFill>
                  <a:srgbClr val="21394D"/>
                </a:solidFill>
                <a:latin typeface="DejaVu Sans"/>
              </a:defRPr>
            </a:pPr>
            <a:r>
              <a:t>Case summary: no accepted sources.</a:t>
            </a:r>
          </a:p>
        </p:txBody>
      </p:sp>
      <p:sp>
        <p:nvSpPr>
          <p:cNvPr id="28" name="TextBox 27"/>
          <p:cNvSpPr txBox="1"/>
          <p:nvPr/>
        </p:nvSpPr>
        <p:spPr>
          <a:xfrm>
            <a:off x="594360" y="6007608"/>
            <a:ext cx="10972800" cy="246888"/>
          </a:xfrm>
          <a:prstGeom prst="rect">
            <a:avLst/>
          </a:prstGeom>
          <a:noFill/>
        </p:spPr>
        <p:txBody>
          <a:bodyPr wrap="square" lIns="0" rIns="0" tIns="0" bIns="0">
            <a:spAutoFit/>
          </a:bodyPr>
          <a:lstStyle/>
          <a:p>
            <a:pPr>
              <a:spcAft>
                <a:spcPts val="500"/>
              </a:spcAft>
              <a:defRPr sz="1300" b="0">
                <a:solidFill>
                  <a:srgbClr val="62798A"/>
                </a:solidFill>
                <a:latin typeface="DejaVu Sans"/>
              </a:defRPr>
            </a:pPr>
            <a:r>
              <a:t>A warning asks for legal review. It does not establish that the argument is wrong.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42C43"/>
        </a:solidFill>
        <a:effectLst/>
      </p:bgPr>
    </p:bg>
    <p:spTree>
      <p:nvGrpSpPr>
        <p:cNvPr id="1" name=""/>
        <p:cNvGrpSpPr/>
        <p:nvPr/>
      </p:nvGrpSpPr>
      <p:grpSpPr/>
      <p:sp>
        <p:nvSpPr>
          <p:cNvPr id="2" name="TextBox 1"/>
          <p:cNvSpPr txBox="1"/>
          <p:nvPr/>
        </p:nvSpPr>
        <p:spPr>
          <a:xfrm>
            <a:off x="594360" y="365760"/>
            <a:ext cx="10058400" cy="274320"/>
          </a:xfrm>
          <a:prstGeom prst="rect">
            <a:avLst/>
          </a:prstGeom>
          <a:noFill/>
        </p:spPr>
        <p:txBody>
          <a:bodyPr wrap="square" lIns="0" rIns="0" tIns="0" bIns="0">
            <a:spAutoFit/>
          </a:bodyPr>
          <a:lstStyle/>
          <a:p>
            <a:pPr>
              <a:spcAft>
                <a:spcPts val="500"/>
              </a:spcAft>
              <a:defRPr sz="1100" b="1">
                <a:solidFill>
                  <a:srgbClr val="8DD9C9"/>
                </a:solidFill>
                <a:latin typeface="DejaVu Sans"/>
              </a:defRPr>
            </a:pPr>
            <a:r>
              <a:t>IMPLEMENTATION · CELL 5</a:t>
            </a:r>
          </a:p>
        </p:txBody>
      </p:sp>
      <p:sp>
        <p:nvSpPr>
          <p:cNvPr id="3" name="TextBox 2"/>
          <p:cNvSpPr txBox="1"/>
          <p:nvPr/>
        </p:nvSpPr>
        <p:spPr>
          <a:xfrm>
            <a:off x="594360" y="950976"/>
            <a:ext cx="10972800" cy="960120"/>
          </a:xfrm>
          <a:prstGeom prst="rect">
            <a:avLst/>
          </a:prstGeom>
          <a:noFill/>
        </p:spPr>
        <p:txBody>
          <a:bodyPr wrap="square" lIns="0" rIns="0" tIns="0" bIns="0">
            <a:spAutoFit/>
          </a:bodyPr>
          <a:lstStyle/>
          <a:p>
            <a:pPr>
              <a:spcAft>
                <a:spcPts val="500"/>
              </a:spcAft>
              <a:defRPr sz="3000" b="1">
                <a:solidFill>
                  <a:srgbClr val="FFFFFF"/>
                </a:solidFill>
                <a:latin typeface="DejaVu Sans"/>
              </a:defRPr>
            </a:pPr>
            <a:r>
              <a:t>Test that expected behaviour still holds</a:t>
            </a:r>
          </a:p>
        </p:txBody>
      </p:sp>
      <p:sp>
        <p:nvSpPr>
          <p:cNvPr id="4" name="TextBox 3"/>
          <p:cNvSpPr txBox="1"/>
          <p:nvPr/>
        </p:nvSpPr>
        <p:spPr>
          <a:xfrm>
            <a:off x="594360" y="1938528"/>
            <a:ext cx="10972800" cy="548640"/>
          </a:xfrm>
          <a:prstGeom prst="rect">
            <a:avLst/>
          </a:prstGeom>
          <a:noFill/>
        </p:spPr>
        <p:txBody>
          <a:bodyPr wrap="square" lIns="0" rIns="0" tIns="0" bIns="0">
            <a:spAutoFit/>
          </a:bodyPr>
          <a:lstStyle/>
          <a:p>
            <a:pPr>
              <a:spcAft>
                <a:spcPts val="500"/>
              </a:spcAft>
              <a:defRPr sz="1500" b="0">
                <a:solidFill>
                  <a:srgbClr val="C5D7E1"/>
                </a:solidFill>
                <a:latin typeface="DejaVu Sans"/>
              </a:defRPr>
            </a:pPr>
            <a:r>
              <a:t>Four regression groups passed on synthetic examples.</a:t>
            </a:r>
          </a:p>
        </p:txBody>
      </p:sp>
      <p:sp>
        <p:nvSpPr>
          <p:cNvPr id="5" name="TextBox 4"/>
          <p:cNvSpPr txBox="1"/>
          <p:nvPr/>
        </p:nvSpPr>
        <p:spPr>
          <a:xfrm>
            <a:off x="594360" y="6519672"/>
            <a:ext cx="9966960" cy="182880"/>
          </a:xfrm>
          <a:prstGeom prst="rect">
            <a:avLst/>
          </a:prstGeom>
          <a:noFill/>
        </p:spPr>
        <p:txBody>
          <a:bodyPr wrap="square" lIns="0" rIns="0" tIns="0" bIns="0">
            <a:spAutoFit/>
          </a:bodyPr>
          <a:lstStyle/>
          <a:p>
            <a:pPr>
              <a:spcAft>
                <a:spcPts val="500"/>
              </a:spcAft>
              <a:defRPr sz="800" b="0">
                <a:solidFill>
                  <a:srgbClr val="A8BFCD"/>
                </a:solidFill>
                <a:latin typeface="DejaVu Sans"/>
              </a:defRPr>
            </a:pPr>
            <a:r>
              <a:t>Notebook cell 5: four test groups passed; fixtures are synthetic, not genuinely lawyer-approved historical files.</a:t>
            </a:r>
          </a:p>
        </p:txBody>
      </p:sp>
      <p:sp>
        <p:nvSpPr>
          <p:cNvPr id="6" name="TextBox 5"/>
          <p:cNvSpPr txBox="1"/>
          <p:nvPr/>
        </p:nvSpPr>
        <p:spPr>
          <a:xfrm>
            <a:off x="10835640" y="6446520"/>
            <a:ext cx="731520" cy="274320"/>
          </a:xfrm>
          <a:prstGeom prst="rect">
            <a:avLst/>
          </a:prstGeom>
          <a:noFill/>
        </p:spPr>
        <p:txBody>
          <a:bodyPr wrap="square" lIns="0" rIns="0" tIns="0" bIns="0">
            <a:spAutoFit/>
          </a:bodyPr>
          <a:lstStyle/>
          <a:p>
            <a:pPr>
              <a:spcAft>
                <a:spcPts val="500"/>
              </a:spcAft>
              <a:defRPr sz="1000" b="0">
                <a:solidFill>
                  <a:srgbClr val="A8BFCD"/>
                </a:solidFill>
                <a:latin typeface="DejaVu Sans"/>
              </a:defRPr>
            </a:pPr>
            <a:r>
              <a:t>06 / 07</a:t>
            </a:r>
          </a:p>
        </p:txBody>
      </p:sp>
      <p:sp>
        <p:nvSpPr>
          <p:cNvPr id="7" name="Rounded Rectangle 6"/>
          <p:cNvSpPr/>
          <p:nvPr/>
        </p:nvSpPr>
        <p:spPr>
          <a:xfrm>
            <a:off x="594360" y="2724912"/>
            <a:ext cx="5202936" cy="1399032"/>
          </a:xfrm>
          <a:prstGeom prst="roundRect">
            <a:avLst>
              <a:gd name="adj" fmla="val 6000"/>
            </a:avLst>
          </a:prstGeom>
          <a:solidFill>
            <a:srgbClr val="203F5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822960" y="2980944"/>
            <a:ext cx="1225296" cy="539496"/>
          </a:xfrm>
          <a:prstGeom prst="rect">
            <a:avLst/>
          </a:prstGeom>
          <a:noFill/>
        </p:spPr>
        <p:txBody>
          <a:bodyPr wrap="square" lIns="0" rIns="0" tIns="0" bIns="0">
            <a:spAutoFit/>
          </a:bodyPr>
          <a:lstStyle/>
          <a:p>
            <a:pPr>
              <a:spcAft>
                <a:spcPts val="500"/>
              </a:spcAft>
              <a:defRPr sz="2700" b="1">
                <a:solidFill>
                  <a:srgbClr val="8DD9C9"/>
                </a:solidFill>
                <a:latin typeface="DejaVu Sans"/>
              </a:defRPr>
            </a:pPr>
            <a:r>
              <a:t>25</a:t>
            </a:r>
          </a:p>
        </p:txBody>
      </p:sp>
      <p:sp>
        <p:nvSpPr>
          <p:cNvPr id="9" name="TextBox 8"/>
          <p:cNvSpPr txBox="1"/>
          <p:nvPr/>
        </p:nvSpPr>
        <p:spPr>
          <a:xfrm>
            <a:off x="2286000" y="2953512"/>
            <a:ext cx="3273552" cy="265176"/>
          </a:xfrm>
          <a:prstGeom prst="rect">
            <a:avLst/>
          </a:prstGeom>
          <a:noFill/>
        </p:spPr>
        <p:txBody>
          <a:bodyPr wrap="square" lIns="0" rIns="0" tIns="0" bIns="0">
            <a:spAutoFit/>
          </a:bodyPr>
          <a:lstStyle/>
          <a:p>
            <a:pPr>
              <a:spcAft>
                <a:spcPts val="500"/>
              </a:spcAft>
              <a:defRPr sz="1000" b="1">
                <a:solidFill>
                  <a:srgbClr val="8DD9C9"/>
                </a:solidFill>
                <a:latin typeface="DejaVu Sans"/>
              </a:defRPr>
            </a:pPr>
            <a:r>
              <a:t>REPEATED RUNS</a:t>
            </a:r>
          </a:p>
        </p:txBody>
      </p:sp>
      <p:sp>
        <p:nvSpPr>
          <p:cNvPr id="10" name="TextBox 9"/>
          <p:cNvSpPr txBox="1"/>
          <p:nvPr/>
        </p:nvSpPr>
        <p:spPr>
          <a:xfrm>
            <a:off x="2286000" y="3410712"/>
            <a:ext cx="3246120" cy="585216"/>
          </a:xfrm>
          <a:prstGeom prst="rect">
            <a:avLst/>
          </a:prstGeom>
          <a:noFill/>
        </p:spPr>
        <p:txBody>
          <a:bodyPr wrap="square" lIns="0" rIns="0" tIns="0" bIns="0">
            <a:spAutoFit/>
          </a:bodyPr>
          <a:lstStyle/>
          <a:p>
            <a:pPr>
              <a:spcAft>
                <a:spcPts val="500"/>
              </a:spcAft>
              <a:defRPr sz="1300" b="0">
                <a:solidFill>
                  <a:srgbClr val="FFFFFF"/>
                </a:solidFill>
                <a:latin typeface="DejaVu Sans"/>
              </a:defRPr>
            </a:pPr>
            <a:r>
              <a:t>Matching document and full-result fingerprints</a:t>
            </a:r>
          </a:p>
        </p:txBody>
      </p:sp>
      <p:sp>
        <p:nvSpPr>
          <p:cNvPr id="11" name="Rounded Rectangle 10"/>
          <p:cNvSpPr/>
          <p:nvPr/>
        </p:nvSpPr>
        <p:spPr>
          <a:xfrm>
            <a:off x="6391656" y="2724912"/>
            <a:ext cx="5202936" cy="1399032"/>
          </a:xfrm>
          <a:prstGeom prst="roundRect">
            <a:avLst>
              <a:gd name="adj" fmla="val 6000"/>
            </a:avLst>
          </a:prstGeom>
          <a:solidFill>
            <a:srgbClr val="203F5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6620256" y="2980944"/>
            <a:ext cx="1225296" cy="539496"/>
          </a:xfrm>
          <a:prstGeom prst="rect">
            <a:avLst/>
          </a:prstGeom>
          <a:noFill/>
        </p:spPr>
        <p:txBody>
          <a:bodyPr wrap="square" lIns="0" rIns="0" tIns="0" bIns="0">
            <a:spAutoFit/>
          </a:bodyPr>
          <a:lstStyle/>
          <a:p>
            <a:pPr>
              <a:spcAft>
                <a:spcPts val="500"/>
              </a:spcAft>
              <a:defRPr sz="2700" b="1">
                <a:solidFill>
                  <a:srgbClr val="8DD9C9"/>
                </a:solidFill>
                <a:latin typeface="DejaVu Sans"/>
              </a:defRPr>
            </a:pPr>
            <a:r>
              <a:t>4</a:t>
            </a:r>
          </a:p>
        </p:txBody>
      </p:sp>
      <p:sp>
        <p:nvSpPr>
          <p:cNvPr id="13" name="TextBox 12"/>
          <p:cNvSpPr txBox="1"/>
          <p:nvPr/>
        </p:nvSpPr>
        <p:spPr>
          <a:xfrm>
            <a:off x="8083296" y="2953512"/>
            <a:ext cx="3273552" cy="265176"/>
          </a:xfrm>
          <a:prstGeom prst="rect">
            <a:avLst/>
          </a:prstGeom>
          <a:noFill/>
        </p:spPr>
        <p:txBody>
          <a:bodyPr wrap="square" lIns="0" rIns="0" tIns="0" bIns="0">
            <a:spAutoFit/>
          </a:bodyPr>
          <a:lstStyle/>
          <a:p>
            <a:pPr>
              <a:spcAft>
                <a:spcPts val="500"/>
              </a:spcAft>
              <a:defRPr sz="1000" b="1">
                <a:solidFill>
                  <a:srgbClr val="8DD9C9"/>
                </a:solidFill>
                <a:latin typeface="DejaVu Sans"/>
              </a:defRPr>
            </a:pPr>
            <a:r>
              <a:t>REFERENCE CASES</a:t>
            </a:r>
          </a:p>
        </p:txBody>
      </p:sp>
      <p:sp>
        <p:nvSpPr>
          <p:cNvPr id="14" name="TextBox 13"/>
          <p:cNvSpPr txBox="1"/>
          <p:nvPr/>
        </p:nvSpPr>
        <p:spPr>
          <a:xfrm>
            <a:off x="8083296" y="3410712"/>
            <a:ext cx="3246120" cy="585216"/>
          </a:xfrm>
          <a:prstGeom prst="rect">
            <a:avLst/>
          </a:prstGeom>
          <a:noFill/>
        </p:spPr>
        <p:txBody>
          <a:bodyPr wrap="square" lIns="0" rIns="0" tIns="0" bIns="0">
            <a:spAutoFit/>
          </a:bodyPr>
          <a:lstStyle/>
          <a:p>
            <a:pPr>
              <a:spcAft>
                <a:spcPts val="500"/>
              </a:spcAft>
              <a:defRPr sz="1300" b="0">
                <a:solidFill>
                  <a:srgbClr val="FFFFFF"/>
                </a:solidFill>
                <a:latin typeface="DejaVu Sans"/>
              </a:defRPr>
            </a:pPr>
            <a:r>
              <a:t>Expected paragraph order and citations</a:t>
            </a:r>
          </a:p>
        </p:txBody>
      </p:sp>
      <p:sp>
        <p:nvSpPr>
          <p:cNvPr id="15" name="Rounded Rectangle 14"/>
          <p:cNvSpPr/>
          <p:nvPr/>
        </p:nvSpPr>
        <p:spPr>
          <a:xfrm>
            <a:off x="594360" y="4379976"/>
            <a:ext cx="5202936" cy="1399032"/>
          </a:xfrm>
          <a:prstGeom prst="roundRect">
            <a:avLst>
              <a:gd name="adj" fmla="val 6000"/>
            </a:avLst>
          </a:prstGeom>
          <a:solidFill>
            <a:srgbClr val="203F5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822960" y="4636008"/>
            <a:ext cx="1225296" cy="539496"/>
          </a:xfrm>
          <a:prstGeom prst="rect">
            <a:avLst/>
          </a:prstGeom>
          <a:noFill/>
        </p:spPr>
        <p:txBody>
          <a:bodyPr wrap="square" lIns="0" rIns="0" tIns="0" bIns="0">
            <a:spAutoFit/>
          </a:bodyPr>
          <a:lstStyle/>
          <a:p>
            <a:pPr>
              <a:spcAft>
                <a:spcPts val="500"/>
              </a:spcAft>
              <a:defRPr sz="1900" b="1">
                <a:solidFill>
                  <a:srgbClr val="8DD9C9"/>
                </a:solidFill>
                <a:latin typeface="DejaVu Sans"/>
              </a:defRPr>
            </a:pPr>
            <a:r>
              <a:t>PASS</a:t>
            </a:r>
          </a:p>
        </p:txBody>
      </p:sp>
      <p:sp>
        <p:nvSpPr>
          <p:cNvPr id="17" name="TextBox 16"/>
          <p:cNvSpPr txBox="1"/>
          <p:nvPr/>
        </p:nvSpPr>
        <p:spPr>
          <a:xfrm>
            <a:off x="2286000" y="4608576"/>
            <a:ext cx="3273552" cy="265176"/>
          </a:xfrm>
          <a:prstGeom prst="rect">
            <a:avLst/>
          </a:prstGeom>
          <a:noFill/>
        </p:spPr>
        <p:txBody>
          <a:bodyPr wrap="square" lIns="0" rIns="0" tIns="0" bIns="0">
            <a:spAutoFit/>
          </a:bodyPr>
          <a:lstStyle/>
          <a:p>
            <a:pPr>
              <a:spcAft>
                <a:spcPts val="500"/>
              </a:spcAft>
              <a:defRPr sz="1000" b="1">
                <a:solidFill>
                  <a:srgbClr val="8DD9C9"/>
                </a:solidFill>
                <a:latin typeface="DejaVu Sans"/>
              </a:defRPr>
            </a:pPr>
            <a:r>
              <a:t>CONFLICT GUARD</a:t>
            </a:r>
          </a:p>
        </p:txBody>
      </p:sp>
      <p:sp>
        <p:nvSpPr>
          <p:cNvPr id="18" name="TextBox 17"/>
          <p:cNvSpPr txBox="1"/>
          <p:nvPr/>
        </p:nvSpPr>
        <p:spPr>
          <a:xfrm>
            <a:off x="2286000" y="5065776"/>
            <a:ext cx="3246120" cy="585216"/>
          </a:xfrm>
          <a:prstGeom prst="rect">
            <a:avLst/>
          </a:prstGeom>
          <a:noFill/>
        </p:spPr>
        <p:txBody>
          <a:bodyPr wrap="square" lIns="0" rIns="0" tIns="0" bIns="0">
            <a:spAutoFit/>
          </a:bodyPr>
          <a:lstStyle/>
          <a:p>
            <a:pPr>
              <a:spcAft>
                <a:spcPts val="500"/>
              </a:spcAft>
              <a:defRPr sz="1300" b="0">
                <a:solidFill>
                  <a:srgbClr val="FFFFFF"/>
                </a:solidFill>
                <a:latin typeface="DejaVu Sans"/>
              </a:defRPr>
            </a:pPr>
            <a:r>
              <a:t>Both routes selected → expected error</a:t>
            </a:r>
          </a:p>
        </p:txBody>
      </p:sp>
      <p:sp>
        <p:nvSpPr>
          <p:cNvPr id="19" name="Rounded Rectangle 18"/>
          <p:cNvSpPr/>
          <p:nvPr/>
        </p:nvSpPr>
        <p:spPr>
          <a:xfrm>
            <a:off x="6391656" y="4379976"/>
            <a:ext cx="5202936" cy="1399032"/>
          </a:xfrm>
          <a:prstGeom prst="roundRect">
            <a:avLst>
              <a:gd name="adj" fmla="val 6000"/>
            </a:avLst>
          </a:prstGeom>
          <a:solidFill>
            <a:srgbClr val="203F5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6620256" y="4636008"/>
            <a:ext cx="1225296" cy="539496"/>
          </a:xfrm>
          <a:prstGeom prst="rect">
            <a:avLst/>
          </a:prstGeom>
          <a:noFill/>
        </p:spPr>
        <p:txBody>
          <a:bodyPr wrap="square" lIns="0" rIns="0" tIns="0" bIns="0">
            <a:spAutoFit/>
          </a:bodyPr>
          <a:lstStyle/>
          <a:p>
            <a:pPr>
              <a:spcAft>
                <a:spcPts val="500"/>
              </a:spcAft>
              <a:defRPr sz="1900" b="1">
                <a:solidFill>
                  <a:srgbClr val="8DD9C9"/>
                </a:solidFill>
                <a:latin typeface="DejaVu Sans"/>
              </a:defRPr>
            </a:pPr>
            <a:r>
              <a:t>PASS</a:t>
            </a:r>
          </a:p>
        </p:txBody>
      </p:sp>
      <p:sp>
        <p:nvSpPr>
          <p:cNvPr id="21" name="TextBox 20"/>
          <p:cNvSpPr txBox="1"/>
          <p:nvPr/>
        </p:nvSpPr>
        <p:spPr>
          <a:xfrm>
            <a:off x="8083296" y="4608576"/>
            <a:ext cx="3273552" cy="265176"/>
          </a:xfrm>
          <a:prstGeom prst="rect">
            <a:avLst/>
          </a:prstGeom>
          <a:noFill/>
        </p:spPr>
        <p:txBody>
          <a:bodyPr wrap="square" lIns="0" rIns="0" tIns="0" bIns="0">
            <a:spAutoFit/>
          </a:bodyPr>
          <a:lstStyle/>
          <a:p>
            <a:pPr>
              <a:spcAft>
                <a:spcPts val="500"/>
              </a:spcAft>
              <a:defRPr sz="1000" b="1">
                <a:solidFill>
                  <a:srgbClr val="8DD9C9"/>
                </a:solidFill>
                <a:latin typeface="DejaVu Sans"/>
              </a:defRPr>
            </a:pPr>
            <a:r>
              <a:t>UPDATE CHECK</a:t>
            </a:r>
          </a:p>
        </p:txBody>
      </p:sp>
      <p:sp>
        <p:nvSpPr>
          <p:cNvPr id="22" name="TextBox 21"/>
          <p:cNvSpPr txBox="1"/>
          <p:nvPr/>
        </p:nvSpPr>
        <p:spPr>
          <a:xfrm>
            <a:off x="8083296" y="5065776"/>
            <a:ext cx="3246120" cy="585216"/>
          </a:xfrm>
          <a:prstGeom prst="rect">
            <a:avLst/>
          </a:prstGeom>
          <a:noFill/>
        </p:spPr>
        <p:txBody>
          <a:bodyPr wrap="square" lIns="0" rIns="0" tIns="0" bIns="0">
            <a:spAutoFit/>
          </a:bodyPr>
          <a:lstStyle/>
          <a:p>
            <a:pPr>
              <a:spcAft>
                <a:spcPts val="500"/>
              </a:spcAft>
              <a:defRPr sz="1300" b="0">
                <a:solidFill>
                  <a:srgbClr val="FFFFFF"/>
                </a:solidFill>
                <a:latin typeface="DejaVu Sans"/>
              </a:defRPr>
            </a:pPr>
            <a:r>
              <a:t>A simulated note flags the linked modules</a:t>
            </a:r>
          </a:p>
        </p:txBody>
      </p:sp>
      <p:sp>
        <p:nvSpPr>
          <p:cNvPr id="23" name="TextBox 22"/>
          <p:cNvSpPr txBox="1"/>
          <p:nvPr/>
        </p:nvSpPr>
        <p:spPr>
          <a:xfrm>
            <a:off x="594360" y="6053328"/>
            <a:ext cx="10972800" cy="228600"/>
          </a:xfrm>
          <a:prstGeom prst="rect">
            <a:avLst/>
          </a:prstGeom>
          <a:noFill/>
        </p:spPr>
        <p:txBody>
          <a:bodyPr wrap="square" lIns="0" rIns="0" tIns="0" bIns="0">
            <a:spAutoFit/>
          </a:bodyPr>
          <a:lstStyle/>
          <a:p>
            <a:pPr>
              <a:spcAft>
                <a:spcPts val="500"/>
              </a:spcAft>
              <a:defRPr sz="1200" b="0">
                <a:solidFill>
                  <a:srgbClr val="C5D7E1"/>
                </a:solidFill>
                <a:latin typeface="DejaVu Sans"/>
              </a:defRPr>
            </a:pPr>
            <a:r>
              <a:t>Also checks missing citations and search paths. Passing is not a legal-accuracy guarantee.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365760"/>
            <a:ext cx="10058400" cy="274320"/>
          </a:xfrm>
          <a:prstGeom prst="rect">
            <a:avLst/>
          </a:prstGeom>
          <a:noFill/>
        </p:spPr>
        <p:txBody>
          <a:bodyPr wrap="square" lIns="0" rIns="0" tIns="0" bIns="0">
            <a:spAutoFit/>
          </a:bodyPr>
          <a:lstStyle/>
          <a:p>
            <a:pPr>
              <a:spcAft>
                <a:spcPts val="500"/>
              </a:spcAft>
              <a:defRPr sz="1100" b="1">
                <a:solidFill>
                  <a:srgbClr val="087F76"/>
                </a:solidFill>
                <a:latin typeface="DejaVu Sans"/>
              </a:defRPr>
            </a:pPr>
            <a:r>
              <a:t>PROPOSED NEXT STEPS</a:t>
            </a:r>
          </a:p>
        </p:txBody>
      </p:sp>
      <p:sp>
        <p:nvSpPr>
          <p:cNvPr id="3" name="TextBox 2"/>
          <p:cNvSpPr txBox="1"/>
          <p:nvPr/>
        </p:nvSpPr>
        <p:spPr>
          <a:xfrm>
            <a:off x="594360" y="950976"/>
            <a:ext cx="10972800" cy="960120"/>
          </a:xfrm>
          <a:prstGeom prst="rect">
            <a:avLst/>
          </a:prstGeom>
          <a:noFill/>
        </p:spPr>
        <p:txBody>
          <a:bodyPr wrap="square" lIns="0" rIns="0" tIns="0" bIns="0">
            <a:spAutoFit/>
          </a:bodyPr>
          <a:lstStyle/>
          <a:p>
            <a:pPr>
              <a:spcAft>
                <a:spcPts val="500"/>
              </a:spcAft>
              <a:defRPr sz="3000" b="1">
                <a:solidFill>
                  <a:srgbClr val="142C43"/>
                </a:solidFill>
                <a:latin typeface="DejaVu Sans"/>
              </a:defRPr>
            </a:pPr>
            <a:r>
              <a:t>How I would keep it reliable in real use</a:t>
            </a:r>
          </a:p>
        </p:txBody>
      </p:sp>
      <p:sp>
        <p:nvSpPr>
          <p:cNvPr id="4" name="TextBox 3"/>
          <p:cNvSpPr txBox="1"/>
          <p:nvPr/>
        </p:nvSpPr>
        <p:spPr>
          <a:xfrm>
            <a:off x="594360" y="1938528"/>
            <a:ext cx="10972800" cy="548640"/>
          </a:xfrm>
          <a:prstGeom prst="rect">
            <a:avLst/>
          </a:prstGeom>
          <a:noFill/>
        </p:spPr>
        <p:txBody>
          <a:bodyPr wrap="square" lIns="0" rIns="0" tIns="0" bIns="0">
            <a:spAutoFit/>
          </a:bodyPr>
          <a:lstStyle/>
          <a:p>
            <a:pPr>
              <a:spcAft>
                <a:spcPts val="500"/>
              </a:spcAft>
              <a:defRPr sz="1500" b="0">
                <a:solidFill>
                  <a:srgbClr val="62798A"/>
                </a:solidFill>
                <a:latin typeface="DejaVu Sans"/>
              </a:defRPr>
            </a:pPr>
            <a:r>
              <a:t>Start with one approved workflow, then expand only after review.</a:t>
            </a:r>
          </a:p>
        </p:txBody>
      </p:sp>
      <p:sp>
        <p:nvSpPr>
          <p:cNvPr id="5" name="TextBox 4"/>
          <p:cNvSpPr txBox="1"/>
          <p:nvPr/>
        </p:nvSpPr>
        <p:spPr>
          <a:xfrm>
            <a:off x="594360" y="6519672"/>
            <a:ext cx="9966960" cy="182880"/>
          </a:xfrm>
          <a:prstGeom prst="rect">
            <a:avLst/>
          </a:prstGeom>
          <a:noFill/>
        </p:spPr>
        <p:txBody>
          <a:bodyPr wrap="square" lIns="0" rIns="0" tIns="0" bIns="0">
            <a:spAutoFit/>
          </a:bodyPr>
          <a:lstStyle/>
          <a:p>
            <a:pPr>
              <a:spcAft>
                <a:spcPts val="500"/>
              </a:spcAft>
              <a:defRPr sz="800" b="0">
                <a:solidFill>
                  <a:srgbClr val="62798A"/>
                </a:solidFill>
                <a:latin typeface="DejaVu Sans"/>
              </a:defRPr>
            </a:pPr>
            <a:r>
              <a:t>Proposed improvements based on the brief and demo limitations, not verified shortcomings in the existing company system.</a:t>
            </a:r>
          </a:p>
        </p:txBody>
      </p:sp>
      <p:sp>
        <p:nvSpPr>
          <p:cNvPr id="6" name="TextBox 5"/>
          <p:cNvSpPr txBox="1"/>
          <p:nvPr/>
        </p:nvSpPr>
        <p:spPr>
          <a:xfrm>
            <a:off x="10835640" y="6446520"/>
            <a:ext cx="731520" cy="274320"/>
          </a:xfrm>
          <a:prstGeom prst="rect">
            <a:avLst/>
          </a:prstGeom>
          <a:noFill/>
        </p:spPr>
        <p:txBody>
          <a:bodyPr wrap="square" lIns="0" rIns="0" tIns="0" bIns="0">
            <a:spAutoFit/>
          </a:bodyPr>
          <a:lstStyle/>
          <a:p>
            <a:pPr>
              <a:spcAft>
                <a:spcPts val="500"/>
              </a:spcAft>
              <a:defRPr sz="1000" b="0">
                <a:solidFill>
                  <a:srgbClr val="62798A"/>
                </a:solidFill>
                <a:latin typeface="DejaVu Sans"/>
              </a:defRPr>
            </a:pPr>
            <a:r>
              <a:t>07 / 07</a:t>
            </a:r>
          </a:p>
        </p:txBody>
      </p:sp>
      <p:sp>
        <p:nvSpPr>
          <p:cNvPr id="7" name="TextBox 6"/>
          <p:cNvSpPr txBox="1"/>
          <p:nvPr/>
        </p:nvSpPr>
        <p:spPr>
          <a:xfrm>
            <a:off x="667512" y="2761488"/>
            <a:ext cx="2011680" cy="256032"/>
          </a:xfrm>
          <a:prstGeom prst="rect">
            <a:avLst/>
          </a:prstGeom>
          <a:noFill/>
        </p:spPr>
        <p:txBody>
          <a:bodyPr wrap="square" lIns="0" rIns="0" tIns="0" bIns="0">
            <a:spAutoFit/>
          </a:bodyPr>
          <a:lstStyle/>
          <a:p>
            <a:pPr>
              <a:spcAft>
                <a:spcPts val="500"/>
              </a:spcAft>
              <a:defRPr sz="1000" b="1">
                <a:solidFill>
                  <a:srgbClr val="087F76"/>
                </a:solidFill>
                <a:latin typeface="DejaVu Sans"/>
              </a:defRPr>
            </a:pPr>
            <a:r>
              <a:t>BEFORE THE PILOT</a:t>
            </a:r>
          </a:p>
        </p:txBody>
      </p:sp>
      <p:sp>
        <p:nvSpPr>
          <p:cNvPr id="8" name="Rectangle 7"/>
          <p:cNvSpPr/>
          <p:nvPr/>
        </p:nvSpPr>
        <p:spPr>
          <a:xfrm>
            <a:off x="2880360" y="2688336"/>
            <a:ext cx="32004" cy="731520"/>
          </a:xfrm>
          <a:prstGeom prst="rect">
            <a:avLst/>
          </a:prstGeom>
          <a:solidFill>
            <a:srgbClr val="D8E3E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3163824" y="2688336"/>
            <a:ext cx="3602736" cy="365760"/>
          </a:xfrm>
          <a:prstGeom prst="rect">
            <a:avLst/>
          </a:prstGeom>
          <a:noFill/>
        </p:spPr>
        <p:txBody>
          <a:bodyPr wrap="square" lIns="0" rIns="0" tIns="0" bIns="0">
            <a:spAutoFit/>
          </a:bodyPr>
          <a:lstStyle/>
          <a:p>
            <a:pPr>
              <a:spcAft>
                <a:spcPts val="500"/>
              </a:spcAft>
              <a:defRPr sz="1800" b="1">
                <a:solidFill>
                  <a:srgbClr val="142C43"/>
                </a:solidFill>
                <a:latin typeface="DejaVu Sans"/>
              </a:defRPr>
            </a:pPr>
            <a:r>
              <a:t>Use approved material</a:t>
            </a:r>
          </a:p>
        </p:txBody>
      </p:sp>
      <p:sp>
        <p:nvSpPr>
          <p:cNvPr id="10" name="TextBox 9"/>
          <p:cNvSpPr txBox="1"/>
          <p:nvPr/>
        </p:nvSpPr>
        <p:spPr>
          <a:xfrm>
            <a:off x="7040880" y="2697479"/>
            <a:ext cx="4389120" cy="640080"/>
          </a:xfrm>
          <a:prstGeom prst="rect">
            <a:avLst/>
          </a:prstGeom>
          <a:noFill/>
        </p:spPr>
        <p:txBody>
          <a:bodyPr wrap="square" lIns="0" rIns="0" tIns="0" bIns="0">
            <a:spAutoFit/>
          </a:bodyPr>
          <a:lstStyle/>
          <a:p>
            <a:pPr>
              <a:spcAft>
                <a:spcPts val="500"/>
              </a:spcAft>
              <a:defRPr sz="1400" b="0">
                <a:solidFill>
                  <a:srgbClr val="21394D"/>
                </a:solidFill>
                <a:latin typeface="DejaVu Sans"/>
              </a:defRPr>
            </a:pPr>
            <a:r>
              <a:t>Verified full sources, agreed rules and authorised example cases.</a:t>
            </a:r>
          </a:p>
        </p:txBody>
      </p:sp>
      <p:sp>
        <p:nvSpPr>
          <p:cNvPr id="11" name="TextBox 10"/>
          <p:cNvSpPr txBox="1"/>
          <p:nvPr/>
        </p:nvSpPr>
        <p:spPr>
          <a:xfrm>
            <a:off x="667512" y="3703320"/>
            <a:ext cx="2011680" cy="256032"/>
          </a:xfrm>
          <a:prstGeom prst="rect">
            <a:avLst/>
          </a:prstGeom>
          <a:noFill/>
        </p:spPr>
        <p:txBody>
          <a:bodyPr wrap="square" lIns="0" rIns="0" tIns="0" bIns="0">
            <a:spAutoFit/>
          </a:bodyPr>
          <a:lstStyle/>
          <a:p>
            <a:pPr>
              <a:spcAft>
                <a:spcPts val="500"/>
              </a:spcAft>
              <a:defRPr sz="1000" b="1">
                <a:solidFill>
                  <a:srgbClr val="087F76"/>
                </a:solidFill>
                <a:latin typeface="DejaVu Sans"/>
              </a:defRPr>
            </a:pPr>
            <a:r>
              <a:t>WITH EACH CHANGE</a:t>
            </a:r>
          </a:p>
        </p:txBody>
      </p:sp>
      <p:sp>
        <p:nvSpPr>
          <p:cNvPr id="12" name="Rectangle 11"/>
          <p:cNvSpPr/>
          <p:nvPr/>
        </p:nvSpPr>
        <p:spPr>
          <a:xfrm>
            <a:off x="2880360" y="3630168"/>
            <a:ext cx="32004" cy="731520"/>
          </a:xfrm>
          <a:prstGeom prst="rect">
            <a:avLst/>
          </a:prstGeom>
          <a:solidFill>
            <a:srgbClr val="D8E3E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3163824" y="3630168"/>
            <a:ext cx="3602736" cy="365760"/>
          </a:xfrm>
          <a:prstGeom prst="rect">
            <a:avLst/>
          </a:prstGeom>
          <a:noFill/>
        </p:spPr>
        <p:txBody>
          <a:bodyPr wrap="square" lIns="0" rIns="0" tIns="0" bIns="0">
            <a:spAutoFit/>
          </a:bodyPr>
          <a:lstStyle/>
          <a:p>
            <a:pPr>
              <a:spcAft>
                <a:spcPts val="500"/>
              </a:spcAft>
              <a:defRPr sz="1800" b="1">
                <a:solidFill>
                  <a:srgbClr val="142C43"/>
                </a:solidFill>
                <a:latin typeface="DejaVu Sans"/>
              </a:defRPr>
            </a:pPr>
            <a:r>
              <a:t>Version, test and review</a:t>
            </a:r>
          </a:p>
        </p:txBody>
      </p:sp>
      <p:sp>
        <p:nvSpPr>
          <p:cNvPr id="14" name="TextBox 13"/>
          <p:cNvSpPr txBox="1"/>
          <p:nvPr/>
        </p:nvSpPr>
        <p:spPr>
          <a:xfrm>
            <a:off x="7040880" y="3639311"/>
            <a:ext cx="4389120" cy="640080"/>
          </a:xfrm>
          <a:prstGeom prst="rect">
            <a:avLst/>
          </a:prstGeom>
          <a:noFill/>
        </p:spPr>
        <p:txBody>
          <a:bodyPr wrap="square" lIns="0" rIns="0" tIns="0" bIns="0">
            <a:spAutoFit/>
          </a:bodyPr>
          <a:lstStyle/>
          <a:p>
            <a:pPr>
              <a:spcAft>
                <a:spcPts val="500"/>
              </a:spcAft>
              <a:defRPr sz="1400" b="0">
                <a:solidFill>
                  <a:srgbClr val="21394D"/>
                </a:solidFill>
                <a:latin typeface="DejaVu Sans"/>
              </a:defRPr>
            </a:pPr>
            <a:r>
              <a:t>Rerun agreed cases; explain intended and unexpected differences.</a:t>
            </a:r>
          </a:p>
        </p:txBody>
      </p:sp>
      <p:sp>
        <p:nvSpPr>
          <p:cNvPr id="15" name="TextBox 14"/>
          <p:cNvSpPr txBox="1"/>
          <p:nvPr/>
        </p:nvSpPr>
        <p:spPr>
          <a:xfrm>
            <a:off x="667512" y="4645152"/>
            <a:ext cx="2011680" cy="256032"/>
          </a:xfrm>
          <a:prstGeom prst="rect">
            <a:avLst/>
          </a:prstGeom>
          <a:noFill/>
        </p:spPr>
        <p:txBody>
          <a:bodyPr wrap="square" lIns="0" rIns="0" tIns="0" bIns="0">
            <a:spAutoFit/>
          </a:bodyPr>
          <a:lstStyle/>
          <a:p>
            <a:pPr>
              <a:spcAft>
                <a:spcPts val="500"/>
              </a:spcAft>
              <a:defRPr sz="1000" b="1">
                <a:solidFill>
                  <a:srgbClr val="087F76"/>
                </a:solidFill>
                <a:latin typeface="DejaVu Sans"/>
              </a:defRPr>
            </a:pPr>
            <a:r>
              <a:t>BEFORE EXPANDING</a:t>
            </a:r>
          </a:p>
        </p:txBody>
      </p:sp>
      <p:sp>
        <p:nvSpPr>
          <p:cNvPr id="16" name="Rectangle 15"/>
          <p:cNvSpPr/>
          <p:nvPr/>
        </p:nvSpPr>
        <p:spPr>
          <a:xfrm>
            <a:off x="2880360" y="4572000"/>
            <a:ext cx="32004" cy="731520"/>
          </a:xfrm>
          <a:prstGeom prst="rect">
            <a:avLst/>
          </a:prstGeom>
          <a:solidFill>
            <a:srgbClr val="D8E3E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3163824" y="4572000"/>
            <a:ext cx="3602736" cy="365760"/>
          </a:xfrm>
          <a:prstGeom prst="rect">
            <a:avLst/>
          </a:prstGeom>
          <a:noFill/>
        </p:spPr>
        <p:txBody>
          <a:bodyPr wrap="square" lIns="0" rIns="0" tIns="0" bIns="0">
            <a:spAutoFit/>
          </a:bodyPr>
          <a:lstStyle/>
          <a:p>
            <a:pPr>
              <a:spcAft>
                <a:spcPts val="500"/>
              </a:spcAft>
              <a:defRPr sz="1800" b="1">
                <a:solidFill>
                  <a:srgbClr val="142C43"/>
                </a:solidFill>
                <a:latin typeface="DejaVu Sans"/>
              </a:defRPr>
            </a:pPr>
            <a:r>
              <a:t>Evaluate the weak points</a:t>
            </a:r>
          </a:p>
        </p:txBody>
      </p:sp>
      <p:sp>
        <p:nvSpPr>
          <p:cNvPr id="18" name="TextBox 17"/>
          <p:cNvSpPr txBox="1"/>
          <p:nvPr/>
        </p:nvSpPr>
        <p:spPr>
          <a:xfrm>
            <a:off x="7040880" y="4581144"/>
            <a:ext cx="4389120" cy="640080"/>
          </a:xfrm>
          <a:prstGeom prst="rect">
            <a:avLst/>
          </a:prstGeom>
          <a:noFill/>
        </p:spPr>
        <p:txBody>
          <a:bodyPr wrap="square" lIns="0" rIns="0" tIns="0" bIns="0">
            <a:spAutoFit/>
          </a:bodyPr>
          <a:lstStyle/>
          <a:p>
            <a:pPr>
              <a:spcAft>
                <a:spcPts val="500"/>
              </a:spcAft>
              <a:defRPr sz="1400" b="0">
                <a:solidFill>
                  <a:srgbClr val="21394D"/>
                </a:solidFill>
                <a:latin typeface="DejaVu Sans"/>
              </a:defRPr>
            </a:pPr>
            <a:r>
              <a:t>Measure retrieval and citation support; keep legal decisions with reviewers.</a:t>
            </a:r>
          </a:p>
        </p:txBody>
      </p:sp>
      <p:sp>
        <p:nvSpPr>
          <p:cNvPr id="19" name="Rounded Rectangle 18"/>
          <p:cNvSpPr/>
          <p:nvPr/>
        </p:nvSpPr>
        <p:spPr>
          <a:xfrm>
            <a:off x="594360" y="5769864"/>
            <a:ext cx="11000232" cy="502920"/>
          </a:xfrm>
          <a:prstGeom prst="roundRect">
            <a:avLst>
              <a:gd name="adj" fmla="val 6000"/>
            </a:avLst>
          </a:prstGeom>
          <a:solidFill>
            <a:srgbClr val="E9F4F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832104" y="5916168"/>
            <a:ext cx="10515600" cy="274320"/>
          </a:xfrm>
          <a:prstGeom prst="rect">
            <a:avLst/>
          </a:prstGeom>
          <a:noFill/>
        </p:spPr>
        <p:txBody>
          <a:bodyPr wrap="square" lIns="0" rIns="0" tIns="0" bIns="0">
            <a:spAutoFit/>
          </a:bodyPr>
          <a:lstStyle/>
          <a:p>
            <a:pPr>
              <a:spcAft>
                <a:spcPts val="500"/>
              </a:spcAft>
              <a:defRPr sz="1400" b="1">
                <a:solidFill>
                  <a:srgbClr val="21394D"/>
                </a:solidFill>
                <a:latin typeface="DejaVu Sans"/>
              </a:defRPr>
            </a:pPr>
            <a:r>
              <a:t>Which workflow would be the most useful starting point for this internship?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Docitalis Interview — Role, Experience and UkilRAG</dc:title>
  <dc:subject>Seven-slide interview discussion with varied visual layouts</dc:subject>
  <dc:creator>Nafis Ismam</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