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35–40 seconds. “I understand this internship as turning lawyers’ knowledge into explicit software rules. I would start by learning the workflow, recording the conditions and exceptions, then helping build and test the approved process. Rules control document assembly; AI supports review, while legal decisions remain with lawyers.” The brief names Docitalis and services connected with Aprigliano. This slide does not claim to describe their existing architecture. Public context: https://docitalis.com/.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40–45 seconds. “In the earlier research, my contribution was literature review, problem identification and initial design. A practical concern was confusing Bangladeshi and Indian legal provisions. I helped explore section-level organisation and retaining parent Act metadata so evidence could be traced to its source. We also considered passages related to a question but insufficient to answer it fully. I then moved to LLM inference work while a sub-team continued the legal project.” Distinguish personally completed work from group work. Do not imply ownership of the complete published pipeline. Act names alone are not sufficient jurisdiction metadata; full official sources and versions also matter.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45 seconds. “I prepared this recent demonstration to explore requirements from the role. The fictional case requests the procedural route and has records. The engine validates input, checks conditions and prerequisites, rejects conflicting selections, fills prepared paragraphs and returns a decision record.” For this case it selects jurisdiction, facts, procedural defense, records and relief. M5 needs both records and selected M3. Same inputs and rule version give the same output. The prototype is not the original research system. Describe implementation assistance and your own review/testing accurately when explaining who built each part. The legacy limitation_defense flag requests a procedural example; it does not establish a legal deadline violation.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45 seconds. “The review checks required citation markers and manually recorded judgment notes. A newer note flags selected modules linked to that source. It does not discover judgments online or assess legal applicability.” The four test groups check 25-run reproducibility, expected module order and citations on four fictional cases, rejection of configured conflicting routes, and warnings after an injected simulated judgment. Citation and retrieval assertions also run. All groups passed. This checks agreed software behaviour, not universal legal correctness. The source search uses TF-IDF with an uncalibrated 0.80 gate; exact-text examples demonstrate the mechanism, not paraphrase accuracy. There is no generative review model in this notebook.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30–40 seconds. “With the team, I would start from one approved workflow, clarify its rules and exceptions, agree on examples, then build a small pilot and inspect the results with reviewers. I would learn the existing system before choosing new tools.” The demo uses summaries and fictional cases, not real lawyer-approved histories. It is not a production backend, SQL database or implemented appeals workflow. For a broader RAG discussion, LearnRAG is a separate demo with actual MiniLM/Qwen outputs and documented limits. Close with the question on the slide and listen. Ask about supervision, code review and legal approval if these have not been discussed. No percentage improvement is promised without a baseline.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nafismam/UkilRAG" TargetMode="External"/><Relationship Id="rId3"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1797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94360" y="365760"/>
            <a:ext cx="10972800" cy="320040"/>
          </a:xfrm>
          <a:prstGeom prst="rect">
            <a:avLst/>
          </a:prstGeom>
          <a:noFill/>
        </p:spPr>
        <p:txBody>
          <a:bodyPr wrap="square" tIns="0" bIns="0" lIns="0" rIns="0">
            <a:spAutoFit/>
          </a:bodyPr>
          <a:lstStyle/>
          <a:p>
            <a:pPr>
              <a:spcAft>
                <a:spcPts val="1000"/>
              </a:spcAft>
              <a:defRPr sz="1100" b="1">
                <a:solidFill>
                  <a:srgbClr val="117970"/>
                </a:solidFill>
                <a:latin typeface="DejaVu Sans"/>
              </a:defRPr>
            </a:pPr>
            <a:r>
              <a:t>NAFIS ISMAM · MY UNDERSTANDING OF THE ROLE</a:t>
            </a:r>
          </a:p>
        </p:txBody>
      </p:sp>
      <p:sp>
        <p:nvSpPr>
          <p:cNvPr id="4" name="TextBox 3"/>
          <p:cNvSpPr txBox="1"/>
          <p:nvPr/>
        </p:nvSpPr>
        <p:spPr>
          <a:xfrm>
            <a:off x="594360" y="960120"/>
            <a:ext cx="10972800" cy="960120"/>
          </a:xfrm>
          <a:prstGeom prst="rect">
            <a:avLst/>
          </a:prstGeom>
          <a:noFill/>
        </p:spPr>
        <p:txBody>
          <a:bodyPr wrap="square" tIns="0" bIns="0" lIns="0" rIns="0">
            <a:spAutoFit/>
          </a:bodyPr>
          <a:lstStyle/>
          <a:p>
            <a:pPr>
              <a:spcAft>
                <a:spcPts val="1000"/>
              </a:spcAft>
              <a:defRPr sz="3100" b="1">
                <a:solidFill>
                  <a:srgbClr val="172F46"/>
                </a:solidFill>
                <a:latin typeface="DejaVu Sans"/>
              </a:defRPr>
            </a:pPr>
            <a:r>
              <a:t>Turn approved legal knowledge into reliable software</a:t>
            </a:r>
          </a:p>
        </p:txBody>
      </p:sp>
      <p:sp>
        <p:nvSpPr>
          <p:cNvPr id="5" name="TextBox 4"/>
          <p:cNvSpPr txBox="1"/>
          <p:nvPr/>
        </p:nvSpPr>
        <p:spPr>
          <a:xfrm>
            <a:off x="594360" y="1956816"/>
            <a:ext cx="10972800" cy="530352"/>
          </a:xfrm>
          <a:prstGeom prst="rect">
            <a:avLst/>
          </a:prstGeom>
          <a:noFill/>
        </p:spPr>
        <p:txBody>
          <a:bodyPr wrap="square" tIns="0" bIns="0" lIns="0" rIns="0">
            <a:spAutoFit/>
          </a:bodyPr>
          <a:lstStyle/>
          <a:p>
            <a:pPr>
              <a:spcAft>
                <a:spcPts val="1000"/>
              </a:spcAft>
              <a:defRPr sz="1600" b="0">
                <a:solidFill>
                  <a:srgbClr val="607482"/>
                </a:solidFill>
                <a:latin typeface="DejaVu Sans"/>
              </a:defRPr>
            </a:pPr>
            <a:r>
              <a:t>Learn the legal workflow before deciding what to automate.</a:t>
            </a:r>
          </a:p>
        </p:txBody>
      </p:sp>
      <p:sp>
        <p:nvSpPr>
          <p:cNvPr id="6" name="Rectangle 5"/>
          <p:cNvSpPr/>
          <p:nvPr/>
        </p:nvSpPr>
        <p:spPr>
          <a:xfrm>
            <a:off x="594360" y="6409944"/>
            <a:ext cx="11000232" cy="10972"/>
          </a:xfrm>
          <a:prstGeom prst="rect">
            <a:avLst/>
          </a:prstGeom>
          <a:solidFill>
            <a:srgbClr val="DCE5EA"/>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594360" y="6537960"/>
            <a:ext cx="9875520" cy="210312"/>
          </a:xfrm>
          <a:prstGeom prst="rect">
            <a:avLst/>
          </a:prstGeom>
          <a:noFill/>
        </p:spPr>
        <p:txBody>
          <a:bodyPr wrap="square" tIns="0" bIns="0" lIns="0" rIns="0">
            <a:spAutoFit/>
          </a:bodyPr>
          <a:lstStyle/>
          <a:p>
            <a:pPr>
              <a:spcAft>
                <a:spcPts val="1000"/>
              </a:spcAft>
              <a:defRPr sz="850" b="0">
                <a:solidFill>
                  <a:srgbClr val="607482"/>
                </a:solidFill>
                <a:latin typeface="DejaVu Sans"/>
              </a:defRPr>
            </a:pPr>
            <a:r>
              <a:t>Basis: supplied internship posting. This is my understanding, not an assessment of the existing system.</a:t>
            </a:r>
          </a:p>
        </p:txBody>
      </p:sp>
      <p:sp>
        <p:nvSpPr>
          <p:cNvPr id="8" name="TextBox 7"/>
          <p:cNvSpPr txBox="1"/>
          <p:nvPr/>
        </p:nvSpPr>
        <p:spPr>
          <a:xfrm>
            <a:off x="10881360" y="6501384"/>
            <a:ext cx="731520" cy="274320"/>
          </a:xfrm>
          <a:prstGeom prst="rect">
            <a:avLst/>
          </a:prstGeom>
          <a:noFill/>
        </p:spPr>
        <p:txBody>
          <a:bodyPr wrap="square" tIns="0" bIns="0" lIns="0" rIns="0">
            <a:spAutoFit/>
          </a:bodyPr>
          <a:lstStyle/>
          <a:p>
            <a:pPr>
              <a:spcAft>
                <a:spcPts val="1000"/>
              </a:spcAft>
              <a:defRPr sz="1000" b="0">
                <a:solidFill>
                  <a:srgbClr val="607482"/>
                </a:solidFill>
                <a:latin typeface="DejaVu Sans"/>
              </a:defRPr>
            </a:pPr>
            <a:r>
              <a:t>01 / 05</a:t>
            </a:r>
          </a:p>
        </p:txBody>
      </p:sp>
      <p:sp>
        <p:nvSpPr>
          <p:cNvPr id="9" name="Rounded Rectangle 8"/>
          <p:cNvSpPr/>
          <p:nvPr/>
        </p:nvSpPr>
        <p:spPr>
          <a:xfrm>
            <a:off x="594360" y="2852928"/>
            <a:ext cx="3493008" cy="2203704"/>
          </a:xfrm>
          <a:prstGeom prst="roundRect">
            <a:avLst>
              <a:gd name="adj" fmla="val 8000"/>
            </a:avLst>
          </a:prstGeom>
          <a:solidFill>
            <a:srgbClr val="F1F5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850392" y="3081528"/>
            <a:ext cx="2980944" cy="329184"/>
          </a:xfrm>
          <a:prstGeom prst="rect">
            <a:avLst/>
          </a:prstGeom>
          <a:noFill/>
        </p:spPr>
        <p:txBody>
          <a:bodyPr wrap="square" tIns="0" bIns="0" lIns="0" rIns="0">
            <a:spAutoFit/>
          </a:bodyPr>
          <a:lstStyle/>
          <a:p>
            <a:pPr>
              <a:spcAft>
                <a:spcPts val="1000"/>
              </a:spcAft>
              <a:defRPr sz="1200" b="1">
                <a:solidFill>
                  <a:srgbClr val="117970"/>
                </a:solidFill>
                <a:latin typeface="DejaVu Sans"/>
              </a:defRPr>
            </a:pPr>
            <a:r>
              <a:t>LEARN</a:t>
            </a:r>
          </a:p>
        </p:txBody>
      </p:sp>
      <p:sp>
        <p:nvSpPr>
          <p:cNvPr id="11" name="TextBox 10"/>
          <p:cNvSpPr txBox="1"/>
          <p:nvPr/>
        </p:nvSpPr>
        <p:spPr>
          <a:xfrm>
            <a:off x="850392" y="3685032"/>
            <a:ext cx="2980944" cy="1271016"/>
          </a:xfrm>
          <a:prstGeom prst="rect">
            <a:avLst/>
          </a:prstGeom>
          <a:noFill/>
        </p:spPr>
        <p:txBody>
          <a:bodyPr wrap="square" tIns="0" bIns="0" lIns="0" rIns="0">
            <a:spAutoFit/>
          </a:bodyPr>
          <a:lstStyle/>
          <a:p>
            <a:pPr>
              <a:spcAft>
                <a:spcPts val="1000"/>
              </a:spcAft>
              <a:defRPr sz="2000" b="1">
                <a:solidFill>
                  <a:srgbClr val="172F46"/>
                </a:solidFill>
                <a:latin typeface="DejaVu Sans"/>
              </a:defRPr>
            </a:pPr>
            <a:r>
              <a:t>Ask why each</a:t>
            </a:r>
          </a:p>
          <a:p>
            <a:pPr>
              <a:spcAft>
                <a:spcPts val="1000"/>
              </a:spcAft>
              <a:defRPr sz="2000" b="1">
                <a:solidFill>
                  <a:srgbClr val="172F46"/>
                </a:solidFill>
                <a:latin typeface="DejaVu Sans"/>
              </a:defRPr>
            </a:pPr>
            <a:r>
              <a:t>paragraph is used.</a:t>
            </a:r>
          </a:p>
        </p:txBody>
      </p:sp>
      <p:sp>
        <p:nvSpPr>
          <p:cNvPr id="12" name="Rounded Rectangle 11"/>
          <p:cNvSpPr/>
          <p:nvPr/>
        </p:nvSpPr>
        <p:spPr>
          <a:xfrm>
            <a:off x="4343400" y="2852928"/>
            <a:ext cx="3493008" cy="2203704"/>
          </a:xfrm>
          <a:prstGeom prst="roundRect">
            <a:avLst>
              <a:gd name="adj" fmla="val 8000"/>
            </a:avLst>
          </a:prstGeom>
          <a:solidFill>
            <a:srgbClr val="F1F5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599432" y="3081528"/>
            <a:ext cx="2980944" cy="329184"/>
          </a:xfrm>
          <a:prstGeom prst="rect">
            <a:avLst/>
          </a:prstGeom>
          <a:noFill/>
        </p:spPr>
        <p:txBody>
          <a:bodyPr wrap="square" tIns="0" bIns="0" lIns="0" rIns="0">
            <a:spAutoFit/>
          </a:bodyPr>
          <a:lstStyle/>
          <a:p>
            <a:pPr>
              <a:spcAft>
                <a:spcPts val="1000"/>
              </a:spcAft>
              <a:defRPr sz="1200" b="1">
                <a:solidFill>
                  <a:srgbClr val="117970"/>
                </a:solidFill>
                <a:latin typeface="DejaVu Sans"/>
              </a:defRPr>
            </a:pPr>
            <a:r>
              <a:t>STRUCTURE</a:t>
            </a:r>
          </a:p>
        </p:txBody>
      </p:sp>
      <p:sp>
        <p:nvSpPr>
          <p:cNvPr id="14" name="TextBox 13"/>
          <p:cNvSpPr txBox="1"/>
          <p:nvPr/>
        </p:nvSpPr>
        <p:spPr>
          <a:xfrm>
            <a:off x="4599432" y="3685032"/>
            <a:ext cx="2980944" cy="1271016"/>
          </a:xfrm>
          <a:prstGeom prst="rect">
            <a:avLst/>
          </a:prstGeom>
          <a:noFill/>
        </p:spPr>
        <p:txBody>
          <a:bodyPr wrap="square" tIns="0" bIns="0" lIns="0" rIns="0">
            <a:spAutoFit/>
          </a:bodyPr>
          <a:lstStyle/>
          <a:p>
            <a:pPr>
              <a:spcAft>
                <a:spcPts val="1000"/>
              </a:spcAft>
              <a:defRPr sz="2000" b="1">
                <a:solidFill>
                  <a:srgbClr val="172F46"/>
                </a:solidFill>
                <a:latin typeface="DejaVu Sans"/>
              </a:defRPr>
            </a:pPr>
            <a:r>
              <a:t>Record conditions,</a:t>
            </a:r>
          </a:p>
          <a:p>
            <a:pPr>
              <a:spcAft>
                <a:spcPts val="1000"/>
              </a:spcAft>
              <a:defRPr sz="2000" b="1">
                <a:solidFill>
                  <a:srgbClr val="172F46"/>
                </a:solidFill>
                <a:latin typeface="DejaVu Sans"/>
              </a:defRPr>
            </a:pPr>
            <a:r>
              <a:t>exceptions and sources.</a:t>
            </a:r>
          </a:p>
        </p:txBody>
      </p:sp>
      <p:sp>
        <p:nvSpPr>
          <p:cNvPr id="15" name="Rounded Rectangle 14"/>
          <p:cNvSpPr/>
          <p:nvPr/>
        </p:nvSpPr>
        <p:spPr>
          <a:xfrm>
            <a:off x="8092440" y="2852928"/>
            <a:ext cx="3493008" cy="2203704"/>
          </a:xfrm>
          <a:prstGeom prst="roundRect">
            <a:avLst>
              <a:gd name="adj" fmla="val 8000"/>
            </a:avLst>
          </a:prstGeom>
          <a:solidFill>
            <a:srgbClr val="F1F5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8348471" y="3081528"/>
            <a:ext cx="2980944" cy="329184"/>
          </a:xfrm>
          <a:prstGeom prst="rect">
            <a:avLst/>
          </a:prstGeom>
          <a:noFill/>
        </p:spPr>
        <p:txBody>
          <a:bodyPr wrap="square" tIns="0" bIns="0" lIns="0" rIns="0">
            <a:spAutoFit/>
          </a:bodyPr>
          <a:lstStyle/>
          <a:p>
            <a:pPr>
              <a:spcAft>
                <a:spcPts val="1000"/>
              </a:spcAft>
              <a:defRPr sz="1200" b="1">
                <a:solidFill>
                  <a:srgbClr val="117970"/>
                </a:solidFill>
                <a:latin typeface="DejaVu Sans"/>
              </a:defRPr>
            </a:pPr>
            <a:r>
              <a:t>CHECK</a:t>
            </a:r>
          </a:p>
        </p:txBody>
      </p:sp>
      <p:sp>
        <p:nvSpPr>
          <p:cNvPr id="17" name="TextBox 16"/>
          <p:cNvSpPr txBox="1"/>
          <p:nvPr/>
        </p:nvSpPr>
        <p:spPr>
          <a:xfrm>
            <a:off x="8348471" y="3685032"/>
            <a:ext cx="2980944" cy="1271016"/>
          </a:xfrm>
          <a:prstGeom prst="rect">
            <a:avLst/>
          </a:prstGeom>
          <a:noFill/>
        </p:spPr>
        <p:txBody>
          <a:bodyPr wrap="square" tIns="0" bIns="0" lIns="0" rIns="0">
            <a:spAutoFit/>
          </a:bodyPr>
          <a:lstStyle/>
          <a:p>
            <a:pPr>
              <a:spcAft>
                <a:spcPts val="1000"/>
              </a:spcAft>
              <a:defRPr sz="2000" b="1">
                <a:solidFill>
                  <a:srgbClr val="172F46"/>
                </a:solidFill>
                <a:latin typeface="DejaVu Sans"/>
              </a:defRPr>
            </a:pPr>
            <a:r>
              <a:t>Explain decisions</a:t>
            </a:r>
          </a:p>
          <a:p>
            <a:pPr>
              <a:spcAft>
                <a:spcPts val="1000"/>
              </a:spcAft>
              <a:defRPr sz="2000" b="1">
                <a:solidFill>
                  <a:srgbClr val="172F46"/>
                </a:solidFill>
                <a:latin typeface="DejaVu Sans"/>
              </a:defRPr>
            </a:pPr>
            <a:r>
              <a:t>and test changes.</a:t>
            </a:r>
          </a:p>
        </p:txBody>
      </p:sp>
      <p:sp>
        <p:nvSpPr>
          <p:cNvPr id="18" name="Rectangle 17"/>
          <p:cNvSpPr/>
          <p:nvPr/>
        </p:nvSpPr>
        <p:spPr>
          <a:xfrm>
            <a:off x="594360" y="5559552"/>
            <a:ext cx="11000232" cy="594360"/>
          </a:xfrm>
          <a:prstGeom prst="rect">
            <a:avLst/>
          </a:prstGeom>
          <a:solidFill>
            <a:srgbClr val="172F4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50392" y="5742432"/>
            <a:ext cx="10469880" cy="292608"/>
          </a:xfrm>
          <a:prstGeom prst="rect">
            <a:avLst/>
          </a:prstGeom>
          <a:noFill/>
        </p:spPr>
        <p:txBody>
          <a:bodyPr wrap="square" tIns="0" bIns="0" lIns="0" rIns="0">
            <a:spAutoFit/>
          </a:bodyPr>
          <a:lstStyle/>
          <a:p>
            <a:pPr>
              <a:spcAft>
                <a:spcPts val="1000"/>
              </a:spcAft>
              <a:defRPr sz="1600" b="1">
                <a:solidFill>
                  <a:srgbClr val="FFFFFF"/>
                </a:solidFill>
                <a:latin typeface="DejaVu Sans"/>
              </a:defRPr>
            </a:pPr>
            <a:r>
              <a:t>Lawyers approve the reasoning. Rules assemble. AI supports review.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1797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94360" y="365760"/>
            <a:ext cx="10972800" cy="320040"/>
          </a:xfrm>
          <a:prstGeom prst="rect">
            <a:avLst/>
          </a:prstGeom>
          <a:noFill/>
        </p:spPr>
        <p:txBody>
          <a:bodyPr wrap="square" tIns="0" bIns="0" lIns="0" rIns="0">
            <a:spAutoFit/>
          </a:bodyPr>
          <a:lstStyle/>
          <a:p>
            <a:pPr>
              <a:spcAft>
                <a:spcPts val="1000"/>
              </a:spcAft>
              <a:defRPr sz="1100" b="1">
                <a:solidFill>
                  <a:srgbClr val="117970"/>
                </a:solidFill>
                <a:latin typeface="DejaVu Sans"/>
              </a:defRPr>
            </a:pPr>
            <a:r>
              <a:t>MY PREVIOUS EXPERIENCE</a:t>
            </a:r>
          </a:p>
        </p:txBody>
      </p:sp>
      <p:sp>
        <p:nvSpPr>
          <p:cNvPr id="4" name="TextBox 3"/>
          <p:cNvSpPr txBox="1"/>
          <p:nvPr/>
        </p:nvSpPr>
        <p:spPr>
          <a:xfrm>
            <a:off x="594360" y="960120"/>
            <a:ext cx="10972800" cy="960120"/>
          </a:xfrm>
          <a:prstGeom prst="rect">
            <a:avLst/>
          </a:prstGeom>
          <a:noFill/>
        </p:spPr>
        <p:txBody>
          <a:bodyPr wrap="square" tIns="0" bIns="0" lIns="0" rIns="0">
            <a:spAutoFit/>
          </a:bodyPr>
          <a:lstStyle/>
          <a:p>
            <a:pPr>
              <a:spcAft>
                <a:spcPts val="1000"/>
              </a:spcAft>
              <a:defRPr sz="3100" b="1">
                <a:solidFill>
                  <a:srgbClr val="172F46"/>
                </a:solidFill>
                <a:latin typeface="DejaVu Sans"/>
              </a:defRPr>
            </a:pPr>
            <a:r>
              <a:t>Earlier research: problem finding and initial design</a:t>
            </a:r>
          </a:p>
        </p:txBody>
      </p:sp>
      <p:sp>
        <p:nvSpPr>
          <p:cNvPr id="5" name="TextBox 4"/>
          <p:cNvSpPr txBox="1"/>
          <p:nvPr/>
        </p:nvSpPr>
        <p:spPr>
          <a:xfrm>
            <a:off x="594360" y="1956816"/>
            <a:ext cx="10972800" cy="530352"/>
          </a:xfrm>
          <a:prstGeom prst="rect">
            <a:avLst/>
          </a:prstGeom>
          <a:noFill/>
        </p:spPr>
        <p:txBody>
          <a:bodyPr wrap="square" tIns="0" bIns="0" lIns="0" rIns="0">
            <a:spAutoFit/>
          </a:bodyPr>
          <a:lstStyle/>
          <a:p>
            <a:pPr>
              <a:spcAft>
                <a:spcPts val="1000"/>
              </a:spcAft>
              <a:defRPr sz="1600" b="0">
                <a:solidFill>
                  <a:srgbClr val="607482"/>
                </a:solidFill>
                <a:latin typeface="DejaVu Sans"/>
              </a:defRPr>
            </a:pPr>
            <a:r>
              <a:t>Bangladeshi legal question answering at North South University.</a:t>
            </a:r>
          </a:p>
        </p:txBody>
      </p:sp>
      <p:sp>
        <p:nvSpPr>
          <p:cNvPr id="6" name="Rectangle 5"/>
          <p:cNvSpPr/>
          <p:nvPr/>
        </p:nvSpPr>
        <p:spPr>
          <a:xfrm>
            <a:off x="594360" y="6409944"/>
            <a:ext cx="11000232" cy="10972"/>
          </a:xfrm>
          <a:prstGeom prst="rect">
            <a:avLst/>
          </a:prstGeom>
          <a:solidFill>
            <a:srgbClr val="DCE5EA"/>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594360" y="6537960"/>
            <a:ext cx="9875520" cy="210312"/>
          </a:xfrm>
          <a:prstGeom prst="rect">
            <a:avLst/>
          </a:prstGeom>
          <a:noFill/>
        </p:spPr>
        <p:txBody>
          <a:bodyPr wrap="square" tIns="0" bIns="0" lIns="0" rIns="0">
            <a:spAutoFit/>
          </a:bodyPr>
          <a:lstStyle/>
          <a:p>
            <a:pPr>
              <a:spcAft>
                <a:spcPts val="1000"/>
              </a:spcAft>
              <a:defRPr sz="850" b="0">
                <a:solidFill>
                  <a:srgbClr val="607482"/>
                </a:solidFill>
                <a:latin typeface="DejaVu Sans"/>
              </a:defRPr>
            </a:pPr>
            <a:r>
              <a:t>Earlier contribution based on my account. Recent demo is separate from the published research implementation.</a:t>
            </a:r>
          </a:p>
        </p:txBody>
      </p:sp>
      <p:sp>
        <p:nvSpPr>
          <p:cNvPr id="8" name="TextBox 7"/>
          <p:cNvSpPr txBox="1"/>
          <p:nvPr/>
        </p:nvSpPr>
        <p:spPr>
          <a:xfrm>
            <a:off x="10881360" y="6501384"/>
            <a:ext cx="731520" cy="274320"/>
          </a:xfrm>
          <a:prstGeom prst="rect">
            <a:avLst/>
          </a:prstGeom>
          <a:noFill/>
        </p:spPr>
        <p:txBody>
          <a:bodyPr wrap="square" tIns="0" bIns="0" lIns="0" rIns="0">
            <a:spAutoFit/>
          </a:bodyPr>
          <a:lstStyle/>
          <a:p>
            <a:pPr>
              <a:spcAft>
                <a:spcPts val="1000"/>
              </a:spcAft>
              <a:defRPr sz="1000" b="0">
                <a:solidFill>
                  <a:srgbClr val="607482"/>
                </a:solidFill>
                <a:latin typeface="DejaVu Sans"/>
              </a:defRPr>
            </a:pPr>
            <a:r>
              <a:t>02 / 05</a:t>
            </a:r>
          </a:p>
        </p:txBody>
      </p:sp>
      <p:sp>
        <p:nvSpPr>
          <p:cNvPr id="9" name="Rounded Rectangle 8"/>
          <p:cNvSpPr/>
          <p:nvPr/>
        </p:nvSpPr>
        <p:spPr>
          <a:xfrm>
            <a:off x="594360" y="2834640"/>
            <a:ext cx="5193792" cy="2286000"/>
          </a:xfrm>
          <a:prstGeom prst="roundRect">
            <a:avLst>
              <a:gd name="adj" fmla="val 8000"/>
            </a:avLst>
          </a:prstGeom>
          <a:solidFill>
            <a:srgbClr val="F1F5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850392" y="3063240"/>
            <a:ext cx="4681727" cy="329184"/>
          </a:xfrm>
          <a:prstGeom prst="rect">
            <a:avLst/>
          </a:prstGeom>
          <a:noFill/>
        </p:spPr>
        <p:txBody>
          <a:bodyPr wrap="square" tIns="0" bIns="0" lIns="0" rIns="0">
            <a:spAutoFit/>
          </a:bodyPr>
          <a:lstStyle/>
          <a:p>
            <a:pPr>
              <a:spcAft>
                <a:spcPts val="1000"/>
              </a:spcAft>
              <a:defRPr sz="1200" b="1">
                <a:solidFill>
                  <a:srgbClr val="117970"/>
                </a:solidFill>
                <a:latin typeface="DejaVu Sans"/>
              </a:defRPr>
            </a:pPr>
            <a:r>
              <a:t>MY CONTRIBUTION</a:t>
            </a:r>
          </a:p>
        </p:txBody>
      </p:sp>
      <p:sp>
        <p:nvSpPr>
          <p:cNvPr id="11" name="TextBox 10"/>
          <p:cNvSpPr txBox="1"/>
          <p:nvPr/>
        </p:nvSpPr>
        <p:spPr>
          <a:xfrm>
            <a:off x="850392" y="3666744"/>
            <a:ext cx="4681727" cy="1353312"/>
          </a:xfrm>
          <a:prstGeom prst="rect">
            <a:avLst/>
          </a:prstGeom>
          <a:noFill/>
        </p:spPr>
        <p:txBody>
          <a:bodyPr wrap="square" tIns="0" bIns="0" lIns="0" rIns="0">
            <a:spAutoFit/>
          </a:bodyPr>
          <a:lstStyle/>
          <a:p>
            <a:pPr>
              <a:spcAft>
                <a:spcPts val="1000"/>
              </a:spcAft>
              <a:defRPr sz="2000" b="1">
                <a:solidFill>
                  <a:srgbClr val="172F46"/>
                </a:solidFill>
                <a:latin typeface="DejaVu Sans"/>
              </a:defRPr>
            </a:pPr>
            <a:r>
              <a:t>Literature review</a:t>
            </a:r>
          </a:p>
          <a:p>
            <a:pPr>
              <a:spcAft>
                <a:spcPts val="1000"/>
              </a:spcAft>
              <a:defRPr sz="2000" b="1">
                <a:solidFill>
                  <a:srgbClr val="172F46"/>
                </a:solidFill>
                <a:latin typeface="DejaVu Sans"/>
              </a:defRPr>
            </a:pPr>
            <a:r>
              <a:t>Problem identification</a:t>
            </a:r>
          </a:p>
          <a:p>
            <a:pPr>
              <a:spcAft>
                <a:spcPts val="1000"/>
              </a:spcAft>
              <a:defRPr sz="2000" b="1">
                <a:solidFill>
                  <a:srgbClr val="172F46"/>
                </a:solidFill>
                <a:latin typeface="DejaVu Sans"/>
              </a:defRPr>
            </a:pPr>
            <a:r>
              <a:t>Initial design</a:t>
            </a:r>
          </a:p>
        </p:txBody>
      </p:sp>
      <p:sp>
        <p:nvSpPr>
          <p:cNvPr id="12" name="Rounded Rectangle 11"/>
          <p:cNvSpPr/>
          <p:nvPr/>
        </p:nvSpPr>
        <p:spPr>
          <a:xfrm>
            <a:off x="6391656" y="2834640"/>
            <a:ext cx="5202936" cy="2286000"/>
          </a:xfrm>
          <a:prstGeom prst="roundRect">
            <a:avLst>
              <a:gd name="adj" fmla="val 8000"/>
            </a:avLst>
          </a:prstGeom>
          <a:solidFill>
            <a:srgbClr val="E8F3F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647688" y="3063240"/>
            <a:ext cx="4690872" cy="329184"/>
          </a:xfrm>
          <a:prstGeom prst="rect">
            <a:avLst/>
          </a:prstGeom>
          <a:noFill/>
        </p:spPr>
        <p:txBody>
          <a:bodyPr wrap="square" tIns="0" bIns="0" lIns="0" rIns="0">
            <a:spAutoFit/>
          </a:bodyPr>
          <a:lstStyle/>
          <a:p>
            <a:pPr>
              <a:spcAft>
                <a:spcPts val="1000"/>
              </a:spcAft>
              <a:defRPr sz="1200" b="1">
                <a:solidFill>
                  <a:srgbClr val="117970"/>
                </a:solidFill>
                <a:latin typeface="DejaVu Sans"/>
              </a:defRPr>
            </a:pPr>
            <a:r>
              <a:t>WHAT I LEARNED</a:t>
            </a:r>
          </a:p>
        </p:txBody>
      </p:sp>
      <p:sp>
        <p:nvSpPr>
          <p:cNvPr id="14" name="TextBox 13"/>
          <p:cNvSpPr txBox="1"/>
          <p:nvPr/>
        </p:nvSpPr>
        <p:spPr>
          <a:xfrm>
            <a:off x="6647688" y="3666744"/>
            <a:ext cx="4690872" cy="1353312"/>
          </a:xfrm>
          <a:prstGeom prst="rect">
            <a:avLst/>
          </a:prstGeom>
          <a:noFill/>
        </p:spPr>
        <p:txBody>
          <a:bodyPr wrap="square" tIns="0" bIns="0" lIns="0" rIns="0">
            <a:spAutoFit/>
          </a:bodyPr>
          <a:lstStyle/>
          <a:p>
            <a:pPr>
              <a:spcAft>
                <a:spcPts val="1000"/>
              </a:spcAft>
              <a:defRPr sz="2000" b="1">
                <a:solidFill>
                  <a:srgbClr val="172F46"/>
                </a:solidFill>
                <a:latin typeface="DejaVu Sans"/>
              </a:defRPr>
            </a:pPr>
            <a:r>
              <a:t>Keep sections together</a:t>
            </a:r>
          </a:p>
          <a:p>
            <a:pPr>
              <a:spcAft>
                <a:spcPts val="1000"/>
              </a:spcAft>
              <a:defRPr sz="2000" b="1">
                <a:solidFill>
                  <a:srgbClr val="172F46"/>
                </a:solidFill>
                <a:latin typeface="DejaVu Sans"/>
              </a:defRPr>
            </a:pPr>
            <a:r>
              <a:t>Retain the Act name</a:t>
            </a:r>
          </a:p>
          <a:p>
            <a:pPr>
              <a:spcAft>
                <a:spcPts val="1000"/>
              </a:spcAft>
              <a:defRPr sz="2000" b="1">
                <a:solidFill>
                  <a:srgbClr val="172F46"/>
                </a:solidFill>
                <a:latin typeface="DejaVu Sans"/>
              </a:defRPr>
            </a:pPr>
            <a:r>
              <a:t>Check evidence coverage</a:t>
            </a:r>
          </a:p>
        </p:txBody>
      </p:sp>
      <p:sp>
        <p:nvSpPr>
          <p:cNvPr id="15" name="Rectangle 14"/>
          <p:cNvSpPr/>
          <p:nvPr/>
        </p:nvSpPr>
        <p:spPr>
          <a:xfrm>
            <a:off x="594360" y="5559552"/>
            <a:ext cx="11000232" cy="594360"/>
          </a:xfrm>
          <a:prstGeom prst="rect">
            <a:avLst/>
          </a:prstGeom>
          <a:solidFill>
            <a:srgbClr val="172F4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850392" y="5742432"/>
            <a:ext cx="10469880" cy="292608"/>
          </a:xfrm>
          <a:prstGeom prst="rect">
            <a:avLst/>
          </a:prstGeom>
          <a:noFill/>
        </p:spPr>
        <p:txBody>
          <a:bodyPr wrap="square" tIns="0" bIns="0" lIns="0" rIns="0">
            <a:spAutoFit/>
          </a:bodyPr>
          <a:lstStyle/>
          <a:p>
            <a:pPr>
              <a:spcAft>
                <a:spcPts val="1000"/>
              </a:spcAft>
              <a:defRPr sz="1600" b="1">
                <a:solidFill>
                  <a:srgbClr val="FFFFFF"/>
                </a:solidFill>
                <a:latin typeface="DejaVu Sans"/>
              </a:defRPr>
            </a:pPr>
            <a:r>
              <a:t>I later moved to LLM inference work; another sub-team continued the legal project.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1797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94360" y="365760"/>
            <a:ext cx="10972800" cy="320040"/>
          </a:xfrm>
          <a:prstGeom prst="rect">
            <a:avLst/>
          </a:prstGeom>
          <a:noFill/>
        </p:spPr>
        <p:txBody>
          <a:bodyPr wrap="square" tIns="0" bIns="0" lIns="0" rIns="0">
            <a:spAutoFit/>
          </a:bodyPr>
          <a:lstStyle/>
          <a:p>
            <a:pPr>
              <a:spcAft>
                <a:spcPts val="1000"/>
              </a:spcAft>
              <a:defRPr sz="1100" b="1">
                <a:solidFill>
                  <a:srgbClr val="117970"/>
                </a:solidFill>
                <a:latin typeface="DejaVu Sans"/>
              </a:defRPr>
            </a:pPr>
            <a:r>
              <a:t>PROJECT IMPLEMENTATION · A SEPARATE RECENT DEMO</a:t>
            </a:r>
          </a:p>
        </p:txBody>
      </p:sp>
      <p:sp>
        <p:nvSpPr>
          <p:cNvPr id="4" name="TextBox 3"/>
          <p:cNvSpPr txBox="1"/>
          <p:nvPr/>
        </p:nvSpPr>
        <p:spPr>
          <a:xfrm>
            <a:off x="594360" y="960120"/>
            <a:ext cx="10972800" cy="960120"/>
          </a:xfrm>
          <a:prstGeom prst="rect">
            <a:avLst/>
          </a:prstGeom>
          <a:noFill/>
        </p:spPr>
        <p:txBody>
          <a:bodyPr wrap="square" tIns="0" bIns="0" lIns="0" rIns="0">
            <a:spAutoFit/>
          </a:bodyPr>
          <a:lstStyle/>
          <a:p>
            <a:pPr>
              <a:spcAft>
                <a:spcPts val="1000"/>
              </a:spcAft>
              <a:defRPr sz="3100" b="1">
                <a:solidFill>
                  <a:srgbClr val="172F46"/>
                </a:solidFill>
                <a:latin typeface="DejaVu Sans"/>
              </a:defRPr>
            </a:pPr>
            <a:r>
              <a:t>UkilRAG: facts in, a draft and explanation out</a:t>
            </a:r>
          </a:p>
        </p:txBody>
      </p:sp>
      <p:sp>
        <p:nvSpPr>
          <p:cNvPr id="5" name="TextBox 4"/>
          <p:cNvSpPr txBox="1"/>
          <p:nvPr/>
        </p:nvSpPr>
        <p:spPr>
          <a:xfrm>
            <a:off x="594360" y="1956816"/>
            <a:ext cx="10972800" cy="530352"/>
          </a:xfrm>
          <a:prstGeom prst="rect">
            <a:avLst/>
          </a:prstGeom>
          <a:noFill/>
        </p:spPr>
        <p:txBody>
          <a:bodyPr wrap="square" tIns="0" bIns="0" lIns="0" rIns="0">
            <a:spAutoFit/>
          </a:bodyPr>
          <a:lstStyle/>
          <a:p>
            <a:pPr>
              <a:spcAft>
                <a:spcPts val="1000"/>
              </a:spcAft>
              <a:defRPr sz="1600" b="0">
                <a:solidFill>
                  <a:srgbClr val="607482"/>
                </a:solidFill>
                <a:latin typeface="DejaVu Sans"/>
              </a:defRPr>
            </a:pPr>
            <a:r>
              <a:t>Prepared paragraphs follow explicit rules, not a language model’s choice.</a:t>
            </a:r>
          </a:p>
        </p:txBody>
      </p:sp>
      <p:sp>
        <p:nvSpPr>
          <p:cNvPr id="6" name="Rectangle 5"/>
          <p:cNvSpPr/>
          <p:nvPr/>
        </p:nvSpPr>
        <p:spPr>
          <a:xfrm>
            <a:off x="594360" y="6409944"/>
            <a:ext cx="11000232" cy="10972"/>
          </a:xfrm>
          <a:prstGeom prst="rect">
            <a:avLst/>
          </a:prstGeom>
          <a:solidFill>
            <a:srgbClr val="DCE5EA"/>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594360" y="6537960"/>
            <a:ext cx="9875520" cy="210312"/>
          </a:xfrm>
          <a:prstGeom prst="rect">
            <a:avLst/>
          </a:prstGeom>
          <a:noFill/>
        </p:spPr>
        <p:txBody>
          <a:bodyPr wrap="square" tIns="0" bIns="0" lIns="0" rIns="0">
            <a:spAutoFit/>
          </a:bodyPr>
          <a:lstStyle/>
          <a:p>
            <a:pPr>
              <a:spcAft>
                <a:spcPts val="1000"/>
              </a:spcAft>
              <a:defRPr sz="850" b="0">
                <a:solidFill>
                  <a:srgbClr val="607482"/>
                </a:solidFill>
                <a:latin typeface="DejaVu Sans"/>
              </a:defRPr>
            </a:pPr>
            <a:r>
              <a:t>Source: UkilRAG notebook. Fictional case and teaching rules, not verified legal guidance.</a:t>
            </a:r>
          </a:p>
        </p:txBody>
      </p:sp>
      <p:sp>
        <p:nvSpPr>
          <p:cNvPr id="8" name="TextBox 7"/>
          <p:cNvSpPr txBox="1"/>
          <p:nvPr/>
        </p:nvSpPr>
        <p:spPr>
          <a:xfrm>
            <a:off x="10881360" y="6501384"/>
            <a:ext cx="731520" cy="274320"/>
          </a:xfrm>
          <a:prstGeom prst="rect">
            <a:avLst/>
          </a:prstGeom>
          <a:noFill/>
        </p:spPr>
        <p:txBody>
          <a:bodyPr wrap="square" tIns="0" bIns="0" lIns="0" rIns="0">
            <a:spAutoFit/>
          </a:bodyPr>
          <a:lstStyle/>
          <a:p>
            <a:pPr>
              <a:spcAft>
                <a:spcPts val="1000"/>
              </a:spcAft>
              <a:defRPr sz="1000" b="0">
                <a:solidFill>
                  <a:srgbClr val="607482"/>
                </a:solidFill>
                <a:latin typeface="DejaVu Sans"/>
              </a:defRPr>
            </a:pPr>
            <a:r>
              <a:t>03 / 05</a:t>
            </a:r>
          </a:p>
        </p:txBody>
      </p:sp>
      <p:sp>
        <p:nvSpPr>
          <p:cNvPr id="9" name="Rounded Rectangle 8"/>
          <p:cNvSpPr/>
          <p:nvPr/>
        </p:nvSpPr>
        <p:spPr>
          <a:xfrm>
            <a:off x="594360" y="2852928"/>
            <a:ext cx="3172968" cy="2203704"/>
          </a:xfrm>
          <a:prstGeom prst="roundRect">
            <a:avLst>
              <a:gd name="adj" fmla="val 8000"/>
            </a:avLst>
          </a:prstGeom>
          <a:solidFill>
            <a:srgbClr val="F1F5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850392" y="3081528"/>
            <a:ext cx="2660904" cy="329184"/>
          </a:xfrm>
          <a:prstGeom prst="rect">
            <a:avLst/>
          </a:prstGeom>
          <a:noFill/>
        </p:spPr>
        <p:txBody>
          <a:bodyPr wrap="square" tIns="0" bIns="0" lIns="0" rIns="0">
            <a:spAutoFit/>
          </a:bodyPr>
          <a:lstStyle/>
          <a:p>
            <a:pPr>
              <a:spcAft>
                <a:spcPts val="1000"/>
              </a:spcAft>
              <a:defRPr sz="1200" b="1">
                <a:solidFill>
                  <a:srgbClr val="117970"/>
                </a:solidFill>
                <a:latin typeface="DejaVu Sans"/>
              </a:defRPr>
            </a:pPr>
            <a:r>
              <a:t>CASE FACTS</a:t>
            </a:r>
          </a:p>
        </p:txBody>
      </p:sp>
      <p:sp>
        <p:nvSpPr>
          <p:cNvPr id="11" name="TextBox 10"/>
          <p:cNvSpPr txBox="1"/>
          <p:nvPr/>
        </p:nvSpPr>
        <p:spPr>
          <a:xfrm>
            <a:off x="850392" y="3685032"/>
            <a:ext cx="2660904" cy="1271016"/>
          </a:xfrm>
          <a:prstGeom prst="rect">
            <a:avLst/>
          </a:prstGeom>
          <a:noFill/>
        </p:spPr>
        <p:txBody>
          <a:bodyPr wrap="square" tIns="0" bIns="0" lIns="0" rIns="0">
            <a:spAutoFit/>
          </a:bodyPr>
          <a:lstStyle/>
          <a:p>
            <a:pPr>
              <a:spcAft>
                <a:spcPts val="1000"/>
              </a:spcAft>
              <a:defRPr sz="2000" b="1">
                <a:solidFill>
                  <a:srgbClr val="172F46"/>
                </a:solidFill>
                <a:latin typeface="DejaVu Sans"/>
              </a:defRPr>
            </a:pPr>
            <a:r>
              <a:t>Procedure: yes</a:t>
            </a:r>
          </a:p>
          <a:p>
            <a:pPr>
              <a:spcAft>
                <a:spcPts val="1000"/>
              </a:spcAft>
              <a:defRPr sz="2000" b="1">
                <a:solidFill>
                  <a:srgbClr val="172F46"/>
                </a:solidFill>
                <a:latin typeface="DejaVu Sans"/>
              </a:defRPr>
            </a:pPr>
            <a:r>
              <a:t>Records: yes</a:t>
            </a:r>
          </a:p>
          <a:p>
            <a:pPr>
              <a:spcAft>
                <a:spcPts val="1000"/>
              </a:spcAft>
              <a:defRPr sz="2000" b="1">
                <a:solidFill>
                  <a:srgbClr val="172F46"/>
                </a:solidFill>
                <a:latin typeface="DejaVu Sans"/>
              </a:defRPr>
            </a:pPr>
            <a:r>
              <a:t>Relief: yes</a:t>
            </a:r>
          </a:p>
        </p:txBody>
      </p:sp>
      <p:sp>
        <p:nvSpPr>
          <p:cNvPr id="12" name="Rounded Rectangle 11"/>
          <p:cNvSpPr/>
          <p:nvPr/>
        </p:nvSpPr>
        <p:spPr>
          <a:xfrm>
            <a:off x="4352544" y="2852928"/>
            <a:ext cx="3172968" cy="2203704"/>
          </a:xfrm>
          <a:prstGeom prst="roundRect">
            <a:avLst>
              <a:gd name="adj" fmla="val 8000"/>
            </a:avLst>
          </a:prstGeom>
          <a:solidFill>
            <a:srgbClr val="F1F5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608576" y="3081528"/>
            <a:ext cx="2660904" cy="329184"/>
          </a:xfrm>
          <a:prstGeom prst="rect">
            <a:avLst/>
          </a:prstGeom>
          <a:noFill/>
        </p:spPr>
        <p:txBody>
          <a:bodyPr wrap="square" tIns="0" bIns="0" lIns="0" rIns="0">
            <a:spAutoFit/>
          </a:bodyPr>
          <a:lstStyle/>
          <a:p>
            <a:pPr>
              <a:spcAft>
                <a:spcPts val="1000"/>
              </a:spcAft>
              <a:defRPr sz="1200" b="1">
                <a:solidFill>
                  <a:srgbClr val="117970"/>
                </a:solidFill>
                <a:latin typeface="DejaVu Sans"/>
              </a:defRPr>
            </a:pPr>
            <a:r>
              <a:t>RULE CHECKS</a:t>
            </a:r>
          </a:p>
        </p:txBody>
      </p:sp>
      <p:sp>
        <p:nvSpPr>
          <p:cNvPr id="14" name="TextBox 13"/>
          <p:cNvSpPr txBox="1"/>
          <p:nvPr/>
        </p:nvSpPr>
        <p:spPr>
          <a:xfrm>
            <a:off x="4608576" y="3685032"/>
            <a:ext cx="2660904" cy="1271016"/>
          </a:xfrm>
          <a:prstGeom prst="rect">
            <a:avLst/>
          </a:prstGeom>
          <a:noFill/>
        </p:spPr>
        <p:txBody>
          <a:bodyPr wrap="square" tIns="0" bIns="0" lIns="0" rIns="0">
            <a:spAutoFit/>
          </a:bodyPr>
          <a:lstStyle/>
          <a:p>
            <a:pPr>
              <a:spcAft>
                <a:spcPts val="1000"/>
              </a:spcAft>
              <a:defRPr sz="2000" b="1">
                <a:solidFill>
                  <a:srgbClr val="172F46"/>
                </a:solidFill>
                <a:latin typeface="DejaVu Sans"/>
              </a:defRPr>
            </a:pPr>
            <a:r>
              <a:t>Facts match?</a:t>
            </a:r>
          </a:p>
          <a:p>
            <a:pPr>
              <a:spcAft>
                <a:spcPts val="1000"/>
              </a:spcAft>
              <a:defRPr sz="2000" b="1">
                <a:solidFill>
                  <a:srgbClr val="172F46"/>
                </a:solidFill>
                <a:latin typeface="DejaVu Sans"/>
              </a:defRPr>
            </a:pPr>
            <a:r>
              <a:t>Blocks ready?</a:t>
            </a:r>
          </a:p>
          <a:p>
            <a:pPr>
              <a:spcAft>
                <a:spcPts val="1000"/>
              </a:spcAft>
              <a:defRPr sz="2000" b="1">
                <a:solidFill>
                  <a:srgbClr val="172F46"/>
                </a:solidFill>
                <a:latin typeface="DejaVu Sans"/>
              </a:defRPr>
            </a:pPr>
            <a:r>
              <a:t>Any conflicts?</a:t>
            </a:r>
          </a:p>
        </p:txBody>
      </p:sp>
      <p:sp>
        <p:nvSpPr>
          <p:cNvPr id="15" name="Rounded Rectangle 14"/>
          <p:cNvSpPr/>
          <p:nvPr/>
        </p:nvSpPr>
        <p:spPr>
          <a:xfrm>
            <a:off x="8110727" y="2852928"/>
            <a:ext cx="3483864" cy="2203704"/>
          </a:xfrm>
          <a:prstGeom prst="roundRect">
            <a:avLst>
              <a:gd name="adj" fmla="val 8000"/>
            </a:avLst>
          </a:prstGeom>
          <a:solidFill>
            <a:srgbClr val="E8F3F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8366759" y="3081528"/>
            <a:ext cx="2971800" cy="329184"/>
          </a:xfrm>
          <a:prstGeom prst="rect">
            <a:avLst/>
          </a:prstGeom>
          <a:noFill/>
        </p:spPr>
        <p:txBody>
          <a:bodyPr wrap="square" tIns="0" bIns="0" lIns="0" rIns="0">
            <a:spAutoFit/>
          </a:bodyPr>
          <a:lstStyle/>
          <a:p>
            <a:pPr>
              <a:spcAft>
                <a:spcPts val="1000"/>
              </a:spcAft>
              <a:defRPr sz="1200" b="1">
                <a:solidFill>
                  <a:srgbClr val="117970"/>
                </a:solidFill>
                <a:latin typeface="DejaVu Sans"/>
              </a:defRPr>
            </a:pPr>
            <a:r>
              <a:t>RESULT</a:t>
            </a:r>
          </a:p>
        </p:txBody>
      </p:sp>
      <p:sp>
        <p:nvSpPr>
          <p:cNvPr id="17" name="TextBox 16"/>
          <p:cNvSpPr txBox="1"/>
          <p:nvPr/>
        </p:nvSpPr>
        <p:spPr>
          <a:xfrm>
            <a:off x="8366759" y="3685032"/>
            <a:ext cx="2971800" cy="1271016"/>
          </a:xfrm>
          <a:prstGeom prst="rect">
            <a:avLst/>
          </a:prstGeom>
          <a:noFill/>
        </p:spPr>
        <p:txBody>
          <a:bodyPr wrap="square" tIns="0" bIns="0" lIns="0" rIns="0">
            <a:spAutoFit/>
          </a:bodyPr>
          <a:lstStyle/>
          <a:p>
            <a:pPr>
              <a:spcAft>
                <a:spcPts val="1000"/>
              </a:spcAft>
              <a:defRPr sz="2000" b="1">
                <a:solidFill>
                  <a:srgbClr val="172F46"/>
                </a:solidFill>
                <a:latin typeface="DejaVu Sans"/>
              </a:defRPr>
            </a:pPr>
            <a:r>
              <a:t>Chosen paragraphs</a:t>
            </a:r>
          </a:p>
          <a:p>
            <a:pPr>
              <a:spcAft>
                <a:spcPts val="1000"/>
              </a:spcAft>
              <a:defRPr sz="2000" b="1">
                <a:solidFill>
                  <a:srgbClr val="172F46"/>
                </a:solidFill>
                <a:latin typeface="DejaVu Sans"/>
              </a:defRPr>
            </a:pPr>
            <a:r>
              <a:t>Fixed order</a:t>
            </a:r>
          </a:p>
          <a:p>
            <a:pPr>
              <a:spcAft>
                <a:spcPts val="1000"/>
              </a:spcAft>
              <a:defRPr sz="2000" b="1">
                <a:solidFill>
                  <a:srgbClr val="172F46"/>
                </a:solidFill>
                <a:latin typeface="DejaVu Sans"/>
              </a:defRPr>
            </a:pPr>
            <a:r>
              <a:t>Decision record</a:t>
            </a:r>
          </a:p>
        </p:txBody>
      </p:sp>
      <p:sp>
        <p:nvSpPr>
          <p:cNvPr id="18" name="TextBox 17"/>
          <p:cNvSpPr txBox="1"/>
          <p:nvPr/>
        </p:nvSpPr>
        <p:spPr>
          <a:xfrm>
            <a:off x="3904487" y="3749039"/>
            <a:ext cx="274320" cy="365760"/>
          </a:xfrm>
          <a:prstGeom prst="rect">
            <a:avLst/>
          </a:prstGeom>
          <a:noFill/>
        </p:spPr>
        <p:txBody>
          <a:bodyPr wrap="square" tIns="0" bIns="0" lIns="0" rIns="0">
            <a:spAutoFit/>
          </a:bodyPr>
          <a:lstStyle/>
          <a:p>
            <a:pPr>
              <a:spcAft>
                <a:spcPts val="1000"/>
              </a:spcAft>
              <a:defRPr sz="2400" b="1">
                <a:solidFill>
                  <a:srgbClr val="117970"/>
                </a:solidFill>
                <a:latin typeface="DejaVu Sans"/>
              </a:defRPr>
            </a:pPr>
            <a:r>
              <a:t>→</a:t>
            </a:r>
          </a:p>
        </p:txBody>
      </p:sp>
      <p:sp>
        <p:nvSpPr>
          <p:cNvPr id="19" name="TextBox 18"/>
          <p:cNvSpPr txBox="1"/>
          <p:nvPr/>
        </p:nvSpPr>
        <p:spPr>
          <a:xfrm>
            <a:off x="7671816" y="3749039"/>
            <a:ext cx="274320" cy="365760"/>
          </a:xfrm>
          <a:prstGeom prst="rect">
            <a:avLst/>
          </a:prstGeom>
          <a:noFill/>
        </p:spPr>
        <p:txBody>
          <a:bodyPr wrap="square" tIns="0" bIns="0" lIns="0" rIns="0">
            <a:spAutoFit/>
          </a:bodyPr>
          <a:lstStyle/>
          <a:p>
            <a:pPr>
              <a:spcAft>
                <a:spcPts val="1000"/>
              </a:spcAft>
              <a:defRPr sz="2400" b="1">
                <a:solidFill>
                  <a:srgbClr val="117970"/>
                </a:solidFill>
                <a:latin typeface="DejaVu Sans"/>
              </a:defRPr>
            </a:pPr>
            <a:r>
              <a:t>→</a:t>
            </a:r>
          </a:p>
        </p:txBody>
      </p:sp>
      <p:sp>
        <p:nvSpPr>
          <p:cNvPr id="20" name="Rectangle 19"/>
          <p:cNvSpPr/>
          <p:nvPr/>
        </p:nvSpPr>
        <p:spPr>
          <a:xfrm>
            <a:off x="594360" y="5559552"/>
            <a:ext cx="11000232" cy="594360"/>
          </a:xfrm>
          <a:prstGeom prst="rect">
            <a:avLst/>
          </a:prstGeom>
          <a:solidFill>
            <a:srgbClr val="172F4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850392" y="5742432"/>
            <a:ext cx="10469880" cy="292608"/>
          </a:xfrm>
          <a:prstGeom prst="rect">
            <a:avLst/>
          </a:prstGeom>
          <a:noFill/>
        </p:spPr>
        <p:txBody>
          <a:bodyPr wrap="square" tIns="0" bIns="0" lIns="0" rIns="0">
            <a:spAutoFit/>
          </a:bodyPr>
          <a:lstStyle/>
          <a:p>
            <a:pPr>
              <a:spcAft>
                <a:spcPts val="1000"/>
              </a:spcAft>
              <a:defRPr sz="1600" b="1">
                <a:solidFill>
                  <a:srgbClr val="FFFFFF"/>
                </a:solidFill>
                <a:latin typeface="DejaVu Sans"/>
              </a:defRPr>
            </a:pPr>
            <a:r>
              <a:t>Records paragraph: include only when records exist and the procedural block is selected.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1797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94360" y="365760"/>
            <a:ext cx="10972800" cy="320040"/>
          </a:xfrm>
          <a:prstGeom prst="rect">
            <a:avLst/>
          </a:prstGeom>
          <a:noFill/>
        </p:spPr>
        <p:txBody>
          <a:bodyPr wrap="square" tIns="0" bIns="0" lIns="0" rIns="0">
            <a:spAutoFit/>
          </a:bodyPr>
          <a:lstStyle/>
          <a:p>
            <a:pPr>
              <a:spcAft>
                <a:spcPts val="1000"/>
              </a:spcAft>
              <a:defRPr sz="1100" b="1">
                <a:solidFill>
                  <a:srgbClr val="117970"/>
                </a:solidFill>
                <a:latin typeface="DejaVu Sans"/>
              </a:defRPr>
            </a:pPr>
            <a:r>
              <a:t>PROJECT IMPLEMENTATION · REVIEW AND TESTS</a:t>
            </a:r>
          </a:p>
        </p:txBody>
      </p:sp>
      <p:sp>
        <p:nvSpPr>
          <p:cNvPr id="4" name="TextBox 3"/>
          <p:cNvSpPr txBox="1"/>
          <p:nvPr/>
        </p:nvSpPr>
        <p:spPr>
          <a:xfrm>
            <a:off x="594360" y="960120"/>
            <a:ext cx="10972800" cy="960120"/>
          </a:xfrm>
          <a:prstGeom prst="rect">
            <a:avLst/>
          </a:prstGeom>
          <a:noFill/>
        </p:spPr>
        <p:txBody>
          <a:bodyPr wrap="square" tIns="0" bIns="0" lIns="0" rIns="0">
            <a:spAutoFit/>
          </a:bodyPr>
          <a:lstStyle/>
          <a:p>
            <a:pPr>
              <a:spcAft>
                <a:spcPts val="1000"/>
              </a:spcAft>
              <a:defRPr sz="3100" b="1">
                <a:solidFill>
                  <a:srgbClr val="172F46"/>
                </a:solidFill>
                <a:latin typeface="DejaVu Sans"/>
              </a:defRPr>
            </a:pPr>
            <a:r>
              <a:t>Check the references. Check the behaviour.</a:t>
            </a:r>
          </a:p>
        </p:txBody>
      </p:sp>
      <p:sp>
        <p:nvSpPr>
          <p:cNvPr id="5" name="TextBox 4"/>
          <p:cNvSpPr txBox="1"/>
          <p:nvPr/>
        </p:nvSpPr>
        <p:spPr>
          <a:xfrm>
            <a:off x="594360" y="1956816"/>
            <a:ext cx="10972800" cy="530352"/>
          </a:xfrm>
          <a:prstGeom prst="rect">
            <a:avLst/>
          </a:prstGeom>
          <a:noFill/>
        </p:spPr>
        <p:txBody>
          <a:bodyPr wrap="square" tIns="0" bIns="0" lIns="0" rIns="0">
            <a:spAutoFit/>
          </a:bodyPr>
          <a:lstStyle/>
          <a:p>
            <a:pPr>
              <a:spcAft>
                <a:spcPts val="1000"/>
              </a:spcAft>
              <a:defRPr sz="1600" b="0">
                <a:solidFill>
                  <a:srgbClr val="607482"/>
                </a:solidFill>
                <a:latin typeface="DejaVu Sans"/>
              </a:defRPr>
            </a:pPr>
            <a:r>
              <a:t>Keep the draft explainable when source records or rules change.</a:t>
            </a:r>
          </a:p>
        </p:txBody>
      </p:sp>
      <p:sp>
        <p:nvSpPr>
          <p:cNvPr id="6" name="Rectangle 5"/>
          <p:cNvSpPr/>
          <p:nvPr/>
        </p:nvSpPr>
        <p:spPr>
          <a:xfrm>
            <a:off x="594360" y="6409944"/>
            <a:ext cx="11000232" cy="10972"/>
          </a:xfrm>
          <a:prstGeom prst="rect">
            <a:avLst/>
          </a:prstGeom>
          <a:solidFill>
            <a:srgbClr val="DCE5EA"/>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594360" y="6537960"/>
            <a:ext cx="9875520" cy="210312"/>
          </a:xfrm>
          <a:prstGeom prst="rect">
            <a:avLst/>
          </a:prstGeom>
          <a:noFill/>
        </p:spPr>
        <p:txBody>
          <a:bodyPr wrap="square" tIns="0" bIns="0" lIns="0" rIns="0">
            <a:spAutoFit/>
          </a:bodyPr>
          <a:lstStyle/>
          <a:p>
            <a:pPr>
              <a:spcAft>
                <a:spcPts val="1000"/>
              </a:spcAft>
              <a:defRPr sz="850" b="0">
                <a:solidFill>
                  <a:srgbClr val="607482"/>
                </a:solidFill>
                <a:latin typeface="DejaVu Sans"/>
              </a:defRPr>
            </a:pPr>
            <a:r>
              <a:t>Evidence: executed UkilRAG notebook. Four test groups passed on synthetic cases; no legal-accuracy claim.</a:t>
            </a:r>
          </a:p>
        </p:txBody>
      </p:sp>
      <p:sp>
        <p:nvSpPr>
          <p:cNvPr id="8" name="TextBox 7"/>
          <p:cNvSpPr txBox="1"/>
          <p:nvPr/>
        </p:nvSpPr>
        <p:spPr>
          <a:xfrm>
            <a:off x="10881360" y="6501384"/>
            <a:ext cx="731520" cy="274320"/>
          </a:xfrm>
          <a:prstGeom prst="rect">
            <a:avLst/>
          </a:prstGeom>
          <a:noFill/>
        </p:spPr>
        <p:txBody>
          <a:bodyPr wrap="square" tIns="0" bIns="0" lIns="0" rIns="0">
            <a:spAutoFit/>
          </a:bodyPr>
          <a:lstStyle/>
          <a:p>
            <a:pPr>
              <a:spcAft>
                <a:spcPts val="1000"/>
              </a:spcAft>
              <a:defRPr sz="1000" b="0">
                <a:solidFill>
                  <a:srgbClr val="607482"/>
                </a:solidFill>
                <a:latin typeface="DejaVu Sans"/>
              </a:defRPr>
            </a:pPr>
            <a:r>
              <a:t>04 / 05</a:t>
            </a:r>
          </a:p>
        </p:txBody>
      </p:sp>
      <p:sp>
        <p:nvSpPr>
          <p:cNvPr id="9" name="Rounded Rectangle 8"/>
          <p:cNvSpPr/>
          <p:nvPr/>
        </p:nvSpPr>
        <p:spPr>
          <a:xfrm>
            <a:off x="594360" y="2834640"/>
            <a:ext cx="5193792" cy="2286000"/>
          </a:xfrm>
          <a:prstGeom prst="roundRect">
            <a:avLst>
              <a:gd name="adj" fmla="val 8000"/>
            </a:avLst>
          </a:prstGeom>
          <a:solidFill>
            <a:srgbClr val="F1F5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850392" y="3063240"/>
            <a:ext cx="4681727" cy="329184"/>
          </a:xfrm>
          <a:prstGeom prst="rect">
            <a:avLst/>
          </a:prstGeom>
          <a:noFill/>
        </p:spPr>
        <p:txBody>
          <a:bodyPr wrap="square" tIns="0" bIns="0" lIns="0" rIns="0">
            <a:spAutoFit/>
          </a:bodyPr>
          <a:lstStyle/>
          <a:p>
            <a:pPr>
              <a:spcAft>
                <a:spcPts val="1000"/>
              </a:spcAft>
              <a:defRPr sz="1200" b="1">
                <a:solidFill>
                  <a:srgbClr val="117970"/>
                </a:solidFill>
                <a:latin typeface="DejaVu Sans"/>
              </a:defRPr>
            </a:pPr>
            <a:r>
              <a:t>REVIEW CHECKS</a:t>
            </a:r>
          </a:p>
        </p:txBody>
      </p:sp>
      <p:sp>
        <p:nvSpPr>
          <p:cNvPr id="11" name="TextBox 10"/>
          <p:cNvSpPr txBox="1"/>
          <p:nvPr/>
        </p:nvSpPr>
        <p:spPr>
          <a:xfrm>
            <a:off x="850392" y="3666744"/>
            <a:ext cx="4681727" cy="1353312"/>
          </a:xfrm>
          <a:prstGeom prst="rect">
            <a:avLst/>
          </a:prstGeom>
          <a:noFill/>
        </p:spPr>
        <p:txBody>
          <a:bodyPr wrap="square" tIns="0" bIns="0" lIns="0" rIns="0">
            <a:spAutoFit/>
          </a:bodyPr>
          <a:lstStyle/>
          <a:p>
            <a:pPr>
              <a:spcAft>
                <a:spcPts val="1000"/>
              </a:spcAft>
              <a:defRPr sz="2000" b="1">
                <a:solidFill>
                  <a:srgbClr val="172F46"/>
                </a:solidFill>
                <a:latin typeface="DejaVu Sans"/>
              </a:defRPr>
            </a:pPr>
            <a:r>
              <a:t>Missing citation markers</a:t>
            </a:r>
          </a:p>
          <a:p>
            <a:pPr>
              <a:spcAft>
                <a:spcPts val="1000"/>
              </a:spcAft>
              <a:defRPr sz="2000" b="1">
                <a:solidFill>
                  <a:srgbClr val="172F46"/>
                </a:solidFill>
                <a:latin typeface="DejaVu Sans"/>
              </a:defRPr>
            </a:pPr>
            <a:r>
              <a:t>Unknown or unlinked references</a:t>
            </a:r>
          </a:p>
          <a:p>
            <a:pPr>
              <a:spcAft>
                <a:spcPts val="1000"/>
              </a:spcAft>
              <a:defRPr sz="2000" b="1">
                <a:solidFill>
                  <a:srgbClr val="172F46"/>
                </a:solidFill>
                <a:latin typeface="DejaVu Sans"/>
              </a:defRPr>
            </a:pPr>
            <a:r>
              <a:t>Newer recorded judgment notes</a:t>
            </a:r>
          </a:p>
        </p:txBody>
      </p:sp>
      <p:sp>
        <p:nvSpPr>
          <p:cNvPr id="12" name="Rounded Rectangle 11"/>
          <p:cNvSpPr/>
          <p:nvPr/>
        </p:nvSpPr>
        <p:spPr>
          <a:xfrm>
            <a:off x="6391656" y="2834640"/>
            <a:ext cx="5202936" cy="2286000"/>
          </a:xfrm>
          <a:prstGeom prst="roundRect">
            <a:avLst>
              <a:gd name="adj" fmla="val 8000"/>
            </a:avLst>
          </a:prstGeom>
          <a:solidFill>
            <a:srgbClr val="E8F3F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647688" y="3063240"/>
            <a:ext cx="4690872" cy="329184"/>
          </a:xfrm>
          <a:prstGeom prst="rect">
            <a:avLst/>
          </a:prstGeom>
          <a:noFill/>
        </p:spPr>
        <p:txBody>
          <a:bodyPr wrap="square" tIns="0" bIns="0" lIns="0" rIns="0">
            <a:spAutoFit/>
          </a:bodyPr>
          <a:lstStyle/>
          <a:p>
            <a:pPr>
              <a:spcAft>
                <a:spcPts val="1000"/>
              </a:spcAft>
              <a:defRPr sz="1200" b="1">
                <a:solidFill>
                  <a:srgbClr val="117970"/>
                </a:solidFill>
                <a:latin typeface="DejaVu Sans"/>
              </a:defRPr>
            </a:pPr>
            <a:r>
              <a:t>FOUR TEST GROUPS</a:t>
            </a:r>
          </a:p>
        </p:txBody>
      </p:sp>
      <p:sp>
        <p:nvSpPr>
          <p:cNvPr id="14" name="TextBox 13"/>
          <p:cNvSpPr txBox="1"/>
          <p:nvPr/>
        </p:nvSpPr>
        <p:spPr>
          <a:xfrm>
            <a:off x="6647688" y="3666744"/>
            <a:ext cx="4690872" cy="1353312"/>
          </a:xfrm>
          <a:prstGeom prst="rect">
            <a:avLst/>
          </a:prstGeom>
          <a:noFill/>
        </p:spPr>
        <p:txBody>
          <a:bodyPr wrap="square" tIns="0" bIns="0" lIns="0" rIns="0">
            <a:spAutoFit/>
          </a:bodyPr>
          <a:lstStyle/>
          <a:p>
            <a:pPr>
              <a:spcAft>
                <a:spcPts val="1000"/>
              </a:spcAft>
              <a:defRPr sz="2000" b="1">
                <a:solidFill>
                  <a:srgbClr val="172F46"/>
                </a:solidFill>
                <a:latin typeface="DejaVu Sans"/>
              </a:defRPr>
            </a:pPr>
            <a:r>
              <a:t>Repeatability: 25 runs</a:t>
            </a:r>
          </a:p>
          <a:p>
            <a:pPr>
              <a:spcAft>
                <a:spcPts val="1000"/>
              </a:spcAft>
              <a:defRPr sz="2000" b="1">
                <a:solidFill>
                  <a:srgbClr val="172F46"/>
                </a:solidFill>
                <a:latin typeface="DejaVu Sans"/>
              </a:defRPr>
            </a:pPr>
            <a:r>
              <a:t>Expected results: 4 cases</a:t>
            </a:r>
          </a:p>
          <a:p>
            <a:pPr>
              <a:spcAft>
                <a:spcPts val="1000"/>
              </a:spcAft>
              <a:defRPr sz="2000" b="1">
                <a:solidFill>
                  <a:srgbClr val="172F46"/>
                </a:solidFill>
                <a:latin typeface="DejaVu Sans"/>
              </a:defRPr>
            </a:pPr>
            <a:r>
              <a:t>Conflicts and update warnings</a:t>
            </a:r>
          </a:p>
        </p:txBody>
      </p:sp>
      <p:sp>
        <p:nvSpPr>
          <p:cNvPr id="15" name="Rectangle 14"/>
          <p:cNvSpPr/>
          <p:nvPr/>
        </p:nvSpPr>
        <p:spPr>
          <a:xfrm>
            <a:off x="594360" y="5559552"/>
            <a:ext cx="11000232" cy="594360"/>
          </a:xfrm>
          <a:prstGeom prst="rect">
            <a:avLst/>
          </a:prstGeom>
          <a:solidFill>
            <a:srgbClr val="172F4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850392" y="5742432"/>
            <a:ext cx="10469880" cy="292608"/>
          </a:xfrm>
          <a:prstGeom prst="rect">
            <a:avLst/>
          </a:prstGeom>
          <a:noFill/>
        </p:spPr>
        <p:txBody>
          <a:bodyPr wrap="square" tIns="0" bIns="0" lIns="0" rIns="0">
            <a:spAutoFit/>
          </a:bodyPr>
          <a:lstStyle/>
          <a:p>
            <a:pPr>
              <a:spcAft>
                <a:spcPts val="1000"/>
              </a:spcAft>
              <a:defRPr sz="1600" b="1">
                <a:solidFill>
                  <a:srgbClr val="FFFFFF"/>
                </a:solidFill>
                <a:latin typeface="DejaVu Sans"/>
              </a:defRPr>
            </a:pPr>
            <a:r>
              <a:t>An update warning means “review this paragraph”—not “rewrite it automatically.”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1797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94360" y="365760"/>
            <a:ext cx="10972800" cy="320040"/>
          </a:xfrm>
          <a:prstGeom prst="rect">
            <a:avLst/>
          </a:prstGeom>
          <a:noFill/>
        </p:spPr>
        <p:txBody>
          <a:bodyPr wrap="square" tIns="0" bIns="0" lIns="0" rIns="0">
            <a:spAutoFit/>
          </a:bodyPr>
          <a:lstStyle/>
          <a:p>
            <a:pPr>
              <a:spcAft>
                <a:spcPts val="1000"/>
              </a:spcAft>
              <a:defRPr sz="1100" b="1">
                <a:solidFill>
                  <a:srgbClr val="117970"/>
                </a:solidFill>
                <a:latin typeface="DejaVu Sans"/>
              </a:defRPr>
            </a:pPr>
            <a:r>
              <a:t>HOW I WOULD CONTRIBUTE</a:t>
            </a:r>
          </a:p>
        </p:txBody>
      </p:sp>
      <p:sp>
        <p:nvSpPr>
          <p:cNvPr id="4" name="TextBox 3"/>
          <p:cNvSpPr txBox="1"/>
          <p:nvPr/>
        </p:nvSpPr>
        <p:spPr>
          <a:xfrm>
            <a:off x="594360" y="960120"/>
            <a:ext cx="10972800" cy="960120"/>
          </a:xfrm>
          <a:prstGeom prst="rect">
            <a:avLst/>
          </a:prstGeom>
          <a:noFill/>
        </p:spPr>
        <p:txBody>
          <a:bodyPr wrap="square" tIns="0" bIns="0" lIns="0" rIns="0">
            <a:spAutoFit/>
          </a:bodyPr>
          <a:lstStyle/>
          <a:p>
            <a:pPr>
              <a:spcAft>
                <a:spcPts val="1000"/>
              </a:spcAft>
              <a:defRPr sz="3100" b="1">
                <a:solidFill>
                  <a:srgbClr val="172F46"/>
                </a:solidFill>
                <a:latin typeface="DejaVu Sans"/>
              </a:defRPr>
            </a:pPr>
            <a:r>
              <a:t>Start with one approved workflow</a:t>
            </a:r>
          </a:p>
        </p:txBody>
      </p:sp>
      <p:sp>
        <p:nvSpPr>
          <p:cNvPr id="5" name="TextBox 4"/>
          <p:cNvSpPr txBox="1"/>
          <p:nvPr/>
        </p:nvSpPr>
        <p:spPr>
          <a:xfrm>
            <a:off x="594360" y="1956816"/>
            <a:ext cx="10972800" cy="530352"/>
          </a:xfrm>
          <a:prstGeom prst="rect">
            <a:avLst/>
          </a:prstGeom>
          <a:noFill/>
        </p:spPr>
        <p:txBody>
          <a:bodyPr wrap="square" tIns="0" bIns="0" lIns="0" rIns="0">
            <a:spAutoFit/>
          </a:bodyPr>
          <a:lstStyle/>
          <a:p>
            <a:pPr>
              <a:spcAft>
                <a:spcPts val="1000"/>
              </a:spcAft>
              <a:defRPr sz="1600" b="0">
                <a:solidFill>
                  <a:srgbClr val="607482"/>
                </a:solidFill>
                <a:latin typeface="DejaVu Sans"/>
              </a:defRPr>
            </a:pPr>
            <a:r>
              <a:t>A small, reviewable pilot before wider automation.</a:t>
            </a:r>
          </a:p>
        </p:txBody>
      </p:sp>
      <p:sp>
        <p:nvSpPr>
          <p:cNvPr id="6" name="Rectangle 5"/>
          <p:cNvSpPr/>
          <p:nvPr/>
        </p:nvSpPr>
        <p:spPr>
          <a:xfrm>
            <a:off x="594360" y="6409944"/>
            <a:ext cx="11000232" cy="10972"/>
          </a:xfrm>
          <a:prstGeom prst="rect">
            <a:avLst/>
          </a:prstGeom>
          <a:solidFill>
            <a:srgbClr val="DCE5EA"/>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594360" y="6537960"/>
            <a:ext cx="9875520" cy="210312"/>
          </a:xfrm>
          <a:prstGeom prst="rect">
            <a:avLst/>
          </a:prstGeom>
          <a:noFill/>
        </p:spPr>
        <p:txBody>
          <a:bodyPr wrap="square" tIns="0" bIns="0" lIns="0" rIns="0">
            <a:spAutoFit/>
          </a:bodyPr>
          <a:lstStyle/>
          <a:p>
            <a:pPr>
              <a:spcAft>
                <a:spcPts val="1000"/>
              </a:spcAft>
              <a:defRPr sz="850" b="0">
                <a:solidFill>
                  <a:srgbClr val="607482"/>
                </a:solidFill>
                <a:latin typeface="DejaVu Sans"/>
              </a:defRPr>
            </a:pPr>
            <a:r>
              <a:t>Proposed starting approach from the internship brief. Demos use sample summaries and fictional legal cases.</a:t>
            </a:r>
          </a:p>
        </p:txBody>
      </p:sp>
      <p:sp>
        <p:nvSpPr>
          <p:cNvPr id="8" name="TextBox 7"/>
          <p:cNvSpPr txBox="1"/>
          <p:nvPr/>
        </p:nvSpPr>
        <p:spPr>
          <a:xfrm>
            <a:off x="10881360" y="6501384"/>
            <a:ext cx="731520" cy="274320"/>
          </a:xfrm>
          <a:prstGeom prst="rect">
            <a:avLst/>
          </a:prstGeom>
          <a:noFill/>
        </p:spPr>
        <p:txBody>
          <a:bodyPr wrap="square" tIns="0" bIns="0" lIns="0" rIns="0">
            <a:spAutoFit/>
          </a:bodyPr>
          <a:lstStyle/>
          <a:p>
            <a:pPr>
              <a:spcAft>
                <a:spcPts val="1000"/>
              </a:spcAft>
              <a:defRPr sz="1000" b="0">
                <a:solidFill>
                  <a:srgbClr val="607482"/>
                </a:solidFill>
                <a:latin typeface="DejaVu Sans"/>
              </a:defRPr>
            </a:pPr>
            <a:r>
              <a:t>05 / 05</a:t>
            </a:r>
          </a:p>
        </p:txBody>
      </p:sp>
      <p:sp>
        <p:nvSpPr>
          <p:cNvPr id="9" name="Rounded Rectangle 8"/>
          <p:cNvSpPr/>
          <p:nvPr/>
        </p:nvSpPr>
        <p:spPr>
          <a:xfrm>
            <a:off x="594360" y="2852928"/>
            <a:ext cx="3493008" cy="2203704"/>
          </a:xfrm>
          <a:prstGeom prst="roundRect">
            <a:avLst>
              <a:gd name="adj" fmla="val 8000"/>
            </a:avLst>
          </a:prstGeom>
          <a:solidFill>
            <a:srgbClr val="F1F5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850392" y="3081528"/>
            <a:ext cx="2980944" cy="329184"/>
          </a:xfrm>
          <a:prstGeom prst="rect">
            <a:avLst/>
          </a:prstGeom>
          <a:noFill/>
        </p:spPr>
        <p:txBody>
          <a:bodyPr wrap="square" tIns="0" bIns="0" lIns="0" rIns="0">
            <a:spAutoFit/>
          </a:bodyPr>
          <a:lstStyle/>
          <a:p>
            <a:pPr>
              <a:spcAft>
                <a:spcPts val="1000"/>
              </a:spcAft>
              <a:defRPr sz="1200" b="1">
                <a:solidFill>
                  <a:srgbClr val="117970"/>
                </a:solidFill>
                <a:latin typeface="DejaVu Sans"/>
              </a:defRPr>
            </a:pPr>
            <a:r>
              <a:t>DISCOVER</a:t>
            </a:r>
          </a:p>
        </p:txBody>
      </p:sp>
      <p:sp>
        <p:nvSpPr>
          <p:cNvPr id="11" name="TextBox 10"/>
          <p:cNvSpPr txBox="1"/>
          <p:nvPr/>
        </p:nvSpPr>
        <p:spPr>
          <a:xfrm>
            <a:off x="850392" y="3685032"/>
            <a:ext cx="2980944" cy="1271016"/>
          </a:xfrm>
          <a:prstGeom prst="rect">
            <a:avLst/>
          </a:prstGeom>
          <a:noFill/>
        </p:spPr>
        <p:txBody>
          <a:bodyPr wrap="square" tIns="0" bIns="0" lIns="0" rIns="0">
            <a:spAutoFit/>
          </a:bodyPr>
          <a:lstStyle/>
          <a:p>
            <a:pPr>
              <a:spcAft>
                <a:spcPts val="1000"/>
              </a:spcAft>
              <a:defRPr sz="2000" b="1">
                <a:solidFill>
                  <a:srgbClr val="172F46"/>
                </a:solidFill>
                <a:latin typeface="DejaVu Sans"/>
              </a:defRPr>
            </a:pPr>
            <a:r>
              <a:t>Work through an</a:t>
            </a:r>
          </a:p>
          <a:p>
            <a:pPr>
              <a:spcAft>
                <a:spcPts val="1000"/>
              </a:spcAft>
              <a:defRPr sz="2000" b="1">
                <a:solidFill>
                  <a:srgbClr val="172F46"/>
                </a:solidFill>
                <a:latin typeface="DejaVu Sans"/>
              </a:defRPr>
            </a:pPr>
            <a:r>
              <a:t>approved example.</a:t>
            </a:r>
          </a:p>
        </p:txBody>
      </p:sp>
      <p:sp>
        <p:nvSpPr>
          <p:cNvPr id="12" name="Rounded Rectangle 11"/>
          <p:cNvSpPr/>
          <p:nvPr/>
        </p:nvSpPr>
        <p:spPr>
          <a:xfrm>
            <a:off x="4343400" y="2852928"/>
            <a:ext cx="3493008" cy="2203704"/>
          </a:xfrm>
          <a:prstGeom prst="roundRect">
            <a:avLst>
              <a:gd name="adj" fmla="val 8000"/>
            </a:avLst>
          </a:prstGeom>
          <a:solidFill>
            <a:srgbClr val="F1F5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599432" y="3081528"/>
            <a:ext cx="2980944" cy="329184"/>
          </a:xfrm>
          <a:prstGeom prst="rect">
            <a:avLst/>
          </a:prstGeom>
          <a:noFill/>
        </p:spPr>
        <p:txBody>
          <a:bodyPr wrap="square" tIns="0" bIns="0" lIns="0" rIns="0">
            <a:spAutoFit/>
          </a:bodyPr>
          <a:lstStyle/>
          <a:p>
            <a:pPr>
              <a:spcAft>
                <a:spcPts val="1000"/>
              </a:spcAft>
              <a:defRPr sz="1200" b="1">
                <a:solidFill>
                  <a:srgbClr val="117970"/>
                </a:solidFill>
                <a:latin typeface="DejaVu Sans"/>
              </a:defRPr>
            </a:pPr>
            <a:r>
              <a:t>BUILD</a:t>
            </a:r>
          </a:p>
        </p:txBody>
      </p:sp>
      <p:sp>
        <p:nvSpPr>
          <p:cNvPr id="14" name="TextBox 13"/>
          <p:cNvSpPr txBox="1"/>
          <p:nvPr/>
        </p:nvSpPr>
        <p:spPr>
          <a:xfrm>
            <a:off x="4599432" y="3685032"/>
            <a:ext cx="2980944" cy="1271016"/>
          </a:xfrm>
          <a:prstGeom prst="rect">
            <a:avLst/>
          </a:prstGeom>
          <a:noFill/>
        </p:spPr>
        <p:txBody>
          <a:bodyPr wrap="square" tIns="0" bIns="0" lIns="0" rIns="0">
            <a:spAutoFit/>
          </a:bodyPr>
          <a:lstStyle/>
          <a:p>
            <a:pPr>
              <a:spcAft>
                <a:spcPts val="1000"/>
              </a:spcAft>
              <a:defRPr sz="2000" b="1">
                <a:solidFill>
                  <a:srgbClr val="172F46"/>
                </a:solidFill>
                <a:latin typeface="DejaVu Sans"/>
              </a:defRPr>
            </a:pPr>
            <a:r>
              <a:t>Agree on rules and</a:t>
            </a:r>
          </a:p>
          <a:p>
            <a:pPr>
              <a:spcAft>
                <a:spcPts val="1000"/>
              </a:spcAft>
              <a:defRPr sz="2000" b="1">
                <a:solidFill>
                  <a:srgbClr val="172F46"/>
                </a:solidFill>
                <a:latin typeface="DejaVu Sans"/>
              </a:defRPr>
            </a:pPr>
            <a:r>
              <a:t>expected results.</a:t>
            </a:r>
          </a:p>
        </p:txBody>
      </p:sp>
      <p:sp>
        <p:nvSpPr>
          <p:cNvPr id="15" name="Rounded Rectangle 14"/>
          <p:cNvSpPr/>
          <p:nvPr/>
        </p:nvSpPr>
        <p:spPr>
          <a:xfrm>
            <a:off x="8092440" y="2852928"/>
            <a:ext cx="3493008" cy="2203704"/>
          </a:xfrm>
          <a:prstGeom prst="roundRect">
            <a:avLst>
              <a:gd name="adj" fmla="val 8000"/>
            </a:avLst>
          </a:prstGeom>
          <a:solidFill>
            <a:srgbClr val="F1F5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8348471" y="3081528"/>
            <a:ext cx="2980944" cy="329184"/>
          </a:xfrm>
          <a:prstGeom prst="rect">
            <a:avLst/>
          </a:prstGeom>
          <a:noFill/>
        </p:spPr>
        <p:txBody>
          <a:bodyPr wrap="square" tIns="0" bIns="0" lIns="0" rIns="0">
            <a:spAutoFit/>
          </a:bodyPr>
          <a:lstStyle/>
          <a:p>
            <a:pPr>
              <a:spcAft>
                <a:spcPts val="1000"/>
              </a:spcAft>
              <a:defRPr sz="1200" b="1">
                <a:solidFill>
                  <a:srgbClr val="117970"/>
                </a:solidFill>
                <a:latin typeface="DejaVu Sans"/>
              </a:defRPr>
            </a:pPr>
            <a:r>
              <a:t>REVIEW</a:t>
            </a:r>
          </a:p>
        </p:txBody>
      </p:sp>
      <p:sp>
        <p:nvSpPr>
          <p:cNvPr id="17" name="TextBox 16"/>
          <p:cNvSpPr txBox="1"/>
          <p:nvPr/>
        </p:nvSpPr>
        <p:spPr>
          <a:xfrm>
            <a:off x="8348471" y="3685032"/>
            <a:ext cx="2980944" cy="1271016"/>
          </a:xfrm>
          <a:prstGeom prst="rect">
            <a:avLst/>
          </a:prstGeom>
          <a:noFill/>
        </p:spPr>
        <p:txBody>
          <a:bodyPr wrap="square" tIns="0" bIns="0" lIns="0" rIns="0">
            <a:spAutoFit/>
          </a:bodyPr>
          <a:lstStyle/>
          <a:p>
            <a:pPr>
              <a:spcAft>
                <a:spcPts val="1000"/>
              </a:spcAft>
              <a:defRPr sz="2000" b="1">
                <a:solidFill>
                  <a:srgbClr val="172F46"/>
                </a:solidFill>
                <a:latin typeface="DejaVu Sans"/>
              </a:defRPr>
            </a:pPr>
            <a:r>
              <a:t>Test with the team.</a:t>
            </a:r>
          </a:p>
          <a:p>
            <a:pPr>
              <a:spcAft>
                <a:spcPts val="1000"/>
              </a:spcAft>
              <a:defRPr sz="2000" b="1">
                <a:solidFill>
                  <a:srgbClr val="172F46"/>
                </a:solidFill>
                <a:latin typeface="DejaVu Sans"/>
              </a:defRPr>
            </a:pPr>
            <a:r>
              <a:t>Review differences.</a:t>
            </a:r>
          </a:p>
          <a:p>
            <a:pPr>
              <a:spcAft>
                <a:spcPts val="1000"/>
              </a:spcAft>
              <a:defRPr sz="2000" b="1">
                <a:solidFill>
                  <a:srgbClr val="172F46"/>
                </a:solidFill>
                <a:latin typeface="DejaVu Sans"/>
              </a:defRPr>
            </a:pPr>
            <a:r>
              <a:t>Improve together.</a:t>
            </a:r>
          </a:p>
        </p:txBody>
      </p:sp>
      <p:sp>
        <p:nvSpPr>
          <p:cNvPr id="18" name="Rectangle 17"/>
          <p:cNvSpPr/>
          <p:nvPr/>
        </p:nvSpPr>
        <p:spPr>
          <a:xfrm>
            <a:off x="594360" y="5559552"/>
            <a:ext cx="11000232" cy="594360"/>
          </a:xfrm>
          <a:prstGeom prst="rect">
            <a:avLst/>
          </a:prstGeom>
          <a:solidFill>
            <a:srgbClr val="172F4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50392" y="5742432"/>
            <a:ext cx="10469880" cy="292608"/>
          </a:xfrm>
          <a:prstGeom prst="rect">
            <a:avLst/>
          </a:prstGeom>
          <a:noFill/>
        </p:spPr>
        <p:txBody>
          <a:bodyPr wrap="square" tIns="0" bIns="0" lIns="0" rIns="0">
            <a:spAutoFit/>
          </a:bodyPr>
          <a:lstStyle/>
          <a:p>
            <a:pPr>
              <a:spcAft>
                <a:spcPts val="1000"/>
              </a:spcAft>
              <a:defRPr sz="1600" b="1">
                <a:solidFill>
                  <a:srgbClr val="FFFFFF"/>
                </a:solidFill>
                <a:latin typeface="DejaVu Sans"/>
              </a:defRPr>
            </a:pPr>
            <a:r>
              <a:t>Which workflow would be the most useful starting point for this internship?</a:t>
            </a:r>
          </a:p>
        </p:txBody>
      </p:sp>
      <p:sp>
        <p:nvSpPr>
          <p:cNvPr id="20" name="TextBox 19"/>
          <p:cNvSpPr txBox="1"/>
          <p:nvPr/>
        </p:nvSpPr>
        <p:spPr>
          <a:xfrm>
            <a:off x="594360" y="6227064"/>
            <a:ext cx="10058400" cy="182880"/>
          </a:xfrm>
          <a:prstGeom prst="rect">
            <a:avLst/>
          </a:prstGeom>
          <a:noFill/>
        </p:spPr>
        <p:txBody>
          <a:bodyPr wrap="square" tIns="0" bIns="0" lIns="0" rIns="0">
            <a:spAutoFit/>
          </a:bodyPr>
          <a:lstStyle/>
          <a:p>
            <a:pPr>
              <a:spcAft>
                <a:spcPts val="1000"/>
              </a:spcAft>
              <a:defRPr sz="900" b="0">
                <a:solidFill>
                  <a:srgbClr val="117970"/>
                </a:solidFill>
                <a:latin typeface="DejaVu Sans"/>
              </a:defRPr>
            </a:pPr>
            <a:r>
              <a:rPr>
                <a:hlinkClick r:id="rId2"/>
              </a:rPr>
              <a:t>Code and executed notebook: github.com/nafismam/UkilRAG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Docitalis Interview — Role, Experience and Demonstration</dc:title>
  <dc:subject>Five-slide interview discussion: understanding, earlier contribution and UkilRAG implementation</dc:subject>
  <dc:creator>Nafis Ismam</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